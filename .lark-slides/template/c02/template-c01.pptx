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76" r:id="rId2"/>
    <p:sldId id="4586" r:id="rId3"/>
    <p:sldId id="274" r:id="rId4"/>
    <p:sldId id="4595" r:id="rId5"/>
    <p:sldId id="4596" r:id="rId6"/>
    <p:sldId id="4597" r:id="rId7"/>
    <p:sldId id="4598" r:id="rId8"/>
    <p:sldId id="275" r:id="rId9"/>
    <p:sldId id="4583" r:id="rId10"/>
    <p:sldId id="4584" r:id="rId11"/>
    <p:sldId id="4416" r:id="rId12"/>
    <p:sldId id="4512" r:id="rId13"/>
    <p:sldId id="4567" r:id="rId14"/>
    <p:sldId id="4568" r:id="rId15"/>
    <p:sldId id="4463" r:id="rId16"/>
    <p:sldId id="4464" r:id="rId17"/>
    <p:sldId id="4525" r:id="rId18"/>
    <p:sldId id="4572" r:id="rId19"/>
    <p:sldId id="4573" r:id="rId20"/>
    <p:sldId id="4576" r:id="rId21"/>
    <p:sldId id="4587" r:id="rId22"/>
    <p:sldId id="4588" r:id="rId23"/>
    <p:sldId id="4589" r:id="rId24"/>
    <p:sldId id="4590" r:id="rId25"/>
    <p:sldId id="4593" r:id="rId26"/>
    <p:sldId id="4591" r:id="rId27"/>
    <p:sldId id="4592" r:id="rId28"/>
    <p:sldId id="4594" r:id="rId29"/>
    <p:sldId id="4481" r:id="rId30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221E"/>
    <a:srgbClr val="455C4C"/>
    <a:srgbClr val="EFF1F3"/>
    <a:srgbClr val="D3D6DA"/>
    <a:srgbClr val="DDE1E6"/>
    <a:srgbClr val="FDEFDC"/>
    <a:srgbClr val="A82327"/>
    <a:srgbClr val="E02B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8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66C4F-52A7-4B75-BEFD-4D0C705FC37C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372EDE-A166-4E73-98AC-8161C5A99D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72EDE-A166-4E73-98AC-8161C5A99DC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015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72EDE-A166-4E73-98AC-8161C5A99DC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6F88C-200E-26A8-1FC9-C10D6EDE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ADC48A-AF48-A06A-649B-5AB83F32E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C3CD2E-5F18-B9FD-F9E9-E48D2ADA5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E3133E-74FE-036A-44F4-3941F6AB0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72EDE-A166-4E73-98AC-8161C5A99DC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345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153A0-20FA-D9C8-AD93-EA344B50B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6A8C19-F170-3E39-8468-9D0AA805E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711085-F166-B1E9-D10E-693AECBC6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633A40-6BCF-FEEB-D52A-B468E2189F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45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7779F-BEF5-4782-B3FE-65E8F37A6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F3E011-3C94-BB6F-4962-35D6C72A6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9E57A5-675E-4194-060E-308ED229A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AFDFC0-B913-B901-816B-5D461FE76A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135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656D5-31DC-022F-DA8B-5C72AA2D8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4B0ED0-2E99-4E94-EEB6-B939CDD37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1AA72C-060A-8EA2-9825-07BDBE286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E2636D-B476-A6EA-EB1F-2A7BC1969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494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72EDE-A166-4E73-98AC-8161C5A99DCA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891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387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72EDE-A166-4E73-98AC-8161C5A99DCA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2324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8066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72EDE-A166-4E73-98AC-8161C5A99DCA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示例使用 Windows + VS Code + GCC。先安装 VS Code 和 Microsoft C/C++ 扩展，再安装 MSYS2。安装工具链时接受默认包组并确认安装。PATH 填写实际安装目录，页面示例为默认位置。VS Code 和扩展本身不包含 GCC。参考：https://code.visualstudio.com/docs/cpp/config-mingw （2026-09-20核对）</a:t>
            </a:r>
          </a:p>
          <a:p>
            <a:r>
              <a:t>教学建议：现场演示一次，同学逐项确认 gcc --version 能显示版本。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本课使用 VS Code 的文件夹工作区作为单文件 C 工程，无需先配置 tasks.json。创建空文件夹并打开，在该文件夹下创建 main.c。终端当前目录应与 main.c 所在目录一致。代码必须保存后再编译。命令示例适用于 Windows PowerShell。完整流程应由每位同学独立重复。</a:t>
            </a:r>
          </a:p>
          <a:p>
            <a:r>
              <a:t>参考：https://code.visualstudio.com/docs/cpp/config-mingw 。本课改用 C 文件与 gcc 命令。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编译流程：预处理、编译、汇编、链接。预处理展开头文件和宏，编译阶段完成相应检查并生成汇编，汇编生成目标文件，链接解析外部符号并生成可执行文件。GCC驱动程序通常可通过一条命令完成这些阶段。这里只要求理解流程，不要求背分阶段命令。</a:t>
            </a:r>
          </a:p>
          <a:p>
            <a:r>
              <a:t>参考：https://gcc.gnu.org/onlinedocs/gcc/Overall-Options.html</a:t>
            </a:r>
          </a:p>
          <a:p>
            <a:r>
              <a:t>课堂追问：main.c 改了但未重新编译，运行 main.exe 会看到新结果吗？答案：不会。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重点是能写出简单计算表达式。对于本页正整数示例，7/2为3。一般整数除法向零截断。%只用于整数，除数不得为0。不展开自增运算符在复杂表达式中的副作用。可以用 count++ 作独立语句补充说明加1，但不要求本课掌握前置和后置差异。</a:t>
            </a:r>
          </a:p>
          <a:p>
            <a:r>
              <a:t>练习答案：2+3*4为14，(2+3)*4为20。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本页让学生认识运算符即可，分支和循环留待后续课程。强调赋值=与相等比较==。逻辑运算将0视为假，将非0值视为真，关系与逻辑运算的结果为int类型的0或1。区间判断应写成 (x &gt; 0) &amp;&amp; (x &lt; 10)，不要写 0 &lt; x &lt; 10。逻辑短路和位运算不在本讲展开。</a:t>
            </a:r>
          </a:p>
          <a:p>
            <a:r>
              <a:t>判断题答案：a=5、b=2时，a==b为0，a&gt;b &amp;&amp; b&gt;0为1。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printf 来自 stdio.h。格式字符串中的转换说明符应与参数类型相匹配，顺序一一对应。float 作为 printf 的可变参数会提升为 double，因此这里 float 和 double 均用 %f。%.2f 控制显示的小数位，不改变变量本身。课堂让学生把2改为3观察输出。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限定输入为合法数据，本课先练习数值输入。scanf 的 %d 接收 int*，%f 接收 float*，%lf 接收 double*，%c 接收 char*。这里只使用普通数值/字符变量，前面必须加 &amp;；不要将规则泛化到字符串数组。格式串末尾不写\n，避免看起来还在等待输入。</a:t>
            </a:r>
          </a:p>
          <a:p>
            <a:r>
              <a:t>提高稳健性可在后续分支课中讲 scanf 的返回值检查，本讲不要求实现。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double a = 5/2 的右侧先按整数规则运算，得到2后才转换为double。显式转换其中一个操作数后才进行除法，可以保留小数。float、double转换为整数时丢弃小数部分，向零截断；值须处于目标整数类型可表示的范围内。不能依靠事后强制转换恢复已丢弃的小数。</a:t>
            </a:r>
          </a:p>
          <a:p>
            <a:r>
              <a:t>追问：(double)(5/2) 结果是多少？答案2.0。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本例用输入、变量、double、乘法、赋值、printf和scanf完成一个顺序程序。计算P=U*I，输入电压U（V）和电流I（A），输出功率P（W）。假定输入是合法的数值，并只讨论用该公式描述的直流或瞬时量。</a:t>
            </a:r>
          </a:p>
          <a:p>
            <a:r>
              <a:t>教学顺序：先明确输入输出及公式，再选择类型，最后写代码。让学生把12 0.5改成5 0.2，预测结果再运行。第二组输出1.00 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本页用于独立完成能力检查，不先展示完整答案。输入限定为合法正数，不要求写输入校验。要求学生新建工程，不能仅修改课堂示例。变量建议 double radius, perimeter, area; 常量 const double PI = 3.1415926; 也可正确使用 #define。</a:t>
            </a:r>
          </a:p>
          <a:p>
            <a:r>
              <a:t>参考代码核心：scanf("%lf", &amp;radius); perimeter = 2 * PI * radius; area = PI * radius * radius; printf("C = %.2f\nS = %.2f\n", perimeter, area);</a:t>
            </a:r>
          </a:p>
          <a:p>
            <a:r>
              <a:t>课堂检查数据：r=1输出6.28、3.14；r=2.5输出15.71、19.63。检查类型、格式符、取地址、公式、文件保存、重新编译和结果。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课堂验收时，每人从空文件夹开始，新建main.c，保存后编译、运行，并用两组数据核对。若时间有限，让学生讲清自己的输入类型、格式符、公式和类型转换选择。</a:t>
            </a:r>
          </a:p>
          <a:p>
            <a:r>
              <a:t>报错排查顺序：先确认环境命令可用，再看第一条编译错误的位置，检查括号、分号和变量名。编译成功但结果错误时，手算简单数据并检查类型、格式符、公式。编译失败时不要继续运行旧的可执行文件。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72EDE-A166-4E73-98AC-8161C5A99DCA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: 形状 2"/>
          <p:cNvSpPr/>
          <p:nvPr userDrawn="1"/>
        </p:nvSpPr>
        <p:spPr>
          <a:xfrm>
            <a:off x="-7315198" y="-5753098"/>
            <a:ext cx="27050999" cy="20192999"/>
          </a:xfrm>
          <a:custGeom>
            <a:avLst/>
            <a:gdLst>
              <a:gd name="connsiteX0" fmla="*/ 7467599 w 27050999"/>
              <a:gd name="connsiteY0" fmla="*/ 5905499 h 20192999"/>
              <a:gd name="connsiteX1" fmla="*/ 7467599 w 27050999"/>
              <a:gd name="connsiteY1" fmla="*/ 12763499 h 20192999"/>
              <a:gd name="connsiteX2" fmla="*/ 19659599 w 27050999"/>
              <a:gd name="connsiteY2" fmla="*/ 12763499 h 20192999"/>
              <a:gd name="connsiteX3" fmla="*/ 19659599 w 27050999"/>
              <a:gd name="connsiteY3" fmla="*/ 5905499 h 20192999"/>
              <a:gd name="connsiteX4" fmla="*/ 0 w 27050999"/>
              <a:gd name="connsiteY4" fmla="*/ 0 h 20192999"/>
              <a:gd name="connsiteX5" fmla="*/ 27050999 w 27050999"/>
              <a:gd name="connsiteY5" fmla="*/ 0 h 20192999"/>
              <a:gd name="connsiteX6" fmla="*/ 27050999 w 27050999"/>
              <a:gd name="connsiteY6" fmla="*/ 20192999 h 20192999"/>
              <a:gd name="connsiteX7" fmla="*/ 0 w 27050999"/>
              <a:gd name="connsiteY7" fmla="*/ 20192999 h 2019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50999" h="20192999">
                <a:moveTo>
                  <a:pt x="7467599" y="5905499"/>
                </a:moveTo>
                <a:lnTo>
                  <a:pt x="7467599" y="12763499"/>
                </a:lnTo>
                <a:lnTo>
                  <a:pt x="19659599" y="12763499"/>
                </a:lnTo>
                <a:lnTo>
                  <a:pt x="19659599" y="5905499"/>
                </a:lnTo>
                <a:close/>
                <a:moveTo>
                  <a:pt x="0" y="0"/>
                </a:moveTo>
                <a:lnTo>
                  <a:pt x="27050999" y="0"/>
                </a:lnTo>
                <a:lnTo>
                  <a:pt x="27050999" y="20192999"/>
                </a:lnTo>
                <a:lnTo>
                  <a:pt x="0" y="20192999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910379" y="1873354"/>
            <a:ext cx="1944937" cy="1944936"/>
          </a:xfrm>
          <a:custGeom>
            <a:avLst/>
            <a:gdLst>
              <a:gd name="connsiteX0" fmla="*/ 0 w 1944937"/>
              <a:gd name="connsiteY0" fmla="*/ 0 h 1944936"/>
              <a:gd name="connsiteX1" fmla="*/ 1944937 w 1944937"/>
              <a:gd name="connsiteY1" fmla="*/ 0 h 1944936"/>
              <a:gd name="connsiteX2" fmla="*/ 1944937 w 1944937"/>
              <a:gd name="connsiteY2" fmla="*/ 1944936 h 1944936"/>
              <a:gd name="connsiteX3" fmla="*/ 0 w 1944937"/>
              <a:gd name="connsiteY3" fmla="*/ 1944936 h 1944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937" h="1944936">
                <a:moveTo>
                  <a:pt x="0" y="0"/>
                </a:moveTo>
                <a:lnTo>
                  <a:pt x="1944937" y="0"/>
                </a:lnTo>
                <a:lnTo>
                  <a:pt x="1944937" y="1944936"/>
                </a:lnTo>
                <a:lnTo>
                  <a:pt x="0" y="194493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2938349" y="1873353"/>
            <a:ext cx="1944937" cy="1944936"/>
          </a:xfrm>
          <a:custGeom>
            <a:avLst/>
            <a:gdLst>
              <a:gd name="connsiteX0" fmla="*/ 0 w 1944937"/>
              <a:gd name="connsiteY0" fmla="*/ 0 h 1944936"/>
              <a:gd name="connsiteX1" fmla="*/ 1944937 w 1944937"/>
              <a:gd name="connsiteY1" fmla="*/ 0 h 1944936"/>
              <a:gd name="connsiteX2" fmla="*/ 1944937 w 1944937"/>
              <a:gd name="connsiteY2" fmla="*/ 1944936 h 1944936"/>
              <a:gd name="connsiteX3" fmla="*/ 0 w 1944937"/>
              <a:gd name="connsiteY3" fmla="*/ 1944936 h 1944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937" h="1944936">
                <a:moveTo>
                  <a:pt x="0" y="0"/>
                </a:moveTo>
                <a:lnTo>
                  <a:pt x="1944937" y="0"/>
                </a:lnTo>
                <a:lnTo>
                  <a:pt x="1944937" y="1944936"/>
                </a:lnTo>
                <a:lnTo>
                  <a:pt x="0" y="194493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910378" y="3886331"/>
            <a:ext cx="1944937" cy="1944936"/>
          </a:xfrm>
          <a:custGeom>
            <a:avLst/>
            <a:gdLst>
              <a:gd name="connsiteX0" fmla="*/ 0 w 1944937"/>
              <a:gd name="connsiteY0" fmla="*/ 0 h 1944936"/>
              <a:gd name="connsiteX1" fmla="*/ 1944937 w 1944937"/>
              <a:gd name="connsiteY1" fmla="*/ 0 h 1944936"/>
              <a:gd name="connsiteX2" fmla="*/ 1944937 w 1944937"/>
              <a:gd name="connsiteY2" fmla="*/ 1944936 h 1944936"/>
              <a:gd name="connsiteX3" fmla="*/ 0 w 1944937"/>
              <a:gd name="connsiteY3" fmla="*/ 1944936 h 1944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937" h="1944936">
                <a:moveTo>
                  <a:pt x="0" y="0"/>
                </a:moveTo>
                <a:lnTo>
                  <a:pt x="1944937" y="0"/>
                </a:lnTo>
                <a:lnTo>
                  <a:pt x="1944937" y="1944936"/>
                </a:lnTo>
                <a:lnTo>
                  <a:pt x="0" y="194493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5635724" y="0"/>
            <a:ext cx="4732259" cy="6858000"/>
          </a:xfrm>
          <a:prstGeom prst="parallelogram">
            <a:avLst>
              <a:gd name="adj" fmla="val 54870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34363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7030064" y="559769"/>
            <a:ext cx="4552336" cy="2685548"/>
          </a:xfrm>
          <a:custGeom>
            <a:avLst/>
            <a:gdLst>
              <a:gd name="connsiteX0" fmla="*/ 50721 w 4100052"/>
              <a:gd name="connsiteY0" fmla="*/ 0 h 2418735"/>
              <a:gd name="connsiteX1" fmla="*/ 4049331 w 4100052"/>
              <a:gd name="connsiteY1" fmla="*/ 0 h 2418735"/>
              <a:gd name="connsiteX2" fmla="*/ 4100052 w 4100052"/>
              <a:gd name="connsiteY2" fmla="*/ 50721 h 2418735"/>
              <a:gd name="connsiteX3" fmla="*/ 4100052 w 4100052"/>
              <a:gd name="connsiteY3" fmla="*/ 2368014 h 2418735"/>
              <a:gd name="connsiteX4" fmla="*/ 4049331 w 4100052"/>
              <a:gd name="connsiteY4" fmla="*/ 2418735 h 2418735"/>
              <a:gd name="connsiteX5" fmla="*/ 50721 w 4100052"/>
              <a:gd name="connsiteY5" fmla="*/ 2418735 h 2418735"/>
              <a:gd name="connsiteX6" fmla="*/ 0 w 4100052"/>
              <a:gd name="connsiteY6" fmla="*/ 2368014 h 2418735"/>
              <a:gd name="connsiteX7" fmla="*/ 0 w 4100052"/>
              <a:gd name="connsiteY7" fmla="*/ 50721 h 2418735"/>
              <a:gd name="connsiteX8" fmla="*/ 50721 w 4100052"/>
              <a:gd name="connsiteY8" fmla="*/ 0 h 2418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00052" h="2418735">
                <a:moveTo>
                  <a:pt x="50721" y="0"/>
                </a:moveTo>
                <a:lnTo>
                  <a:pt x="4049331" y="0"/>
                </a:lnTo>
                <a:cubicBezTo>
                  <a:pt x="4077343" y="0"/>
                  <a:pt x="4100052" y="22709"/>
                  <a:pt x="4100052" y="50721"/>
                </a:cubicBezTo>
                <a:lnTo>
                  <a:pt x="4100052" y="2368014"/>
                </a:lnTo>
                <a:cubicBezTo>
                  <a:pt x="4100052" y="2396026"/>
                  <a:pt x="4077343" y="2418735"/>
                  <a:pt x="4049331" y="2418735"/>
                </a:cubicBezTo>
                <a:lnTo>
                  <a:pt x="50721" y="2418735"/>
                </a:lnTo>
                <a:cubicBezTo>
                  <a:pt x="22709" y="2418735"/>
                  <a:pt x="0" y="2396026"/>
                  <a:pt x="0" y="2368014"/>
                </a:cubicBezTo>
                <a:lnTo>
                  <a:pt x="0" y="50721"/>
                </a:lnTo>
                <a:cubicBezTo>
                  <a:pt x="0" y="22709"/>
                  <a:pt x="22709" y="0"/>
                  <a:pt x="50721" y="0"/>
                </a:cubicBezTo>
                <a:close/>
              </a:path>
            </a:pathLst>
          </a:custGeom>
          <a:effectLst>
            <a:outerShdw blurRad="317500" dist="152400" dir="2700000" algn="tl" rotWithShape="0">
              <a:prstClr val="black">
                <a:alpha val="24000"/>
              </a:prstClr>
            </a:outerShdw>
          </a:effectLst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 hasCustomPrompt="1"/>
          </p:nvPr>
        </p:nvSpPr>
        <p:spPr>
          <a:xfrm>
            <a:off x="622006" y="3615026"/>
            <a:ext cx="4552336" cy="2685548"/>
          </a:xfrm>
          <a:custGeom>
            <a:avLst/>
            <a:gdLst>
              <a:gd name="connsiteX0" fmla="*/ 50721 w 4100052"/>
              <a:gd name="connsiteY0" fmla="*/ 0 h 2418735"/>
              <a:gd name="connsiteX1" fmla="*/ 4049331 w 4100052"/>
              <a:gd name="connsiteY1" fmla="*/ 0 h 2418735"/>
              <a:gd name="connsiteX2" fmla="*/ 4100052 w 4100052"/>
              <a:gd name="connsiteY2" fmla="*/ 50721 h 2418735"/>
              <a:gd name="connsiteX3" fmla="*/ 4100052 w 4100052"/>
              <a:gd name="connsiteY3" fmla="*/ 2368014 h 2418735"/>
              <a:gd name="connsiteX4" fmla="*/ 4049331 w 4100052"/>
              <a:gd name="connsiteY4" fmla="*/ 2418735 h 2418735"/>
              <a:gd name="connsiteX5" fmla="*/ 50721 w 4100052"/>
              <a:gd name="connsiteY5" fmla="*/ 2418735 h 2418735"/>
              <a:gd name="connsiteX6" fmla="*/ 0 w 4100052"/>
              <a:gd name="connsiteY6" fmla="*/ 2368014 h 2418735"/>
              <a:gd name="connsiteX7" fmla="*/ 0 w 4100052"/>
              <a:gd name="connsiteY7" fmla="*/ 50721 h 2418735"/>
              <a:gd name="connsiteX8" fmla="*/ 50721 w 4100052"/>
              <a:gd name="connsiteY8" fmla="*/ 0 h 2418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00052" h="2418735">
                <a:moveTo>
                  <a:pt x="50721" y="0"/>
                </a:moveTo>
                <a:lnTo>
                  <a:pt x="4049331" y="0"/>
                </a:lnTo>
                <a:cubicBezTo>
                  <a:pt x="4077343" y="0"/>
                  <a:pt x="4100052" y="22709"/>
                  <a:pt x="4100052" y="50721"/>
                </a:cubicBezTo>
                <a:lnTo>
                  <a:pt x="4100052" y="2368014"/>
                </a:lnTo>
                <a:cubicBezTo>
                  <a:pt x="4100052" y="2396026"/>
                  <a:pt x="4077343" y="2418735"/>
                  <a:pt x="4049331" y="2418735"/>
                </a:cubicBezTo>
                <a:lnTo>
                  <a:pt x="50721" y="2418735"/>
                </a:lnTo>
                <a:cubicBezTo>
                  <a:pt x="22709" y="2418735"/>
                  <a:pt x="0" y="2396026"/>
                  <a:pt x="0" y="2368014"/>
                </a:cubicBezTo>
                <a:lnTo>
                  <a:pt x="0" y="50721"/>
                </a:lnTo>
                <a:cubicBezTo>
                  <a:pt x="0" y="22709"/>
                  <a:pt x="22709" y="0"/>
                  <a:pt x="50721" y="0"/>
                </a:cubicBezTo>
                <a:close/>
              </a:path>
            </a:pathLst>
          </a:custGeom>
          <a:effectLst>
            <a:outerShdw blurRad="317500" dist="152400" dir="2700000" algn="tl" rotWithShape="0">
              <a:prstClr val="black">
                <a:alpha val="24000"/>
              </a:prstClr>
            </a:outerShdw>
          </a:effectLst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 userDrawn="1"/>
        </p:nvSpPr>
        <p:spPr>
          <a:xfrm>
            <a:off x="0" y="0"/>
            <a:ext cx="1792479" cy="1484081"/>
          </a:xfrm>
          <a:custGeom>
            <a:avLst/>
            <a:gdLst>
              <a:gd name="connsiteX0" fmla="*/ 0 w 1792479"/>
              <a:gd name="connsiteY0" fmla="*/ 0 h 1484081"/>
              <a:gd name="connsiteX1" fmla="*/ 1792479 w 1792479"/>
              <a:gd name="connsiteY1" fmla="*/ 0 h 1484081"/>
              <a:gd name="connsiteX2" fmla="*/ 0 w 1792479"/>
              <a:gd name="connsiteY2" fmla="*/ 1484081 h 1484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 userDrawn="1"/>
        </p:nvSpPr>
        <p:spPr>
          <a:xfrm rot="8516724">
            <a:off x="362826" y="-39565"/>
            <a:ext cx="234240" cy="1051474"/>
          </a:xfrm>
          <a:custGeom>
            <a:avLst/>
            <a:gdLst>
              <a:gd name="connsiteX0" fmla="*/ 0 w 808317"/>
              <a:gd name="connsiteY0" fmla="*/ 3628428 h 3628428"/>
              <a:gd name="connsiteX1" fmla="*/ 0 w 808317"/>
              <a:gd name="connsiteY1" fmla="*/ 243140 h 3628428"/>
              <a:gd name="connsiteX2" fmla="*/ 808317 w 808317"/>
              <a:gd name="connsiteY2" fmla="*/ 0 h 3628428"/>
              <a:gd name="connsiteX3" fmla="*/ 808317 w 808317"/>
              <a:gd name="connsiteY3" fmla="*/ 3628428 h 3628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317" h="3628428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/>
          <p:cNvSpPr/>
          <p:nvPr userDrawn="1"/>
        </p:nvSpPr>
        <p:spPr>
          <a:xfrm rot="21331630">
            <a:off x="554150" y="863907"/>
            <a:ext cx="154284" cy="113868"/>
          </a:xfrm>
          <a:custGeom>
            <a:avLst/>
            <a:gdLst>
              <a:gd name="connsiteX0" fmla="*/ 531894 w 532402"/>
              <a:gd name="connsiteY0" fmla="*/ 392183 h 392937"/>
              <a:gd name="connsiteX1" fmla="*/ 532402 w 532402"/>
              <a:gd name="connsiteY1" fmla="*/ 392937 h 392937"/>
              <a:gd name="connsiteX2" fmla="*/ 531273 w 532402"/>
              <a:gd name="connsiteY2" fmla="*/ 392932 h 392937"/>
              <a:gd name="connsiteX3" fmla="*/ 266823 w 532402"/>
              <a:gd name="connsiteY3" fmla="*/ 0 h 392937"/>
              <a:gd name="connsiteX4" fmla="*/ 527696 w 532402"/>
              <a:gd name="connsiteY4" fmla="*/ 392916 h 392937"/>
              <a:gd name="connsiteX5" fmla="*/ 0 w 532402"/>
              <a:gd name="connsiteY5" fmla="*/ 390555 h 39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2402" h="392937">
                <a:moveTo>
                  <a:pt x="531894" y="392183"/>
                </a:moveTo>
                <a:lnTo>
                  <a:pt x="532402" y="392937"/>
                </a:lnTo>
                <a:lnTo>
                  <a:pt x="531273" y="392932"/>
                </a:lnTo>
                <a:close/>
                <a:moveTo>
                  <a:pt x="266823" y="0"/>
                </a:moveTo>
                <a:lnTo>
                  <a:pt x="527696" y="392916"/>
                </a:lnTo>
                <a:lnTo>
                  <a:pt x="0" y="39055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8516724">
            <a:off x="501961" y="-239247"/>
            <a:ext cx="234240" cy="1051474"/>
          </a:xfrm>
          <a:custGeom>
            <a:avLst/>
            <a:gdLst>
              <a:gd name="connsiteX0" fmla="*/ 0 w 808317"/>
              <a:gd name="connsiteY0" fmla="*/ 3628428 h 3628428"/>
              <a:gd name="connsiteX1" fmla="*/ 0 w 808317"/>
              <a:gd name="connsiteY1" fmla="*/ 243140 h 3628428"/>
              <a:gd name="connsiteX2" fmla="*/ 808317 w 808317"/>
              <a:gd name="connsiteY2" fmla="*/ 0 h 3628428"/>
              <a:gd name="connsiteX3" fmla="*/ 808317 w 808317"/>
              <a:gd name="connsiteY3" fmla="*/ 3628428 h 3628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317" h="3628428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chemeClr val="accent2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5400000" flipH="1">
            <a:off x="10553720" y="5219720"/>
            <a:ext cx="1792479" cy="1484081"/>
          </a:xfrm>
          <a:custGeom>
            <a:avLst/>
            <a:gdLst>
              <a:gd name="connsiteX0" fmla="*/ 0 w 1792479"/>
              <a:gd name="connsiteY0" fmla="*/ 0 h 1484081"/>
              <a:gd name="connsiteX1" fmla="*/ 1792479 w 1792479"/>
              <a:gd name="connsiteY1" fmla="*/ 0 h 1484081"/>
              <a:gd name="connsiteX2" fmla="*/ 0 w 1792479"/>
              <a:gd name="connsiteY2" fmla="*/ 1484081 h 1484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/>
        </p:nvSpPr>
        <p:spPr>
          <a:xfrm rot="13125461" flipV="1">
            <a:off x="11302288" y="3064740"/>
            <a:ext cx="800384" cy="2560873"/>
          </a:xfrm>
          <a:custGeom>
            <a:avLst/>
            <a:gdLst>
              <a:gd name="connsiteX0" fmla="*/ 800383 w 800384"/>
              <a:gd name="connsiteY0" fmla="*/ 0 h 2560873"/>
              <a:gd name="connsiteX1" fmla="*/ 0 w 800384"/>
              <a:gd name="connsiteY1" fmla="*/ 996983 h 2560873"/>
              <a:gd name="connsiteX2" fmla="*/ 0 w 800384"/>
              <a:gd name="connsiteY2" fmla="*/ 2560873 h 2560873"/>
              <a:gd name="connsiteX3" fmla="*/ 800384 w 800384"/>
              <a:gd name="connsiteY3" fmla="*/ 1896923 h 2560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384" h="2560873">
                <a:moveTo>
                  <a:pt x="800383" y="0"/>
                </a:moveTo>
                <a:lnTo>
                  <a:pt x="0" y="996983"/>
                </a:lnTo>
                <a:lnTo>
                  <a:pt x="0" y="2560873"/>
                </a:lnTo>
                <a:lnTo>
                  <a:pt x="800384" y="1896923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4.xml"/><Relationship Id="rId7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.png"/><Relationship Id="rId4" Type="http://schemas.openxmlformats.org/officeDocument/2006/relationships/tags" Target="../tags/tag5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upload_0677123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1360714"/>
            <a:ext cx="6408964" cy="4640036"/>
          </a:xfrm>
          <a:prstGeom prst="rect">
            <a:avLst/>
          </a:prstGeom>
        </p:spPr>
      </p:pic>
      <p:sp>
        <p:nvSpPr>
          <p:cNvPr id="72" name="任意多边形: 形状 71"/>
          <p:cNvSpPr/>
          <p:nvPr/>
        </p:nvSpPr>
        <p:spPr>
          <a:xfrm flipH="1" flipV="1">
            <a:off x="-4121880" y="1823357"/>
            <a:ext cx="8390917" cy="766246"/>
          </a:xfrm>
          <a:custGeom>
            <a:avLst/>
            <a:gdLst>
              <a:gd name="connsiteX0" fmla="*/ 8365092 w 8390917"/>
              <a:gd name="connsiteY0" fmla="*/ 0 h 766246"/>
              <a:gd name="connsiteX1" fmla="*/ 8390917 w 8390917"/>
              <a:gd name="connsiteY1" fmla="*/ 0 h 766246"/>
              <a:gd name="connsiteX2" fmla="*/ 8390917 w 8390917"/>
              <a:gd name="connsiteY2" fmla="*/ 766246 h 766246"/>
              <a:gd name="connsiteX3" fmla="*/ 0 w 8390917"/>
              <a:gd name="connsiteY3" fmla="*/ 766246 h 766246"/>
              <a:gd name="connsiteX4" fmla="*/ 336178 w 8390917"/>
              <a:gd name="connsiteY4" fmla="*/ 192623 h 766246"/>
              <a:gd name="connsiteX5" fmla="*/ 8365092 w 8390917"/>
              <a:gd name="connsiteY5" fmla="*/ 192623 h 76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90917" h="766246">
                <a:moveTo>
                  <a:pt x="8365092" y="0"/>
                </a:moveTo>
                <a:lnTo>
                  <a:pt x="8390917" y="0"/>
                </a:lnTo>
                <a:lnTo>
                  <a:pt x="8390917" y="766246"/>
                </a:lnTo>
                <a:lnTo>
                  <a:pt x="0" y="766246"/>
                </a:lnTo>
                <a:lnTo>
                  <a:pt x="336178" y="192623"/>
                </a:lnTo>
                <a:lnTo>
                  <a:pt x="8365092" y="192623"/>
                </a:lnTo>
                <a:close/>
              </a:path>
            </a:pathLst>
          </a:custGeom>
          <a:solidFill>
            <a:schemeClr val="bg2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 rot="2977103">
            <a:off x="8466446" y="2089651"/>
            <a:ext cx="3245258" cy="3776827"/>
          </a:xfrm>
          <a:prstGeom prst="parallelogram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6" name="任意多边形: 形状 65"/>
          <p:cNvSpPr/>
          <p:nvPr/>
        </p:nvSpPr>
        <p:spPr>
          <a:xfrm>
            <a:off x="2803763" y="2064282"/>
            <a:ext cx="9818733" cy="2317218"/>
          </a:xfrm>
          <a:custGeom>
            <a:avLst/>
            <a:gdLst>
              <a:gd name="connsiteX0" fmla="*/ 1358028 w 9818733"/>
              <a:gd name="connsiteY0" fmla="*/ 0 h 2317218"/>
              <a:gd name="connsiteX1" fmla="*/ 9818733 w 9818733"/>
              <a:gd name="connsiteY1" fmla="*/ 0 h 2317218"/>
              <a:gd name="connsiteX2" fmla="*/ 9818733 w 9818733"/>
              <a:gd name="connsiteY2" fmla="*/ 2317218 h 2317218"/>
              <a:gd name="connsiteX3" fmla="*/ 0 w 9818733"/>
              <a:gd name="connsiteY3" fmla="*/ 2317218 h 2317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2317218">
                <a:moveTo>
                  <a:pt x="1358028" y="0"/>
                </a:moveTo>
                <a:lnTo>
                  <a:pt x="9818733" y="0"/>
                </a:lnTo>
                <a:lnTo>
                  <a:pt x="9818733" y="2317218"/>
                </a:lnTo>
                <a:lnTo>
                  <a:pt x="0" y="231721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9" name="任意多边形: 形状 68"/>
          <p:cNvSpPr/>
          <p:nvPr/>
        </p:nvSpPr>
        <p:spPr>
          <a:xfrm flipH="1">
            <a:off x="-4122005" y="442190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sp>
        <p:nvSpPr>
          <p:cNvPr id="73" name="任意多边形: 形状 72"/>
          <p:cNvSpPr/>
          <p:nvPr/>
        </p:nvSpPr>
        <p:spPr>
          <a:xfrm flipH="1" flipV="1">
            <a:off x="-2695316" y="5619146"/>
            <a:ext cx="6289317" cy="574331"/>
          </a:xfrm>
          <a:custGeom>
            <a:avLst/>
            <a:gdLst>
              <a:gd name="connsiteX0" fmla="*/ 8365092 w 8390917"/>
              <a:gd name="connsiteY0" fmla="*/ 0 h 766246"/>
              <a:gd name="connsiteX1" fmla="*/ 8390917 w 8390917"/>
              <a:gd name="connsiteY1" fmla="*/ 0 h 766246"/>
              <a:gd name="connsiteX2" fmla="*/ 8390917 w 8390917"/>
              <a:gd name="connsiteY2" fmla="*/ 766246 h 766246"/>
              <a:gd name="connsiteX3" fmla="*/ 0 w 8390917"/>
              <a:gd name="connsiteY3" fmla="*/ 766246 h 766246"/>
              <a:gd name="connsiteX4" fmla="*/ 336178 w 8390917"/>
              <a:gd name="connsiteY4" fmla="*/ 192623 h 766246"/>
              <a:gd name="connsiteX5" fmla="*/ 8365092 w 8390917"/>
              <a:gd name="connsiteY5" fmla="*/ 192623 h 76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90917" h="766246">
                <a:moveTo>
                  <a:pt x="8365092" y="0"/>
                </a:moveTo>
                <a:lnTo>
                  <a:pt x="8390917" y="0"/>
                </a:lnTo>
                <a:lnTo>
                  <a:pt x="8390917" y="766246"/>
                </a:lnTo>
                <a:lnTo>
                  <a:pt x="0" y="766246"/>
                </a:lnTo>
                <a:lnTo>
                  <a:pt x="336178" y="192623"/>
                </a:lnTo>
                <a:lnTo>
                  <a:pt x="8365092" y="19262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4" name="任意多边形: 形状 73"/>
          <p:cNvSpPr/>
          <p:nvPr/>
        </p:nvSpPr>
        <p:spPr>
          <a:xfrm flipH="1" flipV="1">
            <a:off x="-383223" y="6193477"/>
            <a:ext cx="5180980" cy="473119"/>
          </a:xfrm>
          <a:custGeom>
            <a:avLst/>
            <a:gdLst>
              <a:gd name="connsiteX0" fmla="*/ 8365092 w 8390917"/>
              <a:gd name="connsiteY0" fmla="*/ 0 h 766246"/>
              <a:gd name="connsiteX1" fmla="*/ 8390917 w 8390917"/>
              <a:gd name="connsiteY1" fmla="*/ 0 h 766246"/>
              <a:gd name="connsiteX2" fmla="*/ 8390917 w 8390917"/>
              <a:gd name="connsiteY2" fmla="*/ 766246 h 766246"/>
              <a:gd name="connsiteX3" fmla="*/ 0 w 8390917"/>
              <a:gd name="connsiteY3" fmla="*/ 766246 h 766246"/>
              <a:gd name="connsiteX4" fmla="*/ 336178 w 8390917"/>
              <a:gd name="connsiteY4" fmla="*/ 192623 h 766246"/>
              <a:gd name="connsiteX5" fmla="*/ 8365092 w 8390917"/>
              <a:gd name="connsiteY5" fmla="*/ 192623 h 76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90917" h="766246">
                <a:moveTo>
                  <a:pt x="8365092" y="0"/>
                </a:moveTo>
                <a:lnTo>
                  <a:pt x="8390917" y="0"/>
                </a:lnTo>
                <a:lnTo>
                  <a:pt x="8390917" y="766246"/>
                </a:lnTo>
                <a:lnTo>
                  <a:pt x="0" y="766246"/>
                </a:lnTo>
                <a:lnTo>
                  <a:pt x="336178" y="192623"/>
                </a:lnTo>
                <a:lnTo>
                  <a:pt x="8365092" y="19262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/>
        </p:nvSpPr>
        <p:spPr>
          <a:xfrm rot="17940478">
            <a:off x="9248546" y="3449847"/>
            <a:ext cx="2824242" cy="4476771"/>
          </a:xfrm>
          <a:custGeom>
            <a:avLst/>
            <a:gdLst>
              <a:gd name="connsiteX0" fmla="*/ 0 w 2357089"/>
              <a:gd name="connsiteY0" fmla="*/ 3244060 h 3244060"/>
              <a:gd name="connsiteX1" fmla="*/ 1178545 w 2357089"/>
              <a:gd name="connsiteY1" fmla="*/ 0 h 3244060"/>
              <a:gd name="connsiteX2" fmla="*/ 2357089 w 2357089"/>
              <a:gd name="connsiteY2" fmla="*/ 3244060 h 3244060"/>
              <a:gd name="connsiteX3" fmla="*/ 0 w 2357089"/>
              <a:gd name="connsiteY3" fmla="*/ 3244060 h 3244060"/>
              <a:gd name="connsiteX0-1" fmla="*/ 0 w 3531964"/>
              <a:gd name="connsiteY0-2" fmla="*/ 3244060 h 5598598"/>
              <a:gd name="connsiteX1-3" fmla="*/ 1178545 w 3531964"/>
              <a:gd name="connsiteY1-4" fmla="*/ 0 h 5598598"/>
              <a:gd name="connsiteX2-5" fmla="*/ 3531964 w 3531964"/>
              <a:gd name="connsiteY2-6" fmla="*/ 5598598 h 5598598"/>
              <a:gd name="connsiteX3-7" fmla="*/ 0 w 3531964"/>
              <a:gd name="connsiteY3-8" fmla="*/ 3244060 h 5598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531964" h="5598598">
                <a:moveTo>
                  <a:pt x="0" y="3244060"/>
                </a:moveTo>
                <a:lnTo>
                  <a:pt x="1178545" y="0"/>
                </a:lnTo>
                <a:lnTo>
                  <a:pt x="3531964" y="5598598"/>
                </a:lnTo>
                <a:lnTo>
                  <a:pt x="0" y="32440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平行四边形 13"/>
          <p:cNvSpPr/>
          <p:nvPr/>
        </p:nvSpPr>
        <p:spPr>
          <a:xfrm>
            <a:off x="5530263" y="1342006"/>
            <a:ext cx="1131474" cy="482453"/>
          </a:xfrm>
          <a:prstGeom prst="parallelogram">
            <a:avLst>
              <a:gd name="adj" fmla="val 6278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1" name="平行四边形 80"/>
          <p:cNvSpPr/>
          <p:nvPr/>
        </p:nvSpPr>
        <p:spPr>
          <a:xfrm>
            <a:off x="7067064" y="1107039"/>
            <a:ext cx="606981" cy="258813"/>
          </a:xfrm>
          <a:prstGeom prst="parallelogram">
            <a:avLst>
              <a:gd name="adj" fmla="val 6278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4797757" y="6133027"/>
            <a:ext cx="47163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accent6">
                    <a:lumMod val="5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rPr>
              <a:t>培训时间：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rPr>
              <a:t>9.25 </a:t>
            </a:r>
            <a:r>
              <a:rPr lang="zh-CN" altLang="en-US" sz="1600" dirty="0">
                <a:solidFill>
                  <a:schemeClr val="accent6">
                    <a:lumMod val="5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rPr>
              <a:t>主讲人：吴亚翰（西）赵亿（南）</a:t>
            </a:r>
          </a:p>
        </p:txBody>
      </p:sp>
      <p:sp>
        <p:nvSpPr>
          <p:cNvPr id="85" name="标题 3"/>
          <p:cNvSpPr txBox="1"/>
          <p:nvPr/>
        </p:nvSpPr>
        <p:spPr>
          <a:xfrm>
            <a:off x="4269037" y="2765633"/>
            <a:ext cx="8900796" cy="15478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i="1" dirty="0">
                <a:solidFill>
                  <a:schemeClr val="bg1"/>
                </a:solidFill>
                <a:ea typeface="+mn-ea"/>
                <a:cs typeface="+mn-ea"/>
                <a:sym typeface="+mn-lt"/>
              </a:rPr>
              <a:t>电控组第一讲</a:t>
            </a:r>
          </a:p>
        </p:txBody>
      </p:sp>
      <p:sp>
        <p:nvSpPr>
          <p:cNvPr id="10" name="文本框 9"/>
          <p:cNvSpPr txBox="1"/>
          <p:nvPr/>
        </p:nvSpPr>
        <p:spPr>
          <a:xfrm flipH="1">
            <a:off x="122464" y="544286"/>
            <a:ext cx="6939643" cy="34017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i="1" spc="11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『生无所息，斗无所止</a:t>
            </a:r>
            <a:r>
              <a:rPr lang="zh-CN" altLang="en-US" sz="2000" b="1" i="1" spc="11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』</a:t>
            </a:r>
            <a:endParaRPr lang="zh-CN" altLang="en-US" sz="2000" b="1" spc="11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淘宝网chenying0907出品 24"/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22340" y="200268"/>
            <a:ext cx="6042179" cy="974838"/>
            <a:chOff x="422340" y="200268"/>
            <a:chExt cx="6042179" cy="974838"/>
          </a:xfrm>
        </p:grpSpPr>
        <p:grpSp>
          <p:nvGrpSpPr>
            <p:cNvPr id="17" name="组合 16"/>
            <p:cNvGrpSpPr/>
            <p:nvPr userDrawn="1"/>
          </p:nvGrpSpPr>
          <p:grpSpPr>
            <a:xfrm>
              <a:off x="994629" y="420402"/>
              <a:ext cx="5469890" cy="754704"/>
              <a:chOff x="994629" y="420402"/>
              <a:chExt cx="5469890" cy="754704"/>
            </a:xfrm>
          </p:grpSpPr>
          <p:sp>
            <p:nvSpPr>
              <p:cNvPr id="26" name="文本框 25"/>
              <p:cNvSpPr txBox="1"/>
              <p:nvPr userDrawn="1"/>
            </p:nvSpPr>
            <p:spPr>
              <a:xfrm>
                <a:off x="1408014" y="420402"/>
                <a:ext cx="505650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i="1" dirty="0">
                    <a:solidFill>
                      <a:schemeClr val="bg1"/>
                    </a:solidFill>
                    <a:effectLst>
                      <a:glow rad="127000">
                        <a:schemeClr val="accent1">
                          <a:lumMod val="50000"/>
                        </a:schemeClr>
                      </a:glo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  <a:sym typeface="思源黑体" panose="020B0400000000000000" pitchFamily="34" charset="-122"/>
                  </a:rPr>
                  <a:t>关于时间安排</a:t>
                </a:r>
                <a:r>
                  <a:rPr lang="en-US" altLang="zh-CN" sz="2400" b="1" i="1" dirty="0">
                    <a:solidFill>
                      <a:schemeClr val="bg1"/>
                    </a:solidFill>
                    <a:effectLst>
                      <a:glow rad="127000">
                        <a:schemeClr val="accent1">
                          <a:lumMod val="50000"/>
                        </a:schemeClr>
                      </a:glo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  <a:sym typeface="思源黑体" panose="020B0400000000000000" pitchFamily="34" charset="-122"/>
                  </a:rPr>
                  <a:t>:</a:t>
                </a:r>
                <a:endParaRPr lang="zh-CN" altLang="en-US" sz="2400" b="1" i="1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27" name="文本框 26"/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25" name="文本框 24"/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00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9" name="图片 8" descr="upload_159476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i="1" spc="110" dirty="0">
                <a:solidFill>
                  <a:srgbClr val="000000"/>
                </a:solidFill>
              </a:rPr>
              <a:t>哈理工</a:t>
            </a:r>
            <a:r>
              <a:rPr lang="en-US" altLang="zh-CN" sz="1400" i="1" spc="110" dirty="0">
                <a:solidFill>
                  <a:srgbClr val="000000"/>
                </a:solidFill>
              </a:rPr>
              <a:t>A.I.R.</a:t>
            </a:r>
            <a:r>
              <a:rPr lang="zh-CN" altLang="en-US" sz="1400" i="1" spc="110" dirty="0">
                <a:solidFill>
                  <a:srgbClr val="000000"/>
                </a:solidFill>
              </a:rPr>
              <a:t>创新实验室</a:t>
            </a:r>
            <a:endParaRPr lang="zh-CN" altLang="en-US" sz="1400" spc="11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049BED-05AB-4B5B-25C5-08D8A2AC0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014" y="1109242"/>
            <a:ext cx="7645310" cy="487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388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 rot="2380623">
            <a:off x="11528781" y="-382476"/>
            <a:ext cx="687161" cy="5225545"/>
          </a:xfrm>
          <a:custGeom>
            <a:avLst/>
            <a:gdLst>
              <a:gd name="connsiteX0" fmla="*/ 0 w 293263"/>
              <a:gd name="connsiteY0" fmla="*/ 243273 h 2230130"/>
              <a:gd name="connsiteX1" fmla="*/ 293263 w 293263"/>
              <a:gd name="connsiteY1" fmla="*/ 0 h 2230130"/>
              <a:gd name="connsiteX2" fmla="*/ 293263 w 293263"/>
              <a:gd name="connsiteY2" fmla="*/ 1986856 h 2230130"/>
              <a:gd name="connsiteX3" fmla="*/ 0 w 293263"/>
              <a:gd name="connsiteY3" fmla="*/ 2230130 h 2230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263" h="2230130">
                <a:moveTo>
                  <a:pt x="0" y="243273"/>
                </a:moveTo>
                <a:lnTo>
                  <a:pt x="293263" y="0"/>
                </a:lnTo>
                <a:lnTo>
                  <a:pt x="293263" y="1986856"/>
                </a:lnTo>
                <a:lnTo>
                  <a:pt x="0" y="223013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任意多边形: 形状 30"/>
          <p:cNvSpPr/>
          <p:nvPr/>
        </p:nvSpPr>
        <p:spPr>
          <a:xfrm rot="2380623">
            <a:off x="-511296" y="-1203550"/>
            <a:ext cx="2174008" cy="4424167"/>
          </a:xfrm>
          <a:custGeom>
            <a:avLst/>
            <a:gdLst>
              <a:gd name="connsiteX0" fmla="*/ 0 w 2174008"/>
              <a:gd name="connsiteY0" fmla="*/ 1803426 h 4424167"/>
              <a:gd name="connsiteX1" fmla="*/ 2174008 w 2174008"/>
              <a:gd name="connsiteY1" fmla="*/ 0 h 4424167"/>
              <a:gd name="connsiteX2" fmla="*/ 2174008 w 2174008"/>
              <a:gd name="connsiteY2" fmla="*/ 4424167 h 4424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4008" h="4424167">
                <a:moveTo>
                  <a:pt x="0" y="1803426"/>
                </a:moveTo>
                <a:lnTo>
                  <a:pt x="2174008" y="0"/>
                </a:lnTo>
                <a:lnTo>
                  <a:pt x="2174008" y="4424167"/>
                </a:lnTo>
                <a:close/>
              </a:path>
            </a:pathLst>
          </a:custGeom>
          <a:blipFill dpi="0" rotWithShape="0">
            <a:blip r:embed="rId7"/>
            <a:srcRect/>
            <a:stretch>
              <a:fillRect r="-4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9525" imgH="9525" progId="TCLayout.ActiveDocument.1">
                  <p:embed/>
                </p:oleObj>
              </mc:Choice>
              <mc:Fallback>
                <p:oleObj name="think-cell Slide" r:id="rId8" imgW="9525" imgH="9525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思源黑体" panose="020B0400000000000000" pitchFamily="34" charset="-122"/>
              <a:ea typeface="思源黑体" panose="020B0400000000000000" pitchFamily="34" charset="-122"/>
              <a:cs typeface="+mj-cs"/>
              <a:sym typeface="思源黑体" panose="020B04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 rot="2380623">
            <a:off x="1452010" y="-2589138"/>
            <a:ext cx="981375" cy="871387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任意多边形: 形状 19"/>
          <p:cNvSpPr/>
          <p:nvPr/>
        </p:nvSpPr>
        <p:spPr>
          <a:xfrm rot="8785094">
            <a:off x="-476482" y="-332819"/>
            <a:ext cx="808317" cy="3628428"/>
          </a:xfrm>
          <a:custGeom>
            <a:avLst/>
            <a:gdLst>
              <a:gd name="connsiteX0" fmla="*/ 0 w 808317"/>
              <a:gd name="connsiteY0" fmla="*/ 3628428 h 3628428"/>
              <a:gd name="connsiteX1" fmla="*/ 0 w 808317"/>
              <a:gd name="connsiteY1" fmla="*/ 243140 h 3628428"/>
              <a:gd name="connsiteX2" fmla="*/ 808317 w 808317"/>
              <a:gd name="connsiteY2" fmla="*/ 0 h 3628428"/>
              <a:gd name="connsiteX3" fmla="*/ 808317 w 808317"/>
              <a:gd name="connsiteY3" fmla="*/ 3628428 h 3628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317" h="3628428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任意多边形: 形状 32"/>
          <p:cNvSpPr/>
          <p:nvPr/>
        </p:nvSpPr>
        <p:spPr>
          <a:xfrm>
            <a:off x="65171" y="2821044"/>
            <a:ext cx="532402" cy="392937"/>
          </a:xfrm>
          <a:custGeom>
            <a:avLst/>
            <a:gdLst>
              <a:gd name="connsiteX0" fmla="*/ 531894 w 532402"/>
              <a:gd name="connsiteY0" fmla="*/ 392183 h 392937"/>
              <a:gd name="connsiteX1" fmla="*/ 532402 w 532402"/>
              <a:gd name="connsiteY1" fmla="*/ 392937 h 392937"/>
              <a:gd name="connsiteX2" fmla="*/ 531273 w 532402"/>
              <a:gd name="connsiteY2" fmla="*/ 392932 h 392937"/>
              <a:gd name="connsiteX3" fmla="*/ 266823 w 532402"/>
              <a:gd name="connsiteY3" fmla="*/ 0 h 392937"/>
              <a:gd name="connsiteX4" fmla="*/ 527696 w 532402"/>
              <a:gd name="connsiteY4" fmla="*/ 392916 h 392937"/>
              <a:gd name="connsiteX5" fmla="*/ 0 w 532402"/>
              <a:gd name="connsiteY5" fmla="*/ 390555 h 39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2402" h="392937">
                <a:moveTo>
                  <a:pt x="531894" y="392183"/>
                </a:moveTo>
                <a:lnTo>
                  <a:pt x="532402" y="392937"/>
                </a:lnTo>
                <a:lnTo>
                  <a:pt x="531273" y="392932"/>
                </a:lnTo>
                <a:close/>
                <a:moveTo>
                  <a:pt x="266823" y="0"/>
                </a:moveTo>
                <a:lnTo>
                  <a:pt x="527696" y="392916"/>
                </a:lnTo>
                <a:lnTo>
                  <a:pt x="0" y="39055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任意多边形: 形状 26"/>
          <p:cNvSpPr/>
          <p:nvPr/>
        </p:nvSpPr>
        <p:spPr>
          <a:xfrm rot="8785094">
            <a:off x="55920" y="-982343"/>
            <a:ext cx="808317" cy="3628428"/>
          </a:xfrm>
          <a:custGeom>
            <a:avLst/>
            <a:gdLst>
              <a:gd name="connsiteX0" fmla="*/ 0 w 808317"/>
              <a:gd name="connsiteY0" fmla="*/ 3628428 h 3628428"/>
              <a:gd name="connsiteX1" fmla="*/ 0 w 808317"/>
              <a:gd name="connsiteY1" fmla="*/ 243140 h 3628428"/>
              <a:gd name="connsiteX2" fmla="*/ 808317 w 808317"/>
              <a:gd name="connsiteY2" fmla="*/ 0 h 3628428"/>
              <a:gd name="connsiteX3" fmla="*/ 808317 w 808317"/>
              <a:gd name="connsiteY3" fmla="*/ 3628428 h 3628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317" h="3628428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chemeClr val="accent2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8" name="任意多边形: 形状 37"/>
          <p:cNvSpPr/>
          <p:nvPr/>
        </p:nvSpPr>
        <p:spPr>
          <a:xfrm rot="2380623">
            <a:off x="1588692" y="1005717"/>
            <a:ext cx="687161" cy="5225545"/>
          </a:xfrm>
          <a:custGeom>
            <a:avLst/>
            <a:gdLst>
              <a:gd name="connsiteX0" fmla="*/ 0 w 293263"/>
              <a:gd name="connsiteY0" fmla="*/ 243273 h 2230130"/>
              <a:gd name="connsiteX1" fmla="*/ 293263 w 293263"/>
              <a:gd name="connsiteY1" fmla="*/ 0 h 2230130"/>
              <a:gd name="connsiteX2" fmla="*/ 293263 w 293263"/>
              <a:gd name="connsiteY2" fmla="*/ 1986856 h 2230130"/>
              <a:gd name="connsiteX3" fmla="*/ 0 w 293263"/>
              <a:gd name="connsiteY3" fmla="*/ 2230130 h 2230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263" h="2230130">
                <a:moveTo>
                  <a:pt x="0" y="243273"/>
                </a:moveTo>
                <a:lnTo>
                  <a:pt x="293263" y="0"/>
                </a:lnTo>
                <a:lnTo>
                  <a:pt x="293263" y="1986856"/>
                </a:lnTo>
                <a:lnTo>
                  <a:pt x="0" y="223013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996097" y="2113157"/>
            <a:ext cx="120396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chemeClr val="accent1"/>
                </a:solidFill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rPr>
              <a:t>目录</a:t>
            </a:r>
          </a:p>
        </p:txBody>
      </p:sp>
      <p:sp>
        <p:nvSpPr>
          <p:cNvPr id="39" name="矩形 38"/>
          <p:cNvSpPr/>
          <p:nvPr/>
        </p:nvSpPr>
        <p:spPr>
          <a:xfrm>
            <a:off x="5030470" y="2906310"/>
            <a:ext cx="683260" cy="68326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5906299" y="2944410"/>
            <a:ext cx="5301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sym typeface="思源黑体" panose="020B0400000000000000" pitchFamily="34" charset="-122"/>
              </a:rPr>
              <a:t>走进 </a:t>
            </a:r>
            <a:r>
              <a:rPr lang="en-US" altLang="zh-CN" sz="36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sym typeface="思源黑体" panose="020B0400000000000000" pitchFamily="34" charset="-122"/>
              </a:rPr>
              <a:t>C </a:t>
            </a:r>
            <a:r>
              <a:rPr lang="zh-CN" altLang="en-US" sz="36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sym typeface="思源黑体" panose="020B0400000000000000" pitchFamily="34" charset="-122"/>
              </a:rPr>
              <a:t>语言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2FEE80A-FAA5-25B6-7CC5-918415707820}"/>
              </a:ext>
            </a:extLst>
          </p:cNvPr>
          <p:cNvGrpSpPr/>
          <p:nvPr/>
        </p:nvGrpSpPr>
        <p:grpSpPr>
          <a:xfrm>
            <a:off x="5024755" y="3938602"/>
            <a:ext cx="6160135" cy="693420"/>
            <a:chOff x="5024755" y="3938602"/>
            <a:chExt cx="6160135" cy="693420"/>
          </a:xfrm>
        </p:grpSpPr>
        <p:sp>
          <p:nvSpPr>
            <p:cNvPr id="41" name="矩形 40"/>
            <p:cNvSpPr/>
            <p:nvPr/>
          </p:nvSpPr>
          <p:spPr>
            <a:xfrm>
              <a:off x="5024755" y="3948762"/>
              <a:ext cx="683260" cy="683260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5883275" y="3938602"/>
              <a:ext cx="53016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sym typeface="思源黑体" panose="020B0400000000000000" pitchFamily="34" charset="-122"/>
                </a:rPr>
                <a:t>C </a:t>
              </a:r>
              <a:r>
                <a:rPr lang="zh-CN" altLang="en-US" sz="3600" b="1" i="1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sym typeface="思源黑体" panose="020B0400000000000000" pitchFamily="34" charset="-122"/>
                </a:rPr>
                <a:t>语言基础语法</a:t>
              </a:r>
            </a:p>
          </p:txBody>
        </p:sp>
      </p:grpSp>
      <p:sp>
        <p:nvSpPr>
          <p:cNvPr id="69" name="任意多边形: 形状 6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5" name="图片 4" descr="upload_1594760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i="1" spc="110" dirty="0">
                <a:solidFill>
                  <a:srgbClr val="000000"/>
                </a:solidFill>
              </a:rPr>
              <a:t>哈理工</a:t>
            </a:r>
            <a:r>
              <a:rPr lang="en-US" altLang="zh-CN" sz="1400" i="1" spc="110" dirty="0">
                <a:solidFill>
                  <a:srgbClr val="000000"/>
                </a:solidFill>
              </a:rPr>
              <a:t>A.I.R.</a:t>
            </a:r>
            <a:r>
              <a:rPr lang="zh-CN" altLang="en-US" sz="1400" i="1" spc="110" dirty="0">
                <a:solidFill>
                  <a:srgbClr val="000000"/>
                </a:solidFill>
              </a:rPr>
              <a:t>创新实验室</a:t>
            </a:r>
            <a:endParaRPr lang="zh-CN" altLang="en-US" sz="1400" spc="11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67C7602-E025-1D68-B3B8-7566A253C922}"/>
              </a:ext>
            </a:extLst>
          </p:cNvPr>
          <p:cNvGrpSpPr/>
          <p:nvPr/>
        </p:nvGrpSpPr>
        <p:grpSpPr>
          <a:xfrm>
            <a:off x="5013325" y="1856626"/>
            <a:ext cx="6611116" cy="684431"/>
            <a:chOff x="5013325" y="1856626"/>
            <a:chExt cx="6611116" cy="684431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5013325" y="1856626"/>
              <a:ext cx="683260" cy="683260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9" name="文本框 8"/>
            <p:cNvSpPr txBox="1"/>
            <p:nvPr>
              <p:custDataLst>
                <p:tags r:id="rId4"/>
              </p:custDataLst>
            </p:nvPr>
          </p:nvSpPr>
          <p:spPr>
            <a:xfrm>
              <a:off x="5883275" y="1894726"/>
              <a:ext cx="57411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i="1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  <a:cs typeface="+mn-ea"/>
                  <a:sym typeface="+mn-lt"/>
                </a:rPr>
                <a:t>战队历史及电控组介绍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35408F5-530B-99D7-22A4-63362FA84174}"/>
              </a:ext>
            </a:extLst>
          </p:cNvPr>
          <p:cNvGrpSpPr/>
          <p:nvPr/>
        </p:nvGrpSpPr>
        <p:grpSpPr>
          <a:xfrm>
            <a:off x="5013325" y="4991214"/>
            <a:ext cx="6160135" cy="693420"/>
            <a:chOff x="5013325" y="4991214"/>
            <a:chExt cx="6160135" cy="69342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9645B55-5C2E-12EB-C0BC-6424B177F64A}"/>
                </a:ext>
              </a:extLst>
            </p:cNvPr>
            <p:cNvSpPr/>
            <p:nvPr/>
          </p:nvSpPr>
          <p:spPr>
            <a:xfrm>
              <a:off x="5013325" y="5001374"/>
              <a:ext cx="683260" cy="683260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cs typeface="+mn-ea"/>
                  <a:sym typeface="+mn-lt"/>
                </a:rPr>
                <a:t>04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6D5B73C-5665-D73A-D519-570D9FD09467}"/>
                </a:ext>
              </a:extLst>
            </p:cNvPr>
            <p:cNvSpPr txBox="1"/>
            <p:nvPr/>
          </p:nvSpPr>
          <p:spPr>
            <a:xfrm>
              <a:off x="5871845" y="4991214"/>
              <a:ext cx="53016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sym typeface="思源黑体" panose="020B0400000000000000" pitchFamily="34" charset="-122"/>
                </a:rPr>
                <a:t>C </a:t>
              </a:r>
              <a:r>
                <a:rPr lang="zh-CN" altLang="en-US" sz="3600" b="1" i="1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sym typeface="思源黑体" panose="020B0400000000000000" pitchFamily="34" charset="-122"/>
                </a:rPr>
                <a:t>语言基础知识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44" grpId="1"/>
      <p:bldP spid="9" grpId="1"/>
      <p:bldP spid="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A7929-6849-A6F2-E88C-6AA9AAB5A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upload_067712379">
            <a:extLst>
              <a:ext uri="{FF2B5EF4-FFF2-40B4-BE49-F238E27FC236}">
                <a16:creationId xmlns:a16="http://schemas.microsoft.com/office/drawing/2014/main" id="{F3D6625C-15BD-C7C8-E5C9-8AA96F60A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6893" y="1002574"/>
            <a:ext cx="6354536" cy="4599214"/>
          </a:xfrm>
          <a:prstGeom prst="rect">
            <a:avLst/>
          </a:prstGeom>
        </p:spPr>
      </p:pic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6A514093-D871-BBAA-4E7A-567873751F5D}"/>
              </a:ext>
            </a:extLst>
          </p:cNvPr>
          <p:cNvSpPr/>
          <p:nvPr/>
        </p:nvSpPr>
        <p:spPr>
          <a:xfrm rot="13982193" flipV="1">
            <a:off x="6011572" y="-3138352"/>
            <a:ext cx="2098521" cy="10814693"/>
          </a:xfrm>
          <a:custGeom>
            <a:avLst/>
            <a:gdLst>
              <a:gd name="connsiteX0" fmla="*/ 2098520 w 2098521"/>
              <a:gd name="connsiteY0" fmla="*/ 2788530 h 10814693"/>
              <a:gd name="connsiteX1" fmla="*/ 0 w 2098521"/>
              <a:gd name="connsiteY1" fmla="*/ 0 h 10814693"/>
              <a:gd name="connsiteX2" fmla="*/ 0 w 2098521"/>
              <a:gd name="connsiteY2" fmla="*/ 10814693 h 10814693"/>
              <a:gd name="connsiteX3" fmla="*/ 2098521 w 2098521"/>
              <a:gd name="connsiteY3" fmla="*/ 9073886 h 10814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81728489-28EA-1ACE-FDA2-F35E2D21B755}"/>
              </a:ext>
            </a:extLst>
          </p:cNvPr>
          <p:cNvSpPr/>
          <p:nvPr/>
        </p:nvSpPr>
        <p:spPr>
          <a:xfrm rot="3805420">
            <a:off x="6757538" y="2864877"/>
            <a:ext cx="646538" cy="1118147"/>
          </a:xfrm>
          <a:custGeom>
            <a:avLst/>
            <a:gdLst>
              <a:gd name="connsiteX0" fmla="*/ 441579 w 646538"/>
              <a:gd name="connsiteY0" fmla="*/ 0 h 1118147"/>
              <a:gd name="connsiteX1" fmla="*/ 646538 w 646538"/>
              <a:gd name="connsiteY1" fmla="*/ 1118147 h 1118147"/>
              <a:gd name="connsiteX2" fmla="*/ 0 w 646538"/>
              <a:gd name="connsiteY2" fmla="*/ 1118147 h 1118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6538" h="1118147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58F008D0-419B-64B5-F3E9-851B79E97788}"/>
              </a:ext>
            </a:extLst>
          </p:cNvPr>
          <p:cNvSpPr/>
          <p:nvPr/>
        </p:nvSpPr>
        <p:spPr>
          <a:xfrm rot="3239350">
            <a:off x="3210408" y="3964146"/>
            <a:ext cx="4303214" cy="5920512"/>
          </a:xfrm>
          <a:custGeom>
            <a:avLst/>
            <a:gdLst>
              <a:gd name="connsiteX0" fmla="*/ 0 w 4303214"/>
              <a:gd name="connsiteY0" fmla="*/ 0 h 5920512"/>
              <a:gd name="connsiteX1" fmla="*/ 4303214 w 4303214"/>
              <a:gd name="connsiteY1" fmla="*/ 1 h 5920512"/>
              <a:gd name="connsiteX2" fmla="*/ 0 w 4303214"/>
              <a:gd name="connsiteY2" fmla="*/ 5920512 h 5920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03214" h="5920512">
                <a:moveTo>
                  <a:pt x="0" y="0"/>
                </a:moveTo>
                <a:lnTo>
                  <a:pt x="4303214" y="1"/>
                </a:lnTo>
                <a:lnTo>
                  <a:pt x="0" y="59205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7F18000D-DE28-37D9-A3E7-AEF0D45603EF}"/>
              </a:ext>
            </a:extLst>
          </p:cNvPr>
          <p:cNvSpPr/>
          <p:nvPr/>
        </p:nvSpPr>
        <p:spPr>
          <a:xfrm rot="13982193" flipV="1">
            <a:off x="10929458" y="1005823"/>
            <a:ext cx="1025939" cy="5287158"/>
          </a:xfrm>
          <a:custGeom>
            <a:avLst/>
            <a:gdLst>
              <a:gd name="connsiteX0" fmla="*/ 2098520 w 2098521"/>
              <a:gd name="connsiteY0" fmla="*/ 2788530 h 10814693"/>
              <a:gd name="connsiteX1" fmla="*/ 0 w 2098521"/>
              <a:gd name="connsiteY1" fmla="*/ 0 h 10814693"/>
              <a:gd name="connsiteX2" fmla="*/ 0 w 2098521"/>
              <a:gd name="connsiteY2" fmla="*/ 10814693 h 10814693"/>
              <a:gd name="connsiteX3" fmla="*/ 2098521 w 2098521"/>
              <a:gd name="connsiteY3" fmla="*/ 9073886 h 10814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8">
            <a:extLst>
              <a:ext uri="{FF2B5EF4-FFF2-40B4-BE49-F238E27FC236}">
                <a16:creationId xmlns:a16="http://schemas.microsoft.com/office/drawing/2014/main" id="{A43C8548-EA2F-2CBC-CC33-9961B6E5CD83}"/>
              </a:ext>
            </a:extLst>
          </p:cNvPr>
          <p:cNvSpPr/>
          <p:nvPr/>
        </p:nvSpPr>
        <p:spPr>
          <a:xfrm flipH="1">
            <a:off x="-4825040" y="5331690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sp>
        <p:nvSpPr>
          <p:cNvPr id="8" name="流程图: 数据 7">
            <a:extLst>
              <a:ext uri="{FF2B5EF4-FFF2-40B4-BE49-F238E27FC236}">
                <a16:creationId xmlns:a16="http://schemas.microsoft.com/office/drawing/2014/main" id="{CD10E59C-D636-8880-2764-A2EE51507D2F}"/>
              </a:ext>
            </a:extLst>
          </p:cNvPr>
          <p:cNvSpPr/>
          <p:nvPr userDrawn="1"/>
        </p:nvSpPr>
        <p:spPr>
          <a:xfrm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" name="任意多边形: 形状 68">
            <a:extLst>
              <a:ext uri="{FF2B5EF4-FFF2-40B4-BE49-F238E27FC236}">
                <a16:creationId xmlns:a16="http://schemas.microsoft.com/office/drawing/2014/main" id="{6623FDBC-24B5-8193-C47A-F1DE322C65F8}"/>
              </a:ext>
            </a:extLst>
          </p:cNvPr>
          <p:cNvSpPr/>
          <p:nvPr/>
        </p:nvSpPr>
        <p:spPr>
          <a:xfrm flipH="1">
            <a:off x="-4122005" y="442190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66EEB15-9B44-25B5-2E1B-82A4AC295045}"/>
              </a:ext>
            </a:extLst>
          </p:cNvPr>
          <p:cNvSpPr txBox="1"/>
          <p:nvPr/>
        </p:nvSpPr>
        <p:spPr>
          <a:xfrm flipH="1">
            <a:off x="122464" y="544286"/>
            <a:ext cx="6939643" cy="34017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i="1" spc="11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『生无所息，斗无所止</a:t>
            </a:r>
            <a:r>
              <a:rPr lang="zh-CN" altLang="en-US" sz="2000" b="1" i="1" spc="11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』</a:t>
            </a:r>
            <a:endParaRPr lang="zh-CN" altLang="en-US" sz="2000" b="1" spc="11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6DFC5F1-FFA4-0C04-C8C5-8BCCA4511311}"/>
              </a:ext>
            </a:extLst>
          </p:cNvPr>
          <p:cNvSpPr txBox="1"/>
          <p:nvPr/>
        </p:nvSpPr>
        <p:spPr>
          <a:xfrm rot="19335346">
            <a:off x="4168351" y="1430526"/>
            <a:ext cx="600964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  <a:sym typeface="思源黑体" panose="020B0400000000000000" pitchFamily="34" charset="-122"/>
              </a:rPr>
              <a:t>0</a:t>
            </a:r>
            <a:r>
              <a:rPr lang="en-US" altLang="zh-CN" sz="6600" b="1" i="1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sym typeface="思源黑体" panose="020B0400000000000000" pitchFamily="34" charset="-122"/>
              </a:rPr>
              <a:t>1</a:t>
            </a:r>
            <a:r>
              <a:rPr lang="zh-CN" altLang="en-US" sz="3600" b="1" i="1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sym typeface="思源黑体" panose="020B0400000000000000" pitchFamily="34" charset="-122"/>
              </a:rPr>
              <a:t>战队历史及电控组介绍</a:t>
            </a:r>
            <a:endParaRPr lang="zh-CN" altLang="en-US" sz="3600" b="1" i="1" dirty="0">
              <a:solidFill>
                <a:schemeClr val="bg1"/>
              </a:solidFill>
              <a:effectLst>
                <a:glow rad="127000">
                  <a:schemeClr val="accent1">
                    <a:lumMod val="50000"/>
                  </a:schemeClr>
                </a:glow>
              </a:effectLst>
              <a:ea typeface="锐字真言体免费商用" panose="02010600030101010101" pitchFamily="2" charset="-122"/>
              <a:sym typeface="+mn-lt"/>
            </a:endParaRPr>
          </a:p>
          <a:p>
            <a:endParaRPr lang="en-US" altLang="zh-CN" sz="4400" b="1" i="1" dirty="0">
              <a:solidFill>
                <a:schemeClr val="bg1"/>
              </a:solidFill>
              <a:effectLst>
                <a:glow rad="127000">
                  <a:schemeClr val="accent1">
                    <a:lumMod val="50000"/>
                  </a:schemeClr>
                </a:glow>
              </a:effectLst>
              <a:latin typeface="锐字真言体免费商用" panose="02010600030101010101" pitchFamily="2" charset="-122"/>
              <a:ea typeface="锐字真言体免费商用" panose="02010600030101010101" pitchFamily="2" charset="-122"/>
              <a:sym typeface="+mn-lt"/>
            </a:endParaRPr>
          </a:p>
          <a:p>
            <a:endParaRPr lang="zh-CN" altLang="en-US" sz="4400" b="1" i="1" kern="1200" dirty="0">
              <a:solidFill>
                <a:schemeClr val="bg1"/>
              </a:solidFill>
              <a:effectLst>
                <a:glow rad="127000">
                  <a:schemeClr val="accent1">
                    <a:lumMod val="50000"/>
                  </a:schemeClr>
                </a:glow>
              </a:effectLst>
              <a:latin typeface="锐字真言体免费商用" panose="02010600030101010101" pitchFamily="2" charset="-122"/>
              <a:ea typeface="锐字真言体免费商用" panose="02010600030101010101" pitchFamily="2" charset="-122"/>
              <a:cs typeface="+mn-cs"/>
              <a:sym typeface="思源黑体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3769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B3398-CF19-9EEC-D51F-1B64A50B1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淘宝网chenying0907出品 24">
            <a:extLst>
              <a:ext uri="{FF2B5EF4-FFF2-40B4-BE49-F238E27FC236}">
                <a16:creationId xmlns:a16="http://schemas.microsoft.com/office/drawing/2014/main" id="{B334D2F8-BD1A-72A9-7F56-DC27E2F4B1E8}"/>
              </a:ext>
            </a:extLst>
          </p:cNvPr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664A623-DAD2-9E89-17D8-3A653AB508BB}"/>
              </a:ext>
            </a:extLst>
          </p:cNvPr>
          <p:cNvGrpSpPr/>
          <p:nvPr/>
        </p:nvGrpSpPr>
        <p:grpSpPr>
          <a:xfrm>
            <a:off x="422340" y="200268"/>
            <a:ext cx="6042179" cy="974838"/>
            <a:chOff x="422340" y="200268"/>
            <a:chExt cx="6042179" cy="974838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3B271B10-DA3C-77E4-05D7-5EE51C807B90}"/>
                </a:ext>
              </a:extLst>
            </p:cNvPr>
            <p:cNvGrpSpPr/>
            <p:nvPr userDrawn="1"/>
          </p:nvGrpSpPr>
          <p:grpSpPr>
            <a:xfrm>
              <a:off x="994629" y="420402"/>
              <a:ext cx="5469890" cy="754704"/>
              <a:chOff x="994629" y="420402"/>
              <a:chExt cx="5469890" cy="754704"/>
            </a:xfrm>
          </p:grpSpPr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4BCAC8F-2D4C-7B2C-A981-99952F12F8B3}"/>
                  </a:ext>
                </a:extLst>
              </p:cNvPr>
              <p:cNvSpPr txBox="1"/>
              <p:nvPr userDrawn="1"/>
            </p:nvSpPr>
            <p:spPr>
              <a:xfrm>
                <a:off x="1408014" y="420402"/>
                <a:ext cx="505650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i="1" dirty="0">
                    <a:solidFill>
                      <a:schemeClr val="bg1"/>
                    </a:solidFill>
                    <a:effectLst>
                      <a:glow rad="127000">
                        <a:schemeClr val="accent1">
                          <a:lumMod val="50000"/>
                        </a:schemeClr>
                      </a:glo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  <a:sym typeface="思源黑体" panose="020B0400000000000000" pitchFamily="34" charset="-122"/>
                  </a:rPr>
                  <a:t>战队历史及电控组介绍</a:t>
                </a: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0AB93DA-15E3-CC5C-851B-9F052D1FA62D}"/>
                  </a:ext>
                </a:extLst>
              </p:cNvPr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4FD28DB-EF79-C63D-029B-7AA02E5B7DF6}"/>
                </a:ext>
              </a:extLst>
            </p:cNvPr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01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>
            <a:extLst>
              <a:ext uri="{FF2B5EF4-FFF2-40B4-BE49-F238E27FC236}">
                <a16:creationId xmlns:a16="http://schemas.microsoft.com/office/drawing/2014/main" id="{287FB09C-E68B-3F82-F74A-C2C17C3D352F}"/>
              </a:ext>
            </a:extLst>
          </p:cNvPr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9" name="图片 8" descr="upload_159476022">
            <a:extLst>
              <a:ext uri="{FF2B5EF4-FFF2-40B4-BE49-F238E27FC236}">
                <a16:creationId xmlns:a16="http://schemas.microsoft.com/office/drawing/2014/main" id="{F9378FFA-A426-6A4C-CB1D-147BD1A84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D8702FA-76BD-A3E9-220C-B7A0CD6A541D}"/>
              </a:ext>
            </a:extLst>
          </p:cNvPr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i="1" spc="110" dirty="0">
                <a:solidFill>
                  <a:srgbClr val="000000"/>
                </a:solidFill>
              </a:rPr>
              <a:t>哈理工</a:t>
            </a:r>
            <a:r>
              <a:rPr lang="en-US" altLang="zh-CN" sz="1400" i="1" spc="110" dirty="0">
                <a:solidFill>
                  <a:srgbClr val="000000"/>
                </a:solidFill>
              </a:rPr>
              <a:t>A.I.R.</a:t>
            </a:r>
            <a:r>
              <a:rPr lang="zh-CN" altLang="en-US" sz="1400" i="1" spc="110" dirty="0">
                <a:solidFill>
                  <a:srgbClr val="000000"/>
                </a:solidFill>
              </a:rPr>
              <a:t>创新实验室</a:t>
            </a:r>
            <a:endParaRPr lang="zh-CN" altLang="en-US" sz="1400" spc="11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6BF35B-E008-6B61-B995-3999887DCB43}"/>
              </a:ext>
            </a:extLst>
          </p:cNvPr>
          <p:cNvSpPr txBox="1"/>
          <p:nvPr/>
        </p:nvSpPr>
        <p:spPr>
          <a:xfrm>
            <a:off x="1677893" y="1594448"/>
            <a:ext cx="82473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	</a:t>
            </a:r>
            <a:r>
              <a:rPr lang="zh-CN" altLang="en-US" sz="2400" dirty="0"/>
              <a:t>哈理工</a:t>
            </a:r>
            <a:r>
              <a:rPr lang="en-US" altLang="zh-CN" sz="2400" dirty="0"/>
              <a:t>A.I.R.</a:t>
            </a:r>
            <a:r>
              <a:rPr lang="zh-CN" altLang="en-US" sz="2400" dirty="0"/>
              <a:t>战队</a:t>
            </a:r>
            <a:r>
              <a:rPr lang="en-US" altLang="zh-CN" sz="2400" dirty="0"/>
              <a:t>(</a:t>
            </a:r>
            <a:r>
              <a:rPr lang="zh-CN" altLang="en-US" sz="2400" dirty="0"/>
              <a:t>简称为</a:t>
            </a:r>
            <a:r>
              <a:rPr lang="en-US" altLang="zh-CN" sz="2400" dirty="0"/>
              <a:t>A.I.R.),</a:t>
            </a:r>
            <a:r>
              <a:rPr lang="zh-CN" altLang="en-US" sz="2400" dirty="0"/>
              <a:t>分为大创工作室、竞赛工作室、无人机工作室、运宣工作室以及</a:t>
            </a:r>
            <a:r>
              <a:rPr lang="en-US" altLang="zh-CN" sz="2400" dirty="0"/>
              <a:t>A.I.R.</a:t>
            </a:r>
            <a:r>
              <a:rPr lang="zh-CN" altLang="en-US" sz="2400" dirty="0"/>
              <a:t>机器人俱乐部。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目前实验室主要进行</a:t>
            </a:r>
            <a:r>
              <a:rPr lang="en-US" altLang="zh-CN" sz="2400" dirty="0"/>
              <a:t>Robomaster</a:t>
            </a:r>
            <a:r>
              <a:rPr lang="zh-CN" altLang="en-US" sz="2400" dirty="0"/>
              <a:t>（简称</a:t>
            </a:r>
            <a:r>
              <a:rPr lang="en-US" altLang="zh-CN" sz="2400" dirty="0"/>
              <a:t>RM</a:t>
            </a:r>
            <a:r>
              <a:rPr lang="zh-CN" altLang="en-US" sz="2400" dirty="0"/>
              <a:t>）比赛，同时有其他各类比赛也进行参加。 </a:t>
            </a:r>
            <a:endParaRPr lang="en-US" altLang="zh-CN" sz="24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3C80E80-4F00-4F62-0D80-8593873B8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813495"/>
              </p:ext>
            </p:extLst>
          </p:nvPr>
        </p:nvGraphicFramePr>
        <p:xfrm>
          <a:off x="1677893" y="3362388"/>
          <a:ext cx="8223061" cy="2199114"/>
        </p:xfrm>
        <a:graphic>
          <a:graphicData uri="http://schemas.openxmlformats.org/drawingml/2006/table">
            <a:tbl>
              <a:tblPr/>
              <a:tblGrid>
                <a:gridCol w="2126558">
                  <a:extLst>
                    <a:ext uri="{9D8B030D-6E8A-4147-A177-3AD203B41FA5}">
                      <a16:colId xmlns:a16="http://schemas.microsoft.com/office/drawing/2014/main" val="410342656"/>
                    </a:ext>
                  </a:extLst>
                </a:gridCol>
                <a:gridCol w="2113414">
                  <a:extLst>
                    <a:ext uri="{9D8B030D-6E8A-4147-A177-3AD203B41FA5}">
                      <a16:colId xmlns:a16="http://schemas.microsoft.com/office/drawing/2014/main" val="2084140960"/>
                    </a:ext>
                  </a:extLst>
                </a:gridCol>
                <a:gridCol w="1986247">
                  <a:extLst>
                    <a:ext uri="{9D8B030D-6E8A-4147-A177-3AD203B41FA5}">
                      <a16:colId xmlns:a16="http://schemas.microsoft.com/office/drawing/2014/main" val="4035827831"/>
                    </a:ext>
                  </a:extLst>
                </a:gridCol>
                <a:gridCol w="1996842">
                  <a:extLst>
                    <a:ext uri="{9D8B030D-6E8A-4147-A177-3AD203B41FA5}">
                      <a16:colId xmlns:a16="http://schemas.microsoft.com/office/drawing/2014/main" val="552498829"/>
                    </a:ext>
                  </a:extLst>
                </a:gridCol>
              </a:tblGrid>
              <a:tr h="366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奖项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类型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奖项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类型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137107"/>
                  </a:ext>
                </a:extLst>
              </a:tr>
              <a:tr h="366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中国电子设计大赛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latin typeface="Courier New" panose="02070309020205020404" pitchFamily="49" charset="0"/>
                        </a:rPr>
                        <a:t>国一、省一</a:t>
                      </a:r>
                      <a:endParaRPr 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RM </a:t>
                      </a:r>
                      <a:r>
                        <a:rPr lang="zh-CN" altLang="en-US" dirty="0"/>
                        <a:t>高校联盟赛</a:t>
                      </a:r>
                      <a:endParaRPr lang="en-US" altLang="zh-CN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二等奖</a:t>
                      </a:r>
                      <a:endParaRPr 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342981"/>
                  </a:ext>
                </a:extLst>
              </a:tr>
              <a:tr h="366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高校智能机器人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latin typeface="Courier New" panose="02070309020205020404" pitchFamily="49" charset="0"/>
                        </a:rPr>
                        <a:t>国二</a:t>
                      </a:r>
                      <a:endParaRPr 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RM </a:t>
                      </a:r>
                      <a:r>
                        <a:rPr lang="zh-CN" altLang="en-US" dirty="0"/>
                        <a:t>步兵对抗赛</a:t>
                      </a:r>
                      <a:endParaRPr lang="en-US" altLang="zh-CN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二等奖</a:t>
                      </a:r>
                      <a:endParaRPr 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85632"/>
                  </a:ext>
                </a:extLst>
              </a:tr>
              <a:tr h="366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睿抗机器人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latin typeface="Courier New" panose="02070309020205020404" pitchFamily="49" charset="0"/>
                        </a:rPr>
                        <a:t>国一、国二、国三</a:t>
                      </a:r>
                      <a:endParaRPr 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RM </a:t>
                      </a:r>
                      <a:r>
                        <a:rPr lang="zh-CN" altLang="en-US" dirty="0"/>
                        <a:t>超级对抗赛</a:t>
                      </a:r>
                      <a:endParaRPr lang="en-US" altLang="zh-CN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三等奖</a:t>
                      </a:r>
                      <a:endParaRPr 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295022"/>
                  </a:ext>
                </a:extLst>
              </a:tr>
              <a:tr h="366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机械设计创新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latin typeface="Courier New" panose="02070309020205020404" pitchFamily="49" charset="0"/>
                        </a:rPr>
                        <a:t>省二</a:t>
                      </a:r>
                      <a:endParaRPr 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RoboCon</a:t>
                      </a:r>
                      <a:r>
                        <a:rPr lang="zh-CN" altLang="en-US" dirty="0"/>
                        <a:t>比赛</a:t>
                      </a:r>
                      <a:endParaRPr lang="en-US" altLang="zh-CN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国一</a:t>
                      </a:r>
                      <a:endParaRPr 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9105"/>
                  </a:ext>
                </a:extLst>
              </a:tr>
              <a:tr h="366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各类大创项目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国二、省级</a:t>
                      </a:r>
                      <a:endParaRPr 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3D</a:t>
                      </a:r>
                      <a:r>
                        <a:rPr lang="zh-CN" altLang="en-US" dirty="0"/>
                        <a:t>数字建模大赛</a:t>
                      </a:r>
                      <a:endParaRPr lang="en-US" altLang="zh-CN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国一</a:t>
                      </a:r>
                      <a:endParaRPr 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732046"/>
                  </a:ext>
                </a:extLst>
              </a:tr>
            </a:tbl>
          </a:graphicData>
        </a:graphic>
      </p:graphicFrame>
      <p:pic>
        <p:nvPicPr>
          <p:cNvPr id="2" name="图片 1" descr="机甲大师赛/RoboMaster_Synology">
            <a:extLst>
              <a:ext uri="{FF2B5EF4-FFF2-40B4-BE49-F238E27FC236}">
                <a16:creationId xmlns:a16="http://schemas.microsoft.com/office/drawing/2014/main" id="{BEDCC46D-1A65-FF0E-9F97-CC0A56EBBA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534" b="31548"/>
          <a:stretch>
            <a:fillRect/>
          </a:stretch>
        </p:blipFill>
        <p:spPr>
          <a:xfrm>
            <a:off x="8362950" y="5951483"/>
            <a:ext cx="3829050" cy="90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354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E3F2F-C660-6CBF-14FA-2D7A0C0BF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淘宝网chenying0907出品 24">
            <a:extLst>
              <a:ext uri="{FF2B5EF4-FFF2-40B4-BE49-F238E27FC236}">
                <a16:creationId xmlns:a16="http://schemas.microsoft.com/office/drawing/2014/main" id="{68E3E29B-3093-2A70-4AF6-436174A3E233}"/>
              </a:ext>
            </a:extLst>
          </p:cNvPr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1ED3920-3ED9-8A1D-3D17-6E73CCA10E3F}"/>
              </a:ext>
            </a:extLst>
          </p:cNvPr>
          <p:cNvGrpSpPr/>
          <p:nvPr/>
        </p:nvGrpSpPr>
        <p:grpSpPr>
          <a:xfrm>
            <a:off x="422340" y="200268"/>
            <a:ext cx="6042179" cy="974838"/>
            <a:chOff x="422340" y="200268"/>
            <a:chExt cx="6042179" cy="974838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6D90DAFC-1945-B26D-DB24-1FED7BB035B4}"/>
                </a:ext>
              </a:extLst>
            </p:cNvPr>
            <p:cNvGrpSpPr/>
            <p:nvPr userDrawn="1"/>
          </p:nvGrpSpPr>
          <p:grpSpPr>
            <a:xfrm>
              <a:off x="994629" y="420402"/>
              <a:ext cx="5469890" cy="754704"/>
              <a:chOff x="994629" y="420402"/>
              <a:chExt cx="5469890" cy="754704"/>
            </a:xfrm>
          </p:grpSpPr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AB3C38D-89CA-DC58-29D6-45D7B307078F}"/>
                  </a:ext>
                </a:extLst>
              </p:cNvPr>
              <p:cNvSpPr txBox="1"/>
              <p:nvPr userDrawn="1"/>
            </p:nvSpPr>
            <p:spPr>
              <a:xfrm>
                <a:off x="1408014" y="420402"/>
                <a:ext cx="505650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i="1" dirty="0">
                    <a:solidFill>
                      <a:schemeClr val="bg1"/>
                    </a:solidFill>
                    <a:effectLst>
                      <a:glow rad="127000">
                        <a:schemeClr val="accent1">
                          <a:lumMod val="50000"/>
                        </a:schemeClr>
                      </a:glo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  <a:sym typeface="思源黑体" panose="020B0400000000000000" pitchFamily="34" charset="-122"/>
                  </a:rPr>
                  <a:t>战队历史及电控组介绍</a:t>
                </a: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2906198-6F34-C867-F4FC-9BCF6DD34ACF}"/>
                  </a:ext>
                </a:extLst>
              </p:cNvPr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2C922AE-F337-81C6-1358-AE0B0662A13C}"/>
                </a:ext>
              </a:extLst>
            </p:cNvPr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01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>
            <a:extLst>
              <a:ext uri="{FF2B5EF4-FFF2-40B4-BE49-F238E27FC236}">
                <a16:creationId xmlns:a16="http://schemas.microsoft.com/office/drawing/2014/main" id="{167E7153-E574-0DC0-003F-508D900B2F57}"/>
              </a:ext>
            </a:extLst>
          </p:cNvPr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9" name="图片 8" descr="upload_159476022">
            <a:extLst>
              <a:ext uri="{FF2B5EF4-FFF2-40B4-BE49-F238E27FC236}">
                <a16:creationId xmlns:a16="http://schemas.microsoft.com/office/drawing/2014/main" id="{93BB98F2-4517-8D4B-A45F-694E226B9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4A8032F-8709-69E3-4310-B6B1B42F8350}"/>
              </a:ext>
            </a:extLst>
          </p:cNvPr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i="1" spc="110" dirty="0">
                <a:solidFill>
                  <a:srgbClr val="000000"/>
                </a:solidFill>
              </a:rPr>
              <a:t>哈理工</a:t>
            </a:r>
            <a:r>
              <a:rPr lang="en-US" altLang="zh-CN" sz="1400" i="1" spc="110" dirty="0">
                <a:solidFill>
                  <a:srgbClr val="000000"/>
                </a:solidFill>
              </a:rPr>
              <a:t>A.I.R.</a:t>
            </a:r>
            <a:r>
              <a:rPr lang="zh-CN" altLang="en-US" sz="1400" i="1" spc="110" dirty="0">
                <a:solidFill>
                  <a:srgbClr val="000000"/>
                </a:solidFill>
              </a:rPr>
              <a:t>创新实验室</a:t>
            </a:r>
            <a:endParaRPr lang="zh-CN" altLang="en-US" sz="1400" spc="11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444BB9-31E5-7F4B-98ED-9C9A5F9976A3}"/>
              </a:ext>
            </a:extLst>
          </p:cNvPr>
          <p:cNvSpPr txBox="1"/>
          <p:nvPr/>
        </p:nvSpPr>
        <p:spPr>
          <a:xfrm>
            <a:off x="1398839" y="892895"/>
            <a:ext cx="3686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电控职责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42C808-E5DE-FF16-82E9-646E5570E73C}"/>
              </a:ext>
            </a:extLst>
          </p:cNvPr>
          <p:cNvSpPr txBox="1"/>
          <p:nvPr/>
        </p:nvSpPr>
        <p:spPr>
          <a:xfrm>
            <a:off x="630621" y="1947041"/>
            <a:ext cx="1592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机械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485B53-9F9E-910F-80EC-16F874FF52D4}"/>
              </a:ext>
            </a:extLst>
          </p:cNvPr>
          <p:cNvSpPr txBox="1"/>
          <p:nvPr/>
        </p:nvSpPr>
        <p:spPr>
          <a:xfrm>
            <a:off x="4889268" y="1951286"/>
            <a:ext cx="985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电控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1C7D228F-5C88-2B11-C65D-386111080B02}"/>
              </a:ext>
            </a:extLst>
          </p:cNvPr>
          <p:cNvSpPr/>
          <p:nvPr/>
        </p:nvSpPr>
        <p:spPr>
          <a:xfrm>
            <a:off x="1412972" y="1971475"/>
            <a:ext cx="772510" cy="40990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dirty="0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BE4AD941-6651-D48C-A64D-C8A98E62DBC7}"/>
              </a:ext>
            </a:extLst>
          </p:cNvPr>
          <p:cNvSpPr/>
          <p:nvPr/>
        </p:nvSpPr>
        <p:spPr>
          <a:xfrm>
            <a:off x="5709075" y="1977166"/>
            <a:ext cx="772510" cy="40990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5B5397D-CA5A-E097-FF9C-3F4A6E7E7C84}"/>
              </a:ext>
            </a:extLst>
          </p:cNvPr>
          <p:cNvSpPr txBox="1"/>
          <p:nvPr/>
        </p:nvSpPr>
        <p:spPr>
          <a:xfrm>
            <a:off x="2185482" y="1920508"/>
            <a:ext cx="1931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骨骼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90446B-AF5A-D6DE-D30E-42ED3E65FDEF}"/>
              </a:ext>
            </a:extLst>
          </p:cNvPr>
          <p:cNvSpPr txBox="1"/>
          <p:nvPr/>
        </p:nvSpPr>
        <p:spPr>
          <a:xfrm>
            <a:off x="6479514" y="192050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大脑和神经系统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0500F30-261E-5308-06D8-9B9B568D37E3}"/>
              </a:ext>
            </a:extLst>
          </p:cNvPr>
          <p:cNvSpPr txBox="1"/>
          <p:nvPr/>
        </p:nvSpPr>
        <p:spPr>
          <a:xfrm>
            <a:off x="9554428" y="137831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软件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7C53566-1696-EA2F-1EE1-65BF32186808}"/>
              </a:ext>
            </a:extLst>
          </p:cNvPr>
          <p:cNvSpPr txBox="1"/>
          <p:nvPr/>
        </p:nvSpPr>
        <p:spPr>
          <a:xfrm>
            <a:off x="9554428" y="245797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硬件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EB3F334C-40AC-E309-7B7A-CD00EF74841A}"/>
              </a:ext>
            </a:extLst>
          </p:cNvPr>
          <p:cNvSpPr/>
          <p:nvPr/>
        </p:nvSpPr>
        <p:spPr>
          <a:xfrm rot="19870290">
            <a:off x="8715882" y="1581249"/>
            <a:ext cx="864066" cy="46037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dirty="0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8DA06034-DA1F-3507-1228-2BD6B300312C}"/>
              </a:ext>
            </a:extLst>
          </p:cNvPr>
          <p:cNvSpPr/>
          <p:nvPr/>
        </p:nvSpPr>
        <p:spPr>
          <a:xfrm rot="1576799">
            <a:off x="8716071" y="2227790"/>
            <a:ext cx="864066" cy="46037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402219C6-205B-A616-B242-ECEC3D4C2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843" y="2574059"/>
            <a:ext cx="7235254" cy="418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3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789C9-B4B4-EBBF-84F6-2B83C021C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淘宝网chenying0907出品 24">
            <a:extLst>
              <a:ext uri="{FF2B5EF4-FFF2-40B4-BE49-F238E27FC236}">
                <a16:creationId xmlns:a16="http://schemas.microsoft.com/office/drawing/2014/main" id="{A5F1FBE3-ED3F-A6CE-9FD0-56111BFA6D83}"/>
              </a:ext>
            </a:extLst>
          </p:cNvPr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60C57C0-9EF3-18CE-80F1-793C904A92E6}"/>
              </a:ext>
            </a:extLst>
          </p:cNvPr>
          <p:cNvGrpSpPr/>
          <p:nvPr/>
        </p:nvGrpSpPr>
        <p:grpSpPr>
          <a:xfrm>
            <a:off x="422340" y="200268"/>
            <a:ext cx="6042179" cy="974838"/>
            <a:chOff x="422340" y="200268"/>
            <a:chExt cx="6042179" cy="974838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478CC41F-E439-20EE-71E4-310A5179A241}"/>
                </a:ext>
              </a:extLst>
            </p:cNvPr>
            <p:cNvGrpSpPr/>
            <p:nvPr userDrawn="1"/>
          </p:nvGrpSpPr>
          <p:grpSpPr>
            <a:xfrm>
              <a:off x="994629" y="420402"/>
              <a:ext cx="5469890" cy="754704"/>
              <a:chOff x="994629" y="420402"/>
              <a:chExt cx="5469890" cy="754704"/>
            </a:xfrm>
          </p:grpSpPr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CF38AB1-040C-6B3E-D4FC-8C346BC317F8}"/>
                  </a:ext>
                </a:extLst>
              </p:cNvPr>
              <p:cNvSpPr txBox="1"/>
              <p:nvPr userDrawn="1"/>
            </p:nvSpPr>
            <p:spPr>
              <a:xfrm>
                <a:off x="1408014" y="420402"/>
                <a:ext cx="505650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i="1" dirty="0">
                    <a:solidFill>
                      <a:schemeClr val="bg1"/>
                    </a:solidFill>
                    <a:effectLst>
                      <a:glow rad="127000">
                        <a:schemeClr val="accent1">
                          <a:lumMod val="50000"/>
                        </a:schemeClr>
                      </a:glo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  <a:sym typeface="思源黑体" panose="020B0400000000000000" pitchFamily="34" charset="-122"/>
                  </a:rPr>
                  <a:t>战队历史及电控组介绍</a:t>
                </a: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713EFCC-C763-35BD-789E-83E34BC93947}"/>
                  </a:ext>
                </a:extLst>
              </p:cNvPr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7FB6BE6-AD62-6C3D-D332-0BE2061BC84D}"/>
                </a:ext>
              </a:extLst>
            </p:cNvPr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01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>
            <a:extLst>
              <a:ext uri="{FF2B5EF4-FFF2-40B4-BE49-F238E27FC236}">
                <a16:creationId xmlns:a16="http://schemas.microsoft.com/office/drawing/2014/main" id="{9C90AED0-1F4F-E94D-FE1C-B6021C5AE8C0}"/>
              </a:ext>
            </a:extLst>
          </p:cNvPr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9" name="图片 8" descr="upload_159476022">
            <a:extLst>
              <a:ext uri="{FF2B5EF4-FFF2-40B4-BE49-F238E27FC236}">
                <a16:creationId xmlns:a16="http://schemas.microsoft.com/office/drawing/2014/main" id="{668D2756-FB09-25AF-9079-BDBA4BF27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A127934-A4F8-4BD5-F54C-6C715FBF4426}"/>
              </a:ext>
            </a:extLst>
          </p:cNvPr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i="1" spc="110" dirty="0">
                <a:solidFill>
                  <a:srgbClr val="000000"/>
                </a:solidFill>
              </a:rPr>
              <a:t>哈理工</a:t>
            </a:r>
            <a:r>
              <a:rPr lang="en-US" altLang="zh-CN" sz="1400" i="1" spc="110" dirty="0">
                <a:solidFill>
                  <a:srgbClr val="000000"/>
                </a:solidFill>
              </a:rPr>
              <a:t>A.I.R.</a:t>
            </a:r>
            <a:r>
              <a:rPr lang="zh-CN" altLang="en-US" sz="1400" i="1" spc="110" dirty="0">
                <a:solidFill>
                  <a:srgbClr val="000000"/>
                </a:solidFill>
              </a:rPr>
              <a:t>创新实验室</a:t>
            </a:r>
            <a:endParaRPr lang="zh-CN" altLang="en-US" sz="1400" spc="11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30F5CC-EC70-CA13-3BC9-AF8D62FC9D4C}"/>
              </a:ext>
            </a:extLst>
          </p:cNvPr>
          <p:cNvSpPr txBox="1"/>
          <p:nvPr/>
        </p:nvSpPr>
        <p:spPr>
          <a:xfrm>
            <a:off x="1677893" y="1594448"/>
            <a:ext cx="824735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电控组主要负责的内容：</a:t>
            </a:r>
            <a:endParaRPr lang="en-US" altLang="zh-CN" sz="2400" dirty="0"/>
          </a:p>
          <a:p>
            <a:r>
              <a:rPr lang="en-US" altLang="zh-CN" sz="2400" dirty="0"/>
              <a:t>	1. </a:t>
            </a:r>
            <a:r>
              <a:rPr lang="zh-CN" altLang="en-US" sz="2400" dirty="0"/>
              <a:t>调试各类机器人，负责电机控制、运动控制</a:t>
            </a:r>
            <a:endParaRPr lang="en-US" altLang="zh-CN" sz="2400" dirty="0"/>
          </a:p>
          <a:p>
            <a:r>
              <a:rPr lang="en-US" altLang="zh-CN" sz="2400" dirty="0"/>
              <a:t>	2. </a:t>
            </a:r>
            <a:r>
              <a:rPr lang="zh-CN" altLang="en-US" sz="2400" dirty="0"/>
              <a:t>连接整车线材，完成电路搭建</a:t>
            </a:r>
            <a:endParaRPr lang="en-US" altLang="zh-CN" sz="2400" dirty="0"/>
          </a:p>
          <a:p>
            <a:r>
              <a:rPr lang="en-US" altLang="zh-CN" sz="2400" dirty="0"/>
              <a:t>	3. </a:t>
            </a:r>
            <a:r>
              <a:rPr lang="zh-CN" altLang="en-US" sz="2400" dirty="0"/>
              <a:t>控制整车功率、完成部分模型建模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电控组主要技术的内容：</a:t>
            </a:r>
            <a:endParaRPr lang="en-US" altLang="zh-CN" sz="2400" dirty="0"/>
          </a:p>
          <a:p>
            <a:r>
              <a:rPr lang="en-US" altLang="zh-CN" sz="2400" dirty="0"/>
              <a:t>	1. </a:t>
            </a:r>
            <a:r>
              <a:rPr lang="zh-CN" altLang="en-US" sz="2400" dirty="0"/>
              <a:t>熟练</a:t>
            </a:r>
            <a:r>
              <a:rPr lang="en-US" altLang="zh-CN" sz="2400" dirty="0"/>
              <a:t>C</a:t>
            </a:r>
            <a:r>
              <a:rPr lang="zh-CN" altLang="en-US" sz="2400" dirty="0"/>
              <a:t>语言代码编写</a:t>
            </a:r>
            <a:endParaRPr lang="en-US" altLang="zh-CN" sz="2400" dirty="0"/>
          </a:p>
          <a:p>
            <a:r>
              <a:rPr lang="en-US" altLang="zh-CN" sz="2400" dirty="0"/>
              <a:t>	2. </a:t>
            </a:r>
            <a:r>
              <a:rPr lang="zh-CN" altLang="en-US" sz="2400" dirty="0"/>
              <a:t>熟练</a:t>
            </a:r>
            <a:r>
              <a:rPr lang="en-US" altLang="zh-CN" sz="2400" dirty="0"/>
              <a:t>STM32</a:t>
            </a:r>
            <a:r>
              <a:rPr lang="zh-CN" altLang="en-US" sz="2400" dirty="0"/>
              <a:t>单片机</a:t>
            </a:r>
            <a:endParaRPr lang="en-US" altLang="zh-CN" sz="2400" dirty="0"/>
          </a:p>
          <a:p>
            <a:r>
              <a:rPr lang="en-US" altLang="zh-CN" sz="2400" dirty="0"/>
              <a:t>	3. Pid</a:t>
            </a:r>
            <a:r>
              <a:rPr lang="zh-CN" altLang="en-US" sz="2400" dirty="0"/>
              <a:t>，</a:t>
            </a:r>
            <a:r>
              <a:rPr lang="en-US" altLang="zh-CN" sz="2400" dirty="0"/>
              <a:t>LQR</a:t>
            </a:r>
            <a:r>
              <a:rPr lang="zh-CN" altLang="en-US" sz="2400" dirty="0"/>
              <a:t>等控制算法</a:t>
            </a:r>
            <a:endParaRPr lang="en-US" altLang="zh-CN" sz="2400" dirty="0"/>
          </a:p>
          <a:p>
            <a:r>
              <a:rPr lang="en-US" altLang="zh-CN" sz="2400" dirty="0"/>
              <a:t>	4. </a:t>
            </a:r>
            <a:r>
              <a:rPr lang="zh-CN" altLang="en-US" sz="2400" dirty="0"/>
              <a:t>掌握各类通讯协议</a:t>
            </a:r>
            <a:endParaRPr lang="en-US" altLang="zh-CN" sz="2400" dirty="0"/>
          </a:p>
          <a:p>
            <a:r>
              <a:rPr lang="en-US" altLang="zh-CN" sz="2400" dirty="0"/>
              <a:t>	5. </a:t>
            </a:r>
            <a:r>
              <a:rPr lang="zh-CN" altLang="en-US" sz="2400" dirty="0"/>
              <a:t>理解各类滤波、控制算法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25953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upload_0677123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6893" y="1002574"/>
            <a:ext cx="6354536" cy="4599214"/>
          </a:xfrm>
          <a:prstGeom prst="rect">
            <a:avLst/>
          </a:prstGeom>
        </p:spPr>
      </p:pic>
      <p:sp>
        <p:nvSpPr>
          <p:cNvPr id="26" name="任意多边形: 形状 25"/>
          <p:cNvSpPr/>
          <p:nvPr/>
        </p:nvSpPr>
        <p:spPr>
          <a:xfrm rot="13982193" flipV="1">
            <a:off x="6011572" y="-3138352"/>
            <a:ext cx="2098521" cy="10814693"/>
          </a:xfrm>
          <a:custGeom>
            <a:avLst/>
            <a:gdLst>
              <a:gd name="connsiteX0" fmla="*/ 2098520 w 2098521"/>
              <a:gd name="connsiteY0" fmla="*/ 2788530 h 10814693"/>
              <a:gd name="connsiteX1" fmla="*/ 0 w 2098521"/>
              <a:gd name="connsiteY1" fmla="*/ 0 h 10814693"/>
              <a:gd name="connsiteX2" fmla="*/ 0 w 2098521"/>
              <a:gd name="connsiteY2" fmla="*/ 10814693 h 10814693"/>
              <a:gd name="connsiteX3" fmla="*/ 2098521 w 2098521"/>
              <a:gd name="connsiteY3" fmla="*/ 9073886 h 10814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/>
        </p:nvSpPr>
        <p:spPr>
          <a:xfrm rot="3805420">
            <a:off x="6757538" y="2864877"/>
            <a:ext cx="646538" cy="1118147"/>
          </a:xfrm>
          <a:custGeom>
            <a:avLst/>
            <a:gdLst>
              <a:gd name="connsiteX0" fmla="*/ 441579 w 646538"/>
              <a:gd name="connsiteY0" fmla="*/ 0 h 1118147"/>
              <a:gd name="connsiteX1" fmla="*/ 646538 w 646538"/>
              <a:gd name="connsiteY1" fmla="*/ 1118147 h 1118147"/>
              <a:gd name="connsiteX2" fmla="*/ 0 w 646538"/>
              <a:gd name="connsiteY2" fmla="*/ 1118147 h 1118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6538" h="1118147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任意多边形: 形状 24"/>
          <p:cNvSpPr/>
          <p:nvPr/>
        </p:nvSpPr>
        <p:spPr>
          <a:xfrm rot="3239350">
            <a:off x="3210408" y="3964146"/>
            <a:ext cx="4303214" cy="5920512"/>
          </a:xfrm>
          <a:custGeom>
            <a:avLst/>
            <a:gdLst>
              <a:gd name="connsiteX0" fmla="*/ 0 w 4303214"/>
              <a:gd name="connsiteY0" fmla="*/ 0 h 5920512"/>
              <a:gd name="connsiteX1" fmla="*/ 4303214 w 4303214"/>
              <a:gd name="connsiteY1" fmla="*/ 1 h 5920512"/>
              <a:gd name="connsiteX2" fmla="*/ 0 w 4303214"/>
              <a:gd name="connsiteY2" fmla="*/ 5920512 h 5920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03214" h="5920512">
                <a:moveTo>
                  <a:pt x="0" y="0"/>
                </a:moveTo>
                <a:lnTo>
                  <a:pt x="4303214" y="1"/>
                </a:lnTo>
                <a:lnTo>
                  <a:pt x="0" y="59205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/>
        </p:nvSpPr>
        <p:spPr>
          <a:xfrm rot="13982193" flipV="1">
            <a:off x="10929458" y="1005823"/>
            <a:ext cx="1025939" cy="5287158"/>
          </a:xfrm>
          <a:custGeom>
            <a:avLst/>
            <a:gdLst>
              <a:gd name="connsiteX0" fmla="*/ 2098520 w 2098521"/>
              <a:gd name="connsiteY0" fmla="*/ 2788530 h 10814693"/>
              <a:gd name="connsiteX1" fmla="*/ 0 w 2098521"/>
              <a:gd name="connsiteY1" fmla="*/ 0 h 10814693"/>
              <a:gd name="connsiteX2" fmla="*/ 0 w 2098521"/>
              <a:gd name="connsiteY2" fmla="*/ 10814693 h 10814693"/>
              <a:gd name="connsiteX3" fmla="*/ 2098521 w 2098521"/>
              <a:gd name="connsiteY3" fmla="*/ 9073886 h 10814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8"/>
          <p:cNvSpPr/>
          <p:nvPr/>
        </p:nvSpPr>
        <p:spPr>
          <a:xfrm flipH="1">
            <a:off x="-4825040" y="5331690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sp>
        <p:nvSpPr>
          <p:cNvPr id="8" name="流程图: 数据 7"/>
          <p:cNvSpPr/>
          <p:nvPr userDrawn="1"/>
        </p:nvSpPr>
        <p:spPr>
          <a:xfrm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" name="任意多边形: 形状 68"/>
          <p:cNvSpPr/>
          <p:nvPr/>
        </p:nvSpPr>
        <p:spPr>
          <a:xfrm flipH="1">
            <a:off x="-4122005" y="442190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 flipH="1">
            <a:off x="122464" y="544286"/>
            <a:ext cx="6939643" cy="34017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i="1" spc="11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『生无所息，斗无所止</a:t>
            </a:r>
            <a:r>
              <a:rPr lang="zh-CN" altLang="en-US" sz="2000" b="1" i="1" spc="11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』</a:t>
            </a:r>
            <a:endParaRPr lang="zh-CN" altLang="en-US" sz="2000" b="1" spc="11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 rot="19335346">
            <a:off x="4168351" y="1430526"/>
            <a:ext cx="600964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  <a:sym typeface="思源黑体" panose="020B0400000000000000" pitchFamily="34" charset="-122"/>
              </a:rPr>
              <a:t>02 </a:t>
            </a:r>
            <a:r>
              <a:rPr lang="zh-CN" altLang="en-US" sz="6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  <a:sym typeface="思源黑体" panose="020B0400000000000000" pitchFamily="34" charset="-122"/>
              </a:rPr>
              <a:t>走进 </a:t>
            </a:r>
            <a:r>
              <a:rPr lang="en-US" altLang="zh-CN" sz="6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  <a:sym typeface="思源黑体" panose="020B0400000000000000" pitchFamily="34" charset="-122"/>
              </a:rPr>
              <a:t>C </a:t>
            </a:r>
            <a:r>
              <a:rPr lang="zh-CN" altLang="en-US" sz="6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  <a:sym typeface="思源黑体" panose="020B0400000000000000" pitchFamily="34" charset="-122"/>
              </a:rPr>
              <a:t>语言</a:t>
            </a:r>
          </a:p>
          <a:p>
            <a:endParaRPr lang="en-US" altLang="zh-CN" sz="4400" b="1" i="1" dirty="0">
              <a:solidFill>
                <a:schemeClr val="bg1"/>
              </a:solidFill>
              <a:effectLst>
                <a:glow rad="127000">
                  <a:schemeClr val="accent1">
                    <a:lumMod val="50000"/>
                  </a:schemeClr>
                </a:glow>
              </a:effectLst>
              <a:latin typeface="锐字真言体免费商用" panose="02010600030101010101" pitchFamily="2" charset="-122"/>
              <a:ea typeface="锐字真言体免费商用" panose="02010600030101010101" pitchFamily="2" charset="-122"/>
              <a:sym typeface="+mn-lt"/>
            </a:endParaRPr>
          </a:p>
          <a:p>
            <a:endParaRPr lang="zh-CN" altLang="en-US" sz="4400" b="1" i="1" kern="1200" dirty="0">
              <a:solidFill>
                <a:schemeClr val="bg1"/>
              </a:solidFill>
              <a:effectLst>
                <a:glow rad="127000">
                  <a:schemeClr val="accent1">
                    <a:lumMod val="50000"/>
                  </a:schemeClr>
                </a:glow>
              </a:effectLst>
              <a:latin typeface="锐字真言体免费商用" panose="02010600030101010101" pitchFamily="2" charset="-122"/>
              <a:ea typeface="锐字真言体免费商用" panose="02010600030101010101" pitchFamily="2" charset="-122"/>
              <a:cs typeface="+mn-cs"/>
              <a:sym typeface="思源黑体" panose="020B04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淘宝网chenying0907出品 24"/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22340" y="200268"/>
            <a:ext cx="6042179" cy="974838"/>
            <a:chOff x="422340" y="200268"/>
            <a:chExt cx="6042179" cy="974838"/>
          </a:xfrm>
        </p:grpSpPr>
        <p:grpSp>
          <p:nvGrpSpPr>
            <p:cNvPr id="17" name="组合 16"/>
            <p:cNvGrpSpPr/>
            <p:nvPr userDrawn="1"/>
          </p:nvGrpSpPr>
          <p:grpSpPr>
            <a:xfrm>
              <a:off x="994629" y="420402"/>
              <a:ext cx="5469890" cy="754704"/>
              <a:chOff x="994629" y="420402"/>
              <a:chExt cx="5469890" cy="754704"/>
            </a:xfrm>
          </p:grpSpPr>
          <p:sp>
            <p:nvSpPr>
              <p:cNvPr id="26" name="文本框 25"/>
              <p:cNvSpPr txBox="1"/>
              <p:nvPr userDrawn="1"/>
            </p:nvSpPr>
            <p:spPr>
              <a:xfrm>
                <a:off x="1408014" y="420402"/>
                <a:ext cx="505650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i="1" dirty="0">
                    <a:solidFill>
                      <a:schemeClr val="bg1"/>
                    </a:solidFill>
                    <a:effectLst>
                      <a:glow rad="127000">
                        <a:schemeClr val="accent1">
                          <a:lumMod val="50000"/>
                        </a:schemeClr>
                      </a:glo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  <a:sym typeface="思源黑体" panose="020B0400000000000000" pitchFamily="34" charset="-122"/>
                  </a:rPr>
                  <a:t>为什么学习</a:t>
                </a:r>
                <a:r>
                  <a:rPr lang="en-US" altLang="zh-CN" sz="2400" b="1" i="1" dirty="0">
                    <a:solidFill>
                      <a:schemeClr val="bg1"/>
                    </a:solidFill>
                    <a:effectLst>
                      <a:glow rad="127000">
                        <a:schemeClr val="accent1">
                          <a:lumMod val="50000"/>
                        </a:schemeClr>
                      </a:glo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  <a:sym typeface="思源黑体" panose="020B0400000000000000" pitchFamily="34" charset="-122"/>
                  </a:rPr>
                  <a:t>C</a:t>
                </a:r>
                <a:r>
                  <a:rPr lang="zh-CN" altLang="en-US" sz="2400" b="1" i="1" dirty="0">
                    <a:solidFill>
                      <a:schemeClr val="bg1"/>
                    </a:solidFill>
                    <a:effectLst>
                      <a:glow rad="127000">
                        <a:schemeClr val="accent1">
                          <a:lumMod val="50000"/>
                        </a:schemeClr>
                      </a:glo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  <a:sym typeface="思源黑体" panose="020B0400000000000000" pitchFamily="34" charset="-122"/>
                  </a:rPr>
                  <a:t>语言</a:t>
                </a:r>
                <a:r>
                  <a:rPr lang="en-US" altLang="zh-CN" sz="2400" b="1" i="1" dirty="0">
                    <a:solidFill>
                      <a:schemeClr val="bg1"/>
                    </a:solidFill>
                    <a:effectLst>
                      <a:glow rad="127000">
                        <a:schemeClr val="accent1">
                          <a:lumMod val="50000"/>
                        </a:schemeClr>
                      </a:glo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  <a:sym typeface="思源黑体" panose="020B0400000000000000" pitchFamily="34" charset="-122"/>
                  </a:rPr>
                  <a:t>?</a:t>
                </a:r>
                <a:endParaRPr lang="zh-CN" altLang="en-US" sz="2400" b="1" i="1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27" name="文本框 26"/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25" name="文本框 24"/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02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9" name="图片 8" descr="upload_159476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i="1" spc="110" dirty="0">
                <a:solidFill>
                  <a:srgbClr val="000000"/>
                </a:solidFill>
              </a:rPr>
              <a:t>哈理工</a:t>
            </a:r>
            <a:r>
              <a:rPr lang="en-US" altLang="zh-CN" sz="1400" i="1" spc="110" dirty="0">
                <a:solidFill>
                  <a:srgbClr val="000000"/>
                </a:solidFill>
              </a:rPr>
              <a:t>A.I.R.</a:t>
            </a:r>
            <a:r>
              <a:rPr lang="zh-CN" altLang="en-US" sz="1400" i="1" spc="110" dirty="0">
                <a:solidFill>
                  <a:srgbClr val="000000"/>
                </a:solidFill>
              </a:rPr>
              <a:t>创新实验室</a:t>
            </a:r>
            <a:endParaRPr lang="zh-CN" altLang="en-US" sz="1400" spc="11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33D13E-5CF9-AAD4-E453-B7929B5AC2FE}"/>
              </a:ext>
            </a:extLst>
          </p:cNvPr>
          <p:cNvSpPr txBox="1"/>
          <p:nvPr/>
        </p:nvSpPr>
        <p:spPr>
          <a:xfrm>
            <a:off x="1272558" y="1267181"/>
            <a:ext cx="824735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400" b="1" dirty="0"/>
              <a:t>	</a:t>
            </a:r>
            <a:r>
              <a:rPr lang="zh-CN" altLang="zh-CN" sz="2400" b="1" dirty="0"/>
              <a:t>编程语言</a:t>
            </a:r>
            <a:r>
              <a:rPr lang="zh-CN" altLang="zh-CN" sz="2400" dirty="0"/>
              <a:t>是人向计算机描述任务和执行步骤的工具。</a:t>
            </a:r>
            <a:endParaRPr lang="en-US" altLang="zh-CN" sz="2400" dirty="0"/>
          </a:p>
          <a:p>
            <a:pPr>
              <a:spcAft>
                <a:spcPts val="1800"/>
              </a:spcAft>
            </a:pPr>
            <a:endParaRPr lang="zh-CN" altLang="zh-CN" sz="2400" dirty="0"/>
          </a:p>
          <a:p>
            <a:pPr>
              <a:spcAft>
                <a:spcPts val="1800"/>
              </a:spcAft>
            </a:pPr>
            <a:r>
              <a:rPr lang="en-US" altLang="zh-CN" sz="2400" dirty="0"/>
              <a:t>	</a:t>
            </a:r>
            <a:r>
              <a:rPr lang="zh-CN" altLang="zh-CN" sz="2400" b="1" dirty="0"/>
              <a:t>机器语言</a:t>
            </a:r>
            <a:r>
              <a:rPr lang="zh-CN" altLang="zh-CN" sz="2400" dirty="0"/>
              <a:t>是由0和1组成的指令，计算机可以直接执行。</a:t>
            </a:r>
            <a:endParaRPr lang="en-US" altLang="zh-CN" sz="2400" dirty="0"/>
          </a:p>
          <a:p>
            <a:pPr>
              <a:spcAft>
                <a:spcPts val="1800"/>
              </a:spcAft>
            </a:pPr>
            <a:r>
              <a:rPr lang="en-US" altLang="zh-CN" sz="2400" dirty="0"/>
              <a:t>	</a:t>
            </a:r>
            <a:r>
              <a:rPr lang="zh-CN" altLang="zh-CN" sz="2400" dirty="0"/>
              <a:t>C</a:t>
            </a:r>
            <a:r>
              <a:rPr lang="zh-CN" altLang="en-US" sz="2400" dirty="0"/>
              <a:t>语言的</a:t>
            </a:r>
            <a:r>
              <a:rPr lang="zh-CN" altLang="zh-CN" sz="2400" dirty="0"/>
              <a:t>程序通常经过</a:t>
            </a:r>
            <a:r>
              <a:rPr lang="zh-CN" altLang="zh-CN" sz="2400" b="1" dirty="0"/>
              <a:t>编译、链接</a:t>
            </a:r>
            <a:r>
              <a:rPr lang="zh-CN" altLang="zh-CN" sz="2400" dirty="0"/>
              <a:t>，生成包含机器代码的可执行程序。gcc常用于编译C程序，g++常用于编译C++程序。</a:t>
            </a:r>
          </a:p>
          <a:p>
            <a:pPr>
              <a:spcAft>
                <a:spcPts val="1800"/>
              </a:spcAft>
            </a:pPr>
            <a:r>
              <a:rPr lang="en-US" altLang="zh-CN" sz="2400" b="1" dirty="0"/>
              <a:t>	</a:t>
            </a:r>
            <a:r>
              <a:rPr lang="zh-CN" altLang="zh-CN" sz="2400" b="1" dirty="0"/>
              <a:t>C语言是面向过程的程序设计语言</a:t>
            </a:r>
            <a:r>
              <a:rPr lang="zh-CN" altLang="zh-CN" sz="2400" dirty="0"/>
              <a:t>，强调按步骤解决问题。</a:t>
            </a:r>
            <a:r>
              <a:rPr lang="zh-CN" altLang="zh-CN" sz="2400" b="1" dirty="0"/>
              <a:t> </a:t>
            </a:r>
            <a:r>
              <a:rPr lang="zh-CN" altLang="en-US" sz="2400" dirty="0"/>
              <a:t>强调</a:t>
            </a:r>
            <a:r>
              <a:rPr lang="zh-CN" altLang="zh-CN" sz="2400" dirty="0"/>
              <a:t>将问题拆成步骤，用代码逐步实现，通过函数组织和调用。</a:t>
            </a:r>
          </a:p>
        </p:txBody>
      </p:sp>
    </p:spTree>
    <p:extLst>
      <p:ext uri="{BB962C8B-B14F-4D97-AF65-F5344CB8AC3E}">
        <p14:creationId xmlns:p14="http://schemas.microsoft.com/office/powerpoint/2010/main" val="321994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淘宝网chenying0907出品 24"/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22340" y="200268"/>
            <a:ext cx="6042179" cy="974838"/>
            <a:chOff x="422340" y="200268"/>
            <a:chExt cx="6042179" cy="974838"/>
          </a:xfrm>
        </p:grpSpPr>
        <p:grpSp>
          <p:nvGrpSpPr>
            <p:cNvPr id="17" name="组合 16"/>
            <p:cNvGrpSpPr/>
            <p:nvPr userDrawn="1"/>
          </p:nvGrpSpPr>
          <p:grpSpPr>
            <a:xfrm>
              <a:off x="994629" y="420402"/>
              <a:ext cx="5469890" cy="754704"/>
              <a:chOff x="994629" y="420402"/>
              <a:chExt cx="5469890" cy="754704"/>
            </a:xfrm>
          </p:grpSpPr>
          <p:sp>
            <p:nvSpPr>
              <p:cNvPr id="26" name="文本框 25"/>
              <p:cNvSpPr txBox="1"/>
              <p:nvPr userDrawn="1"/>
            </p:nvSpPr>
            <p:spPr>
              <a:xfrm>
                <a:off x="1408014" y="420402"/>
                <a:ext cx="505650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i="1" dirty="0">
                    <a:solidFill>
                      <a:schemeClr val="bg1"/>
                    </a:solidFill>
                    <a:effectLst>
                      <a:glow rad="127000">
                        <a:schemeClr val="accent1">
                          <a:lumMod val="50000"/>
                        </a:schemeClr>
                      </a:glo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  <a:sym typeface="思源黑体" panose="020B0400000000000000" pitchFamily="34" charset="-122"/>
                  </a:rPr>
                  <a:t>学习的主要内容</a:t>
                </a:r>
              </a:p>
            </p:txBody>
          </p:sp>
          <p:sp>
            <p:nvSpPr>
              <p:cNvPr id="27" name="文本框 26"/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25" name="文本框 24"/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02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9" name="图片 8" descr="upload_159476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i="1" spc="110" dirty="0">
                <a:solidFill>
                  <a:srgbClr val="000000"/>
                </a:solidFill>
              </a:rPr>
              <a:t>哈理工</a:t>
            </a:r>
            <a:r>
              <a:rPr lang="en-US" altLang="zh-CN" sz="1400" i="1" spc="110" dirty="0">
                <a:solidFill>
                  <a:srgbClr val="000000"/>
                </a:solidFill>
              </a:rPr>
              <a:t>A.I.R.</a:t>
            </a:r>
            <a:r>
              <a:rPr lang="zh-CN" altLang="en-US" sz="1400" i="1" spc="110" dirty="0">
                <a:solidFill>
                  <a:srgbClr val="000000"/>
                </a:solidFill>
              </a:rPr>
              <a:t>创新实验室</a:t>
            </a:r>
            <a:endParaRPr lang="zh-CN" altLang="en-US" sz="1400" spc="11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F61188-92CD-0269-470A-30D7920A7CDA}"/>
              </a:ext>
            </a:extLst>
          </p:cNvPr>
          <p:cNvSpPr txBox="1"/>
          <p:nvPr/>
        </p:nvSpPr>
        <p:spPr>
          <a:xfrm>
            <a:off x="713963" y="1781644"/>
            <a:ext cx="8247354" cy="4320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C</a:t>
            </a:r>
            <a:r>
              <a:rPr lang="zh-CN" altLang="en-US" dirty="0"/>
              <a:t>语言内容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1</a:t>
            </a:r>
            <a:r>
              <a:rPr lang="zh-CN" altLang="en-US" sz="2400" dirty="0"/>
              <a:t>.数据类型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2.运算符和表达式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3.分支与循环语句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4.字符串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5.函数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6.数组与</a:t>
            </a:r>
            <a:r>
              <a:rPr lang="zh-CN" altLang="en-US" sz="2400" dirty="0">
                <a:solidFill>
                  <a:srgbClr val="FF0000"/>
                </a:solidFill>
              </a:rPr>
              <a:t>指针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7.</a:t>
            </a:r>
            <a:r>
              <a:rPr lang="zh-CN" altLang="en-US" sz="2400" dirty="0">
                <a:solidFill>
                  <a:srgbClr val="FF0000"/>
                </a:solidFill>
              </a:rPr>
              <a:t>结构体</a:t>
            </a:r>
            <a:r>
              <a:rPr lang="zh-CN" altLang="en-US" sz="2400" dirty="0"/>
              <a:t>，枚举体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E9728F6-41EA-7053-A28A-E652CA0CC31D}"/>
              </a:ext>
            </a:extLst>
          </p:cNvPr>
          <p:cNvSpPr txBox="1"/>
          <p:nvPr/>
        </p:nvSpPr>
        <p:spPr>
          <a:xfrm>
            <a:off x="3868377" y="1781643"/>
            <a:ext cx="7395093" cy="3905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C</a:t>
            </a:r>
            <a:r>
              <a:rPr lang="zh-CN" altLang="en-US" sz="2400" dirty="0"/>
              <a:t>语言怎么学: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i.   视频:B站翁恺</a:t>
            </a:r>
            <a:r>
              <a:rPr lang="zh-CN" altLang="en-US" sz="1600" dirty="0"/>
              <a:t>（</a:t>
            </a:r>
            <a:r>
              <a:rPr lang="en-US" altLang="zh-CN" sz="1600" dirty="0"/>
              <a:t>BV1dr4y1n7vA</a:t>
            </a:r>
            <a:r>
              <a:rPr lang="zh-CN" altLang="en-US" sz="1600" dirty="0"/>
              <a:t>）</a:t>
            </a:r>
            <a:r>
              <a:rPr lang="zh-CN" altLang="en-US" sz="2400" dirty="0"/>
              <a:t>等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ii.  C语言书籍:系统，全面</a:t>
            </a:r>
            <a:r>
              <a:rPr lang="en-US" altLang="zh-CN" sz="2400" dirty="0"/>
              <a:t>(</a:t>
            </a:r>
            <a:r>
              <a:rPr lang="zh-CN" altLang="en-US" sz="2400" dirty="0"/>
              <a:t>例如</a:t>
            </a:r>
            <a:r>
              <a:rPr lang="en-US" altLang="zh-CN" sz="2400" dirty="0"/>
              <a:t>《C Primer Plus》</a:t>
            </a:r>
            <a:r>
              <a:rPr lang="zh-CN" altLang="en-US" sz="2400" dirty="0"/>
              <a:t>等</a:t>
            </a:r>
            <a:r>
              <a:rPr lang="en-US" altLang="zh-CN" sz="2400" dirty="0"/>
              <a:t>)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ii</a:t>
            </a:r>
            <a:r>
              <a:rPr lang="en-US" altLang="zh-CN" sz="2400" dirty="0" err="1"/>
              <a:t>i</a:t>
            </a:r>
            <a:r>
              <a:rPr lang="zh-CN" altLang="en-US" sz="2400" dirty="0"/>
              <a:t>. 网站:菜鸟教程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iv. 大量练习语法:作业+刷题网站(洛谷，牛客，力扣)!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v.  信息检索:百度，SCDN，知乎，博客(有问题学会通过在百度上搜索解决</a:t>
            </a:r>
            <a:r>
              <a:rPr lang="zh-CN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46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upload_0677123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1488" y="1002574"/>
            <a:ext cx="6354536" cy="4599214"/>
          </a:xfrm>
          <a:prstGeom prst="rect">
            <a:avLst/>
          </a:prstGeom>
        </p:spPr>
      </p:pic>
      <p:sp>
        <p:nvSpPr>
          <p:cNvPr id="26" name="任意多边形: 形状 25"/>
          <p:cNvSpPr/>
          <p:nvPr/>
        </p:nvSpPr>
        <p:spPr>
          <a:xfrm rot="13982193" flipV="1">
            <a:off x="6011572" y="-3138352"/>
            <a:ext cx="2098521" cy="10814693"/>
          </a:xfrm>
          <a:custGeom>
            <a:avLst/>
            <a:gdLst>
              <a:gd name="connsiteX0" fmla="*/ 2098520 w 2098521"/>
              <a:gd name="connsiteY0" fmla="*/ 2788530 h 10814693"/>
              <a:gd name="connsiteX1" fmla="*/ 0 w 2098521"/>
              <a:gd name="connsiteY1" fmla="*/ 0 h 10814693"/>
              <a:gd name="connsiteX2" fmla="*/ 0 w 2098521"/>
              <a:gd name="connsiteY2" fmla="*/ 10814693 h 10814693"/>
              <a:gd name="connsiteX3" fmla="*/ 2098521 w 2098521"/>
              <a:gd name="connsiteY3" fmla="*/ 9073886 h 10814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/>
        </p:nvSpPr>
        <p:spPr>
          <a:xfrm rot="3805420">
            <a:off x="6757538" y="2864877"/>
            <a:ext cx="646538" cy="1118147"/>
          </a:xfrm>
          <a:custGeom>
            <a:avLst/>
            <a:gdLst>
              <a:gd name="connsiteX0" fmla="*/ 441579 w 646538"/>
              <a:gd name="connsiteY0" fmla="*/ 0 h 1118147"/>
              <a:gd name="connsiteX1" fmla="*/ 646538 w 646538"/>
              <a:gd name="connsiteY1" fmla="*/ 1118147 h 1118147"/>
              <a:gd name="connsiteX2" fmla="*/ 0 w 646538"/>
              <a:gd name="connsiteY2" fmla="*/ 1118147 h 1118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6538" h="1118147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任意多边形: 形状 24"/>
          <p:cNvSpPr/>
          <p:nvPr/>
        </p:nvSpPr>
        <p:spPr>
          <a:xfrm rot="3239350">
            <a:off x="3210408" y="3964146"/>
            <a:ext cx="4303214" cy="5920512"/>
          </a:xfrm>
          <a:custGeom>
            <a:avLst/>
            <a:gdLst>
              <a:gd name="connsiteX0" fmla="*/ 0 w 4303214"/>
              <a:gd name="connsiteY0" fmla="*/ 0 h 5920512"/>
              <a:gd name="connsiteX1" fmla="*/ 4303214 w 4303214"/>
              <a:gd name="connsiteY1" fmla="*/ 1 h 5920512"/>
              <a:gd name="connsiteX2" fmla="*/ 0 w 4303214"/>
              <a:gd name="connsiteY2" fmla="*/ 5920512 h 5920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03214" h="5920512">
                <a:moveTo>
                  <a:pt x="0" y="0"/>
                </a:moveTo>
                <a:lnTo>
                  <a:pt x="4303214" y="1"/>
                </a:lnTo>
                <a:lnTo>
                  <a:pt x="0" y="59205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/>
        </p:nvSpPr>
        <p:spPr>
          <a:xfrm rot="13982193" flipV="1">
            <a:off x="10929458" y="1005823"/>
            <a:ext cx="1025939" cy="5287158"/>
          </a:xfrm>
          <a:custGeom>
            <a:avLst/>
            <a:gdLst>
              <a:gd name="connsiteX0" fmla="*/ 2098520 w 2098521"/>
              <a:gd name="connsiteY0" fmla="*/ 2788530 h 10814693"/>
              <a:gd name="connsiteX1" fmla="*/ 0 w 2098521"/>
              <a:gd name="connsiteY1" fmla="*/ 0 h 10814693"/>
              <a:gd name="connsiteX2" fmla="*/ 0 w 2098521"/>
              <a:gd name="connsiteY2" fmla="*/ 10814693 h 10814693"/>
              <a:gd name="connsiteX3" fmla="*/ 2098521 w 2098521"/>
              <a:gd name="connsiteY3" fmla="*/ 9073886 h 10814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8"/>
          <p:cNvSpPr/>
          <p:nvPr/>
        </p:nvSpPr>
        <p:spPr>
          <a:xfrm flipH="1">
            <a:off x="-4825040" y="5331690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sp>
        <p:nvSpPr>
          <p:cNvPr id="8" name="流程图: 数据 7"/>
          <p:cNvSpPr/>
          <p:nvPr userDrawn="1"/>
        </p:nvSpPr>
        <p:spPr>
          <a:xfrm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" name="任意多边形: 形状 68"/>
          <p:cNvSpPr/>
          <p:nvPr/>
        </p:nvSpPr>
        <p:spPr>
          <a:xfrm flipH="1">
            <a:off x="-4122005" y="442190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 flipH="1">
            <a:off x="122464" y="544286"/>
            <a:ext cx="6939643" cy="34017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i="1" spc="11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『生无所息，斗无所止</a:t>
            </a:r>
            <a:r>
              <a:rPr lang="zh-CN" altLang="en-US" sz="2000" b="1" i="1" spc="11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』</a:t>
            </a:r>
            <a:endParaRPr lang="zh-CN" altLang="en-US" sz="2000" b="1" spc="11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 rot="19335346">
            <a:off x="3944563" y="1330488"/>
            <a:ext cx="644779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  <a:sym typeface="思源黑体" panose="020B0400000000000000" pitchFamily="34" charset="-122"/>
              </a:rPr>
              <a:t>03 </a:t>
            </a:r>
            <a:r>
              <a:rPr lang="en-US" altLang="zh-CN" sz="44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  <a:sym typeface="思源黑体" panose="020B0400000000000000" pitchFamily="34" charset="-122"/>
              </a:rPr>
              <a:t> C</a:t>
            </a:r>
            <a:r>
              <a:rPr lang="en-US" altLang="zh-CN" sz="4400" b="1" i="1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sym typeface="思源黑体" panose="020B0400000000000000" pitchFamily="34" charset="-122"/>
              </a:rPr>
              <a:t> </a:t>
            </a:r>
            <a:r>
              <a:rPr lang="zh-CN" altLang="en-US" sz="4400" b="1" i="1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sym typeface="思源黑体" panose="020B0400000000000000" pitchFamily="34" charset="-122"/>
              </a:rPr>
              <a:t>语言基础语法</a:t>
            </a:r>
          </a:p>
          <a:p>
            <a:endParaRPr lang="zh-CN" altLang="en-US" sz="4400" b="1" i="1" kern="1200" dirty="0">
              <a:solidFill>
                <a:schemeClr val="bg1"/>
              </a:solidFill>
              <a:effectLst>
                <a:glow rad="127000">
                  <a:schemeClr val="accent1">
                    <a:lumMod val="50000"/>
                  </a:schemeClr>
                </a:glow>
              </a:effectLst>
              <a:latin typeface="锐字真言体免费商用" panose="02010600030101010101" pitchFamily="2" charset="-122"/>
              <a:ea typeface="锐字真言体免费商用" panose="02010600030101010101" pitchFamily="2" charset="-122"/>
              <a:cs typeface="+mn-cs"/>
              <a:sym typeface="思源黑体" panose="020B04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淘宝网chenying0907出品 24"/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22340" y="200268"/>
            <a:ext cx="4238779" cy="974838"/>
            <a:chOff x="422340" y="200268"/>
            <a:chExt cx="4238779" cy="974838"/>
          </a:xfrm>
        </p:grpSpPr>
        <p:grpSp>
          <p:nvGrpSpPr>
            <p:cNvPr id="17" name="组合 16"/>
            <p:cNvGrpSpPr/>
            <p:nvPr userDrawn="1"/>
          </p:nvGrpSpPr>
          <p:grpSpPr>
            <a:xfrm>
              <a:off x="994629" y="420402"/>
              <a:ext cx="3666490" cy="754704"/>
              <a:chOff x="994629" y="420402"/>
              <a:chExt cx="3666490" cy="754704"/>
            </a:xfrm>
          </p:grpSpPr>
          <p:sp>
            <p:nvSpPr>
              <p:cNvPr id="26" name="文本框 25"/>
              <p:cNvSpPr txBox="1"/>
              <p:nvPr userDrawn="1"/>
            </p:nvSpPr>
            <p:spPr>
              <a:xfrm>
                <a:off x="1408014" y="420402"/>
                <a:ext cx="325310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2400" b="1" i="1" dirty="0">
                    <a:solidFill>
                      <a:schemeClr val="bg1"/>
                    </a:solidFill>
                    <a:effectLst>
                      <a:glow rad="127000">
                        <a:schemeClr val="accent1">
                          <a:lumMod val="50000"/>
                        </a:schemeClr>
                      </a:glo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  <a:sym typeface="思源黑体" panose="020B0400000000000000" pitchFamily="34" charset="-122"/>
                  </a:rPr>
                  <a:t>第一个 </a:t>
                </a:r>
                <a:r>
                  <a:rPr lang="en-US" altLang="zh-CN" sz="2400" b="1" i="1" dirty="0">
                    <a:solidFill>
                      <a:schemeClr val="bg1"/>
                    </a:solidFill>
                    <a:effectLst>
                      <a:glow rad="127000">
                        <a:schemeClr val="accent1">
                          <a:lumMod val="50000"/>
                        </a:schemeClr>
                      </a:glo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  <a:sym typeface="思源黑体" panose="020B0400000000000000" pitchFamily="34" charset="-122"/>
                  </a:rPr>
                  <a:t>C </a:t>
                </a:r>
                <a:r>
                  <a:rPr lang="zh-CN" altLang="en-US" sz="2400" b="1" i="1" dirty="0">
                    <a:solidFill>
                      <a:schemeClr val="bg1"/>
                    </a:solidFill>
                    <a:effectLst>
                      <a:glow rad="127000">
                        <a:schemeClr val="accent1">
                          <a:lumMod val="50000"/>
                        </a:schemeClr>
                      </a:glo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  <a:sym typeface="思源黑体" panose="020B0400000000000000" pitchFamily="34" charset="-122"/>
                  </a:rPr>
                  <a:t>程序</a:t>
                </a:r>
              </a:p>
            </p:txBody>
          </p:sp>
          <p:sp>
            <p:nvSpPr>
              <p:cNvPr id="27" name="文本框 26"/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25" name="文本框 24"/>
            <p:cNvSpPr txBox="1"/>
            <p:nvPr userDrawn="1"/>
          </p:nvSpPr>
          <p:spPr>
            <a:xfrm>
              <a:off x="422340" y="200268"/>
              <a:ext cx="850218" cy="64633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03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9" name="图片 8" descr="upload_159476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i="1" spc="110" dirty="0">
                <a:solidFill>
                  <a:srgbClr val="000000"/>
                </a:solidFill>
              </a:rPr>
              <a:t>哈理工</a:t>
            </a:r>
            <a:r>
              <a:rPr lang="en-US" altLang="zh-CN" sz="1400" i="1" spc="110" dirty="0">
                <a:solidFill>
                  <a:srgbClr val="000000"/>
                </a:solidFill>
              </a:rPr>
              <a:t>A.I.R.</a:t>
            </a:r>
            <a:r>
              <a:rPr lang="zh-CN" altLang="en-US" sz="1400" i="1" spc="110" dirty="0">
                <a:solidFill>
                  <a:srgbClr val="000000"/>
                </a:solidFill>
              </a:rPr>
              <a:t>创新实验室</a:t>
            </a:r>
            <a:endParaRPr lang="zh-CN" altLang="en-US" sz="1400" spc="11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B177D62-B984-AAB6-3DF2-45D5A09BC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523132"/>
              </p:ext>
            </p:extLst>
          </p:nvPr>
        </p:nvGraphicFramePr>
        <p:xfrm>
          <a:off x="5051272" y="1322253"/>
          <a:ext cx="6066397" cy="1956304"/>
        </p:xfrm>
        <a:graphic>
          <a:graphicData uri="http://schemas.openxmlformats.org/drawingml/2006/table">
            <a:tbl>
              <a:tblPr/>
              <a:tblGrid>
                <a:gridCol w="2239706">
                  <a:extLst>
                    <a:ext uri="{9D8B030D-6E8A-4147-A177-3AD203B41FA5}">
                      <a16:colId xmlns:a16="http://schemas.microsoft.com/office/drawing/2014/main" val="3672315058"/>
                    </a:ext>
                  </a:extLst>
                </a:gridCol>
                <a:gridCol w="3826691">
                  <a:extLst>
                    <a:ext uri="{9D8B030D-6E8A-4147-A177-3AD203B41FA5}">
                      <a16:colId xmlns:a16="http://schemas.microsoft.com/office/drawing/2014/main" val="1790635952"/>
                    </a:ext>
                  </a:extLst>
                </a:gridCol>
              </a:tblGrid>
              <a:tr h="318473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13095"/>
                        </a:lnSpc>
                        <a:buNone/>
                      </a:pPr>
                      <a:r>
                        <a:rPr lang="zh-CN" altLang="en-US" sz="1200" b="0" kern="1200" dirty="0">
                          <a:solidFill>
                            <a:sysClr val="windowText" lastClr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部分</a:t>
                      </a:r>
                    </a:p>
                  </a:txBody>
                  <a:tcPr marL="105917" marR="105917" marT="52958" marB="529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13095"/>
                        </a:lnSpc>
                        <a:buNone/>
                      </a:pPr>
                      <a:r>
                        <a:rPr lang="zh-CN" altLang="en-US" sz="1200" b="0" kern="1200" dirty="0">
                          <a:solidFill>
                            <a:sysClr val="windowText" lastClr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说明</a:t>
                      </a:r>
                    </a:p>
                  </a:txBody>
                  <a:tcPr marL="105917" marR="105917" marT="52958" marB="5295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153632"/>
                  </a:ext>
                </a:extLst>
              </a:tr>
              <a:tr h="361239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13095"/>
                        </a:lnSpc>
                        <a:buNone/>
                      </a:pPr>
                      <a:r>
                        <a:rPr lang="en-US" sz="1200" b="0" kern="1200" dirty="0">
                          <a:solidFill>
                            <a:sysClr val="windowText" lastClr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#include &lt;stdio.h&gt;</a:t>
                      </a:r>
                    </a:p>
                  </a:txBody>
                  <a:tcPr marL="105917" marR="105917" marT="52958" marB="529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13095"/>
                        </a:lnSpc>
                        <a:buNone/>
                      </a:pPr>
                      <a:r>
                        <a:rPr lang="zh-CN" altLang="en-US" sz="1200" b="0" kern="1200" dirty="0">
                          <a:solidFill>
                            <a:sysClr val="windowText" lastClr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预处理命令，引入标准输入输出库</a:t>
                      </a:r>
                    </a:p>
                  </a:txBody>
                  <a:tcPr marL="105917" marR="105917" marT="52958" marB="5295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42989"/>
                  </a:ext>
                </a:extLst>
              </a:tr>
              <a:tr h="319148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13095"/>
                        </a:lnSpc>
                        <a:buNone/>
                      </a:pPr>
                      <a:r>
                        <a:rPr lang="en-US" sz="1200" b="0" kern="1200" dirty="0">
                          <a:solidFill>
                            <a:sysClr val="windowText" lastClr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main(void)</a:t>
                      </a:r>
                    </a:p>
                  </a:txBody>
                  <a:tcPr marL="105917" marR="105917" marT="52958" marB="529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13095"/>
                        </a:lnSpc>
                        <a:buNone/>
                      </a:pPr>
                      <a:r>
                        <a:rPr lang="zh-CN" altLang="en-US" sz="1200" b="0" kern="1200" dirty="0">
                          <a:solidFill>
                            <a:sysClr val="windowText" lastClr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主函数，是程序的入口</a:t>
                      </a:r>
                    </a:p>
                  </a:txBody>
                  <a:tcPr marL="105917" marR="105917" marT="52958" marB="5295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553440"/>
                  </a:ext>
                </a:extLst>
              </a:tr>
              <a:tr h="319148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13095"/>
                        </a:lnSpc>
                        <a:buNone/>
                      </a:pPr>
                      <a:r>
                        <a:rPr lang="en-US" altLang="zh-CN" sz="1200" b="0" kern="1200">
                          <a:solidFill>
                            <a:sysClr val="windowText" lastClr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{ ... }</a:t>
                      </a:r>
                      <a:endParaRPr lang="zh-CN" altLang="en-US" sz="1200" b="0" kern="1200">
                        <a:solidFill>
                          <a:sysClr val="windowText" lastClr="000000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105917" marR="105917" marT="52958" marB="529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13095"/>
                        </a:lnSpc>
                        <a:buNone/>
                      </a:pPr>
                      <a:r>
                        <a:rPr lang="zh-CN" altLang="en-US" sz="1200" b="0" kern="1200" dirty="0">
                          <a:solidFill>
                            <a:sysClr val="windowText" lastClr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函数体，用于包含执行语句</a:t>
                      </a:r>
                    </a:p>
                  </a:txBody>
                  <a:tcPr marL="105917" marR="105917" marT="52958" marB="5295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609955"/>
                  </a:ext>
                </a:extLst>
              </a:tr>
              <a:tr h="319148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13095"/>
                        </a:lnSpc>
                        <a:buNone/>
                      </a:pPr>
                      <a:r>
                        <a:rPr lang="en-US" sz="1200" b="0" kern="1200" dirty="0">
                          <a:solidFill>
                            <a:sysClr val="windowText" lastClr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printf()</a:t>
                      </a:r>
                    </a:p>
                  </a:txBody>
                  <a:tcPr marL="105917" marR="105917" marT="52958" marB="529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13095"/>
                        </a:lnSpc>
                        <a:buNone/>
                      </a:pPr>
                      <a:r>
                        <a:rPr lang="zh-CN" altLang="en-US" sz="1200" b="0" kern="1200" dirty="0">
                          <a:solidFill>
                            <a:sysClr val="windowText" lastClr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输出函数，用于在屏幕上显示文本</a:t>
                      </a:r>
                    </a:p>
                  </a:txBody>
                  <a:tcPr marL="105917" marR="105917" marT="52958" marB="5295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050508"/>
                  </a:ext>
                </a:extLst>
              </a:tr>
              <a:tr h="319148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13095"/>
                        </a:lnSpc>
                        <a:buNone/>
                      </a:pPr>
                      <a:r>
                        <a:rPr lang="en-US" sz="1200" b="0" kern="1200" dirty="0">
                          <a:solidFill>
                            <a:sysClr val="windowText" lastClr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return 0;</a:t>
                      </a:r>
                    </a:p>
                  </a:txBody>
                  <a:tcPr marL="105917" marR="105917" marT="52958" marB="529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13095"/>
                        </a:lnSpc>
                        <a:buNone/>
                      </a:pPr>
                      <a:r>
                        <a:rPr lang="zh-CN" altLang="en-US" sz="1200" b="0" kern="1200" dirty="0">
                          <a:solidFill>
                            <a:sysClr val="windowText" lastClr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返回值，表示程序正常结束</a:t>
                      </a:r>
                    </a:p>
                  </a:txBody>
                  <a:tcPr marL="105917" marR="105917" marT="52958" marB="5295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926461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54A1FBA4-CCCF-BAD8-0693-73A1F9AA8B07}"/>
              </a:ext>
            </a:extLst>
          </p:cNvPr>
          <p:cNvSpPr txBox="1"/>
          <p:nvPr/>
        </p:nvSpPr>
        <p:spPr>
          <a:xfrm>
            <a:off x="1272558" y="1323096"/>
            <a:ext cx="3665823" cy="195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zh-CN" altLang="zh-C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zh-CN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zh-CN" altLang="zh-C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  <a:buNone/>
            </a:pPr>
            <a:endParaRPr lang="zh-CN" altLang="zh-C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zh-CN" altLang="zh-C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zh-CN" altLang="zh-C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zh-CN" altLang="zh-C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zh-CN" altLang="zh-C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5000"/>
              </a:lnSpc>
              <a:buNone/>
            </a:pP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zh-CN" altLang="zh-C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CN" altLang="zh-C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"Hello World!</a:t>
            </a:r>
            <a:r>
              <a:rPr lang="zh-CN" altLang="zh-CN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zh-CN" altLang="zh-C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zh-CN" altLang="zh-C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CN" altLang="zh-C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zh-CN" altLang="zh-C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zh-C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984DE6-7773-E17F-7201-DA3062893653}"/>
              </a:ext>
            </a:extLst>
          </p:cNvPr>
          <p:cNvSpPr txBox="1"/>
          <p:nvPr/>
        </p:nvSpPr>
        <p:spPr>
          <a:xfrm>
            <a:off x="1272558" y="4943166"/>
            <a:ext cx="9845111" cy="14457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每个程序必须包含 </a:t>
            </a:r>
            <a:r>
              <a:rPr lang="en-US" altLang="zh-CN" dirty="0"/>
              <a:t>main() </a:t>
            </a:r>
            <a:r>
              <a:rPr lang="zh-CN" altLang="en-US" dirty="0"/>
              <a:t>函数。</a:t>
            </a:r>
            <a:endParaRPr lang="en-US" altLang="zh-CN" dirty="0"/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</a:rPr>
              <a:t>每条语句以 分号 </a:t>
            </a:r>
            <a:r>
              <a:rPr lang="en-US" altLang="zh-CN" dirty="0">
                <a:solidFill>
                  <a:srgbClr val="FF0000"/>
                </a:solidFill>
              </a:rPr>
              <a:t>; </a:t>
            </a:r>
            <a:r>
              <a:rPr lang="zh-CN" altLang="en-US" dirty="0">
                <a:solidFill>
                  <a:srgbClr val="FF0000"/>
                </a:solidFill>
              </a:rPr>
              <a:t>结束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语句块使用 花括号 </a:t>
            </a:r>
            <a:r>
              <a:rPr lang="en-US" altLang="zh-CN" dirty="0"/>
              <a:t>{} </a:t>
            </a:r>
            <a:r>
              <a:rPr lang="zh-CN" altLang="en-US" dirty="0"/>
              <a:t>括起来。</a:t>
            </a:r>
            <a:endParaRPr lang="en-US" altLang="zh-CN" dirty="0"/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</a:rPr>
              <a:t>C </a:t>
            </a:r>
            <a:r>
              <a:rPr lang="zh-CN" altLang="en-US" dirty="0">
                <a:solidFill>
                  <a:srgbClr val="FF0000"/>
                </a:solidFill>
              </a:rPr>
              <a:t>区分大小写（</a:t>
            </a:r>
            <a:r>
              <a:rPr lang="en-US" altLang="zh-CN" dirty="0">
                <a:solidFill>
                  <a:srgbClr val="FF0000"/>
                </a:solidFill>
              </a:rPr>
              <a:t>main ≠ Main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528E20E-E2DC-1148-8C9F-84D7665A450D}"/>
              </a:ext>
            </a:extLst>
          </p:cNvPr>
          <p:cNvGrpSpPr/>
          <p:nvPr/>
        </p:nvGrpSpPr>
        <p:grpSpPr>
          <a:xfrm>
            <a:off x="1272558" y="3511119"/>
            <a:ext cx="9845111" cy="1200329"/>
            <a:chOff x="1272558" y="3291260"/>
            <a:chExt cx="9845111" cy="1200329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6843915-AE35-5885-A850-C7CD7F91BEC0}"/>
                </a:ext>
              </a:extLst>
            </p:cNvPr>
            <p:cNvSpPr txBox="1"/>
            <p:nvPr/>
          </p:nvSpPr>
          <p:spPr>
            <a:xfrm>
              <a:off x="1272558" y="3291260"/>
              <a:ext cx="9845111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运行效果：</a:t>
              </a:r>
              <a:endParaRPr lang="en-US" altLang="zh-CN" dirty="0"/>
            </a:p>
            <a:p>
              <a:endParaRPr lang="en-US" altLang="zh-CN" dirty="0">
                <a:solidFill>
                  <a:srgbClr val="FF0000"/>
                </a:solidFill>
              </a:endParaRPr>
            </a:p>
            <a:p>
              <a:endParaRPr lang="en-US" altLang="zh-CN" dirty="0">
                <a:solidFill>
                  <a:srgbClr val="FF0000"/>
                </a:solidFill>
              </a:endParaRPr>
            </a:p>
            <a:p>
              <a:endParaRPr lang="en-US" altLang="zh-CN" dirty="0">
                <a:solidFill>
                  <a:srgbClr val="FF0000"/>
                </a:solidFill>
              </a:endParaRPr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F3497039-8225-06F8-23DE-D97A7CBE1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38677" y="3771211"/>
              <a:ext cx="8598837" cy="573706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淘宝网chenying0907出品 24"/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22340" y="200268"/>
            <a:ext cx="4251591" cy="974838"/>
            <a:chOff x="422340" y="200268"/>
            <a:chExt cx="4251591" cy="974838"/>
          </a:xfrm>
        </p:grpSpPr>
        <p:grpSp>
          <p:nvGrpSpPr>
            <p:cNvPr id="17" name="组合 16"/>
            <p:cNvGrpSpPr/>
            <p:nvPr userDrawn="1"/>
          </p:nvGrpSpPr>
          <p:grpSpPr>
            <a:xfrm>
              <a:off x="994629" y="432001"/>
              <a:ext cx="3679302" cy="743105"/>
              <a:chOff x="994629" y="432001"/>
              <a:chExt cx="3679302" cy="743105"/>
            </a:xfrm>
          </p:grpSpPr>
          <p:sp>
            <p:nvSpPr>
              <p:cNvPr id="26" name="文本框 25"/>
              <p:cNvSpPr txBox="1"/>
              <p:nvPr userDrawn="1"/>
            </p:nvSpPr>
            <p:spPr>
              <a:xfrm>
                <a:off x="1420826" y="432001"/>
                <a:ext cx="325310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2400" b="1" i="1" dirty="0">
                    <a:solidFill>
                      <a:schemeClr val="bg1"/>
                    </a:solidFill>
                    <a:effectLst>
                      <a:glow rad="127000">
                        <a:schemeClr val="accent1">
                          <a:lumMod val="50000"/>
                        </a:schemeClr>
                      </a:glo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  <a:sym typeface="思源黑体" panose="020B0400000000000000" pitchFamily="34" charset="-122"/>
                  </a:rPr>
                  <a:t>标识符与命名规则</a:t>
                </a:r>
              </a:p>
            </p:txBody>
          </p:sp>
          <p:sp>
            <p:nvSpPr>
              <p:cNvPr id="27" name="文本框 26"/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25" name="文本框 24"/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03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9" name="图片 8" descr="upload_159476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i="1" spc="110" dirty="0">
                <a:solidFill>
                  <a:srgbClr val="000000"/>
                </a:solidFill>
              </a:rPr>
              <a:t>哈理工</a:t>
            </a:r>
            <a:r>
              <a:rPr lang="en-US" altLang="zh-CN" sz="1400" i="1" spc="110" dirty="0">
                <a:solidFill>
                  <a:srgbClr val="000000"/>
                </a:solidFill>
              </a:rPr>
              <a:t>A.I.R.</a:t>
            </a:r>
            <a:r>
              <a:rPr lang="zh-CN" altLang="en-US" sz="1400" i="1" spc="110" dirty="0">
                <a:solidFill>
                  <a:srgbClr val="000000"/>
                </a:solidFill>
              </a:rPr>
              <a:t>创新实验室</a:t>
            </a:r>
            <a:endParaRPr lang="zh-CN" altLang="en-US" sz="1400" spc="11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8635C3A-139E-0778-8A69-1C8F408C232A}"/>
              </a:ext>
            </a:extLst>
          </p:cNvPr>
          <p:cNvSpPr txBox="1"/>
          <p:nvPr/>
        </p:nvSpPr>
        <p:spPr>
          <a:xfrm>
            <a:off x="994629" y="1549911"/>
            <a:ext cx="6235792" cy="39395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dirty="0"/>
              <a:t>标识符用于命名变量、函数等。</a:t>
            </a:r>
            <a:endParaRPr lang="en-US" altLang="zh-CN" sz="2400" dirty="0"/>
          </a:p>
          <a:p>
            <a:pPr>
              <a:buNone/>
            </a:pPr>
            <a:br>
              <a:rPr lang="zh-CN" altLang="en-US" sz="2400" dirty="0"/>
            </a:br>
            <a:r>
              <a:rPr lang="zh-CN" altLang="en-US" sz="2400" dirty="0"/>
              <a:t>命名规则：</a:t>
            </a:r>
          </a:p>
          <a:p>
            <a:pPr>
              <a:buFont typeface="+mj-lt"/>
              <a:buAutoNum type="arabicPeriod"/>
            </a:pPr>
            <a:r>
              <a:rPr lang="zh-CN" altLang="en-US" sz="2400" dirty="0"/>
              <a:t>只能使用 </a:t>
            </a:r>
            <a:r>
              <a:rPr lang="zh-CN" altLang="en-US" sz="2400" b="1" dirty="0"/>
              <a:t>字母、数字、下划线</a:t>
            </a:r>
            <a:r>
              <a:rPr lang="zh-CN" altLang="en-US" sz="2400" dirty="0"/>
              <a:t>；</a:t>
            </a:r>
          </a:p>
          <a:p>
            <a:pPr>
              <a:buFont typeface="+mj-lt"/>
              <a:buAutoNum type="arabicPeriod"/>
            </a:pPr>
            <a:r>
              <a:rPr lang="zh-CN" altLang="en-US" sz="2400" b="1" dirty="0"/>
              <a:t>不能以数字开头</a:t>
            </a:r>
            <a:r>
              <a:rPr lang="zh-CN" altLang="en-US" sz="2400" dirty="0"/>
              <a:t>；</a:t>
            </a:r>
          </a:p>
          <a:p>
            <a:pPr>
              <a:buFont typeface="+mj-lt"/>
              <a:buAutoNum type="arabicPeriod"/>
            </a:pPr>
            <a:r>
              <a:rPr lang="zh-CN" altLang="en-US" sz="2400" b="1" dirty="0"/>
              <a:t>区分大小写</a:t>
            </a:r>
            <a:r>
              <a:rPr lang="zh-CN" altLang="en-US" sz="2400" dirty="0"/>
              <a:t>；</a:t>
            </a:r>
          </a:p>
          <a:p>
            <a:pPr>
              <a:spcBef>
                <a:spcPts val="1200"/>
              </a:spcBef>
              <a:buFont typeface="+mj-lt"/>
              <a:buAutoNum type="arabicPeriod"/>
            </a:pPr>
            <a:r>
              <a:rPr lang="zh-CN" altLang="en-US" sz="2400" b="1" dirty="0"/>
              <a:t>不能使用关键字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buFont typeface="+mj-lt"/>
              <a:buAutoNum type="arabicPeriod"/>
            </a:pPr>
            <a:endParaRPr lang="zh-CN" altLang="en-US" sz="2400" dirty="0"/>
          </a:p>
          <a:p>
            <a:pPr>
              <a:spcAft>
                <a:spcPts val="500"/>
              </a:spcAft>
              <a:buNone/>
            </a:pPr>
            <a:r>
              <a:rPr lang="zh-CN" altLang="en-US" sz="2400" dirty="0"/>
              <a:t>✅ 合法示例：</a:t>
            </a:r>
            <a:r>
              <a:rPr lang="en-US" altLang="zh-CN" sz="2400" dirty="0">
                <a:latin typeface="Courier New" panose="02070309020205020404" pitchFamily="49" charset="0"/>
              </a:rPr>
              <a:t>score</a:t>
            </a:r>
            <a:r>
              <a:rPr lang="en-US" altLang="zh-CN" sz="2400" dirty="0"/>
              <a:t>, </a:t>
            </a:r>
            <a:r>
              <a:rPr lang="en-US" altLang="zh-CN" sz="2400" dirty="0" err="1">
                <a:latin typeface="Courier New" panose="02070309020205020404" pitchFamily="49" charset="0"/>
              </a:rPr>
              <a:t>user_name</a:t>
            </a:r>
            <a:r>
              <a:rPr lang="en-US" altLang="zh-CN" sz="2400" dirty="0"/>
              <a:t>, </a:t>
            </a:r>
            <a:r>
              <a:rPr lang="en-US" altLang="zh-CN" sz="2400" dirty="0">
                <a:latin typeface="Courier New" panose="02070309020205020404" pitchFamily="49" charset="0"/>
              </a:rPr>
              <a:t>_count</a:t>
            </a:r>
            <a:br>
              <a:rPr lang="en-US" altLang="zh-CN" sz="2400" dirty="0"/>
            </a:br>
            <a:r>
              <a:rPr lang="zh-CN" altLang="en-US" sz="2400" dirty="0"/>
              <a:t>❌ 非法示例：</a:t>
            </a:r>
            <a:r>
              <a:rPr lang="en-US" altLang="zh-CN" sz="2400" dirty="0">
                <a:latin typeface="Courier New" panose="02070309020205020404" pitchFamily="49" charset="0"/>
              </a:rPr>
              <a:t>2num</a:t>
            </a:r>
            <a:r>
              <a:rPr lang="en-US" altLang="zh-CN" sz="2400" dirty="0"/>
              <a:t>, </a:t>
            </a:r>
            <a:r>
              <a:rPr lang="en-US" altLang="zh-CN" sz="2400" dirty="0">
                <a:latin typeface="Courier New" panose="02070309020205020404" pitchFamily="49" charset="0"/>
              </a:rPr>
              <a:t>int</a:t>
            </a:r>
            <a:r>
              <a:rPr lang="en-US" altLang="zh-CN" sz="2400" dirty="0"/>
              <a:t>, </a:t>
            </a:r>
            <a:r>
              <a:rPr lang="en-US" altLang="zh-CN" sz="2400" dirty="0">
                <a:latin typeface="Courier New" panose="02070309020205020404" pitchFamily="49" charset="0"/>
              </a:rPr>
              <a:t>user-name</a:t>
            </a:r>
            <a:endParaRPr lang="en-US" altLang="zh-CN" sz="24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F1F8B47-10A4-A0D8-1024-C6E1372DF555}"/>
              </a:ext>
            </a:extLst>
          </p:cNvPr>
          <p:cNvSpPr txBox="1"/>
          <p:nvPr/>
        </p:nvSpPr>
        <p:spPr>
          <a:xfrm>
            <a:off x="7368940" y="1549911"/>
            <a:ext cx="4388088" cy="39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b="1" dirty="0"/>
              <a:t>注释</a:t>
            </a:r>
          </a:p>
          <a:p>
            <a:pPr>
              <a:lnSpc>
                <a:spcPct val="113095"/>
              </a:lnSpc>
            </a:pPr>
            <a:endParaRPr lang="en-US" altLang="zh-CN" sz="1200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</a:pPr>
            <a:r>
              <a:rPr lang="zh-CN" altLang="zh-CN" sz="2000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单行注释：</a:t>
            </a:r>
            <a:endParaRPr lang="en-US" altLang="zh-CN" sz="2000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</a:pPr>
            <a:r>
              <a:rPr lang="zh-CN" altLang="zh-CN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13095"/>
              </a:lnSpc>
              <a:buNone/>
            </a:pPr>
            <a:r>
              <a:rPr lang="zh-CN" altLang="zh-CN" sz="2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这是一行注释</a:t>
            </a:r>
            <a:r>
              <a:rPr lang="zh-CN" altLang="en-US" sz="2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，下面是代码</a:t>
            </a:r>
            <a:endParaRPr lang="zh-CN" altLang="zh-CN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zh-CN" altLang="zh-CN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zh-CN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CN" altLang="zh-CN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b;</a:t>
            </a:r>
          </a:p>
          <a:p>
            <a:pPr>
              <a:lnSpc>
                <a:spcPct val="113095"/>
              </a:lnSpc>
              <a:buNone/>
            </a:pPr>
            <a:endParaRPr lang="en-US" altLang="zh-CN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zh-CN" altLang="zh-CN" sz="2000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多行注释：</a:t>
            </a:r>
            <a:endParaRPr lang="en-US" altLang="zh-CN" sz="2000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zh-CN" altLang="zh-CN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13095"/>
              </a:lnSpc>
              <a:buNone/>
            </a:pPr>
            <a:r>
              <a:rPr lang="zh-CN" altLang="zh-CN" sz="2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zh-CN" altLang="en-US" sz="2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这是</a:t>
            </a:r>
            <a:r>
              <a:rPr lang="zh-CN" altLang="zh-CN" sz="2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注释内容 </a:t>
            </a:r>
            <a:endParaRPr lang="zh-CN" altLang="zh-CN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zh-CN" altLang="en-US" sz="2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下面还是</a:t>
            </a:r>
            <a:r>
              <a:rPr lang="zh-CN" altLang="zh-CN" sz="2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注释内容 */</a:t>
            </a:r>
            <a:endParaRPr lang="en-US" altLang="zh-CN" sz="2000" b="0" dirty="0">
              <a:solidFill>
                <a:srgbClr val="8B949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en-US" altLang="zh-C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37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淘宝网chenying0907出品 24"/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22340" y="200268"/>
            <a:ext cx="4238779" cy="974838"/>
            <a:chOff x="422340" y="200268"/>
            <a:chExt cx="4238779" cy="974838"/>
          </a:xfrm>
        </p:grpSpPr>
        <p:grpSp>
          <p:nvGrpSpPr>
            <p:cNvPr id="17" name="组合 16"/>
            <p:cNvGrpSpPr/>
            <p:nvPr userDrawn="1"/>
          </p:nvGrpSpPr>
          <p:grpSpPr>
            <a:xfrm>
              <a:off x="994629" y="420402"/>
              <a:ext cx="3666490" cy="754704"/>
              <a:chOff x="994629" y="420402"/>
              <a:chExt cx="3666490" cy="754704"/>
            </a:xfrm>
          </p:grpSpPr>
          <p:sp>
            <p:nvSpPr>
              <p:cNvPr id="26" name="文本框 25"/>
              <p:cNvSpPr txBox="1"/>
              <p:nvPr userDrawn="1"/>
            </p:nvSpPr>
            <p:spPr>
              <a:xfrm>
                <a:off x="1408014" y="420402"/>
                <a:ext cx="32531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2400" b="1" i="1" dirty="0">
                    <a:solidFill>
                      <a:schemeClr val="bg1"/>
                    </a:solidFill>
                    <a:effectLst>
                      <a:glow rad="127000">
                        <a:schemeClr val="accent1">
                          <a:lumMod val="50000"/>
                        </a:schemeClr>
                      </a:glo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  <a:sym typeface="思源黑体" panose="020B0400000000000000" pitchFamily="34" charset="-122"/>
                  </a:rPr>
                  <a:t>输入与输出</a:t>
                </a:r>
              </a:p>
            </p:txBody>
          </p:sp>
          <p:sp>
            <p:nvSpPr>
              <p:cNvPr id="27" name="文本框 26"/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25" name="文本框 24"/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03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9" name="图片 8" descr="upload_159476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i="1" spc="110" dirty="0">
                <a:solidFill>
                  <a:srgbClr val="000000"/>
                </a:solidFill>
              </a:rPr>
              <a:t>哈理工</a:t>
            </a:r>
            <a:r>
              <a:rPr lang="en-US" altLang="zh-CN" sz="1400" i="1" spc="110" dirty="0">
                <a:solidFill>
                  <a:srgbClr val="000000"/>
                </a:solidFill>
              </a:rPr>
              <a:t>A.I.R.</a:t>
            </a:r>
            <a:r>
              <a:rPr lang="zh-CN" altLang="en-US" sz="1400" i="1" spc="110" dirty="0">
                <a:solidFill>
                  <a:srgbClr val="000000"/>
                </a:solidFill>
              </a:rPr>
              <a:t>创新实验室</a:t>
            </a:r>
            <a:endParaRPr lang="zh-CN" altLang="en-US" sz="1400" spc="11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FDEB48-0DB0-4AD7-8028-767DCBA6E2C4}"/>
              </a:ext>
            </a:extLst>
          </p:cNvPr>
          <p:cNvSpPr txBox="1"/>
          <p:nvPr/>
        </p:nvSpPr>
        <p:spPr>
          <a:xfrm>
            <a:off x="992913" y="4237381"/>
            <a:ext cx="1031542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Courier New" panose="02070309020205020404" pitchFamily="49" charset="0"/>
              </a:rPr>
              <a:t>scanf</a:t>
            </a:r>
            <a:r>
              <a:rPr lang="en-US" altLang="zh-CN" sz="2400" dirty="0">
                <a:latin typeface="Courier New" panose="02070309020205020404" pitchFamily="49" charset="0"/>
              </a:rPr>
              <a:t>()</a:t>
            </a:r>
            <a:r>
              <a:rPr lang="zh-CN" altLang="en-US" sz="2400" dirty="0"/>
              <a:t> 用于输入数据，</a:t>
            </a:r>
            <a:r>
              <a:rPr lang="en-US" altLang="zh-CN" sz="2400" dirty="0">
                <a:latin typeface="Courier New" panose="02070309020205020404" pitchFamily="49" charset="0"/>
              </a:rPr>
              <a:t>printf()</a:t>
            </a:r>
            <a:r>
              <a:rPr lang="zh-CN" altLang="en-US" sz="2400" dirty="0"/>
              <a:t> 用于输出数据。</a:t>
            </a:r>
            <a:br>
              <a:rPr lang="zh-CN" altLang="en-US" sz="2400" dirty="0"/>
            </a:br>
            <a:r>
              <a:rPr lang="zh-CN" altLang="en-US" sz="2400" dirty="0">
                <a:solidFill>
                  <a:srgbClr val="FF0000"/>
                </a:solidFill>
              </a:rPr>
              <a:t>注意：输入变量前要加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&amp;</a:t>
            </a:r>
            <a:r>
              <a:rPr lang="zh-CN" altLang="en-US" sz="2400" dirty="0">
                <a:solidFill>
                  <a:srgbClr val="FF0000"/>
                </a:solidFill>
              </a:rPr>
              <a:t> 取地址符</a:t>
            </a:r>
            <a:r>
              <a:rPr lang="zh-CN" altLang="en-US" sz="2400" dirty="0"/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63BF017-BE86-C3AD-E4C3-571EFDDB0522}"/>
              </a:ext>
            </a:extLst>
          </p:cNvPr>
          <p:cNvSpPr txBox="1"/>
          <p:nvPr/>
        </p:nvSpPr>
        <p:spPr>
          <a:xfrm>
            <a:off x="992913" y="1614741"/>
            <a:ext cx="3570340" cy="22688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zh-CN" altLang="zh-C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zh-CN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zh-CN" altLang="zh-C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zh-CN" altLang="zh-C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zh-CN" altLang="zh-C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zh-CN" altLang="zh-C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zh-CN" altLang="zh-C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zh-CN" altLang="zh-C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CN" altLang="zh-C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a;</a:t>
            </a:r>
            <a:endParaRPr lang="zh-CN" altLang="zh-C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CN" altLang="zh-C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"请输入一个整数："</a:t>
            </a: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zh-CN" altLang="zh-C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CN" altLang="zh-C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zh-C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zh-CN" altLang="zh-C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a);</a:t>
            </a:r>
            <a:endParaRPr lang="zh-CN" altLang="zh-C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CN" altLang="zh-C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"您输入的是：</a:t>
            </a:r>
            <a:r>
              <a:rPr lang="zh-CN" altLang="zh-C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zh-CN" altLang="zh-CN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zh-CN" altLang="zh-C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a);</a:t>
            </a:r>
            <a:endParaRPr lang="zh-CN" altLang="zh-C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CN" altLang="zh-C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zh-CN" altLang="zh-C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zh-CN" altLang="zh-C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zh-C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3E2B296-1462-B91C-25B0-D422AE7AEB6A}"/>
              </a:ext>
            </a:extLst>
          </p:cNvPr>
          <p:cNvSpPr txBox="1"/>
          <p:nvPr/>
        </p:nvSpPr>
        <p:spPr>
          <a:xfrm>
            <a:off x="4925825" y="1614741"/>
            <a:ext cx="6382514" cy="2215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运行效果：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在执行程序后，弹出输入整数提示。输入整数后，返回输入的整数的提示</a:t>
            </a:r>
            <a:endParaRPr lang="en-US" altLang="zh-CN" dirty="0"/>
          </a:p>
          <a:p>
            <a:endParaRPr lang="en-US" altLang="zh-CN" sz="1600" dirty="0">
              <a:solidFill>
                <a:srgbClr val="FF0000"/>
              </a:solidFill>
            </a:endParaRPr>
          </a:p>
          <a:p>
            <a:endParaRPr lang="en-US" altLang="zh-CN" sz="1600" dirty="0">
              <a:solidFill>
                <a:srgbClr val="FF0000"/>
              </a:solidFill>
            </a:endParaRPr>
          </a:p>
          <a:p>
            <a:endParaRPr lang="en-US" altLang="zh-CN" sz="1600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E9FE83F-7A58-7A22-C5D4-88BA7B631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318" y="2958984"/>
            <a:ext cx="5339122" cy="71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09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upload_0677123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1488" y="1002574"/>
            <a:ext cx="6354536" cy="4599214"/>
          </a:xfrm>
          <a:prstGeom prst="rect">
            <a:avLst/>
          </a:prstGeom>
        </p:spPr>
      </p:pic>
      <p:sp>
        <p:nvSpPr>
          <p:cNvPr id="26" name="任意多边形: 形状 25"/>
          <p:cNvSpPr/>
          <p:nvPr/>
        </p:nvSpPr>
        <p:spPr>
          <a:xfrm rot="13982193" flipV="1">
            <a:off x="6011572" y="-3138352"/>
            <a:ext cx="2098521" cy="10814693"/>
          </a:xfrm>
          <a:custGeom>
            <a:avLst/>
            <a:gdLst>
              <a:gd name="connsiteX0" fmla="*/ 2098520 w 2098521"/>
              <a:gd name="connsiteY0" fmla="*/ 2788530 h 10814693"/>
              <a:gd name="connsiteX1" fmla="*/ 0 w 2098521"/>
              <a:gd name="connsiteY1" fmla="*/ 0 h 10814693"/>
              <a:gd name="connsiteX2" fmla="*/ 0 w 2098521"/>
              <a:gd name="connsiteY2" fmla="*/ 10814693 h 10814693"/>
              <a:gd name="connsiteX3" fmla="*/ 2098521 w 2098521"/>
              <a:gd name="connsiteY3" fmla="*/ 9073886 h 10814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/>
        </p:nvSpPr>
        <p:spPr>
          <a:xfrm rot="3805420">
            <a:off x="6757538" y="2864877"/>
            <a:ext cx="646538" cy="1118147"/>
          </a:xfrm>
          <a:custGeom>
            <a:avLst/>
            <a:gdLst>
              <a:gd name="connsiteX0" fmla="*/ 441579 w 646538"/>
              <a:gd name="connsiteY0" fmla="*/ 0 h 1118147"/>
              <a:gd name="connsiteX1" fmla="*/ 646538 w 646538"/>
              <a:gd name="connsiteY1" fmla="*/ 1118147 h 1118147"/>
              <a:gd name="connsiteX2" fmla="*/ 0 w 646538"/>
              <a:gd name="connsiteY2" fmla="*/ 1118147 h 1118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6538" h="1118147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任意多边形: 形状 24"/>
          <p:cNvSpPr/>
          <p:nvPr/>
        </p:nvSpPr>
        <p:spPr>
          <a:xfrm rot="3239350">
            <a:off x="3210408" y="3964146"/>
            <a:ext cx="4303214" cy="5920512"/>
          </a:xfrm>
          <a:custGeom>
            <a:avLst/>
            <a:gdLst>
              <a:gd name="connsiteX0" fmla="*/ 0 w 4303214"/>
              <a:gd name="connsiteY0" fmla="*/ 0 h 5920512"/>
              <a:gd name="connsiteX1" fmla="*/ 4303214 w 4303214"/>
              <a:gd name="connsiteY1" fmla="*/ 1 h 5920512"/>
              <a:gd name="connsiteX2" fmla="*/ 0 w 4303214"/>
              <a:gd name="connsiteY2" fmla="*/ 5920512 h 5920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03214" h="5920512">
                <a:moveTo>
                  <a:pt x="0" y="0"/>
                </a:moveTo>
                <a:lnTo>
                  <a:pt x="4303214" y="1"/>
                </a:lnTo>
                <a:lnTo>
                  <a:pt x="0" y="59205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/>
        </p:nvSpPr>
        <p:spPr>
          <a:xfrm rot="13982193" flipV="1">
            <a:off x="10929458" y="1005823"/>
            <a:ext cx="1025939" cy="5287158"/>
          </a:xfrm>
          <a:custGeom>
            <a:avLst/>
            <a:gdLst>
              <a:gd name="connsiteX0" fmla="*/ 2098520 w 2098521"/>
              <a:gd name="connsiteY0" fmla="*/ 2788530 h 10814693"/>
              <a:gd name="connsiteX1" fmla="*/ 0 w 2098521"/>
              <a:gd name="connsiteY1" fmla="*/ 0 h 10814693"/>
              <a:gd name="connsiteX2" fmla="*/ 0 w 2098521"/>
              <a:gd name="connsiteY2" fmla="*/ 10814693 h 10814693"/>
              <a:gd name="connsiteX3" fmla="*/ 2098521 w 2098521"/>
              <a:gd name="connsiteY3" fmla="*/ 9073886 h 10814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8"/>
          <p:cNvSpPr/>
          <p:nvPr/>
        </p:nvSpPr>
        <p:spPr>
          <a:xfrm flipH="1">
            <a:off x="-4825040" y="5331690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sp>
        <p:nvSpPr>
          <p:cNvPr id="8" name="流程图: 数据 7"/>
          <p:cNvSpPr/>
          <p:nvPr userDrawn="1"/>
        </p:nvSpPr>
        <p:spPr>
          <a:xfrm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" name="任意多边形: 形状 68"/>
          <p:cNvSpPr/>
          <p:nvPr/>
        </p:nvSpPr>
        <p:spPr>
          <a:xfrm flipH="1">
            <a:off x="-4122005" y="442190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 flipH="1">
            <a:off x="122464" y="544286"/>
            <a:ext cx="6939643" cy="34017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i="1" spc="11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『生无所息，斗无所止</a:t>
            </a:r>
            <a:r>
              <a:rPr lang="zh-CN" altLang="en-US" sz="2000" b="1" i="1" spc="11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』</a:t>
            </a:r>
            <a:endParaRPr lang="zh-CN" altLang="en-US" sz="2000" b="1" spc="11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 rot="19335346">
            <a:off x="3054882" y="1532461"/>
            <a:ext cx="822715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  <a:sym typeface="思源黑体" panose="020B0400000000000000" pitchFamily="34" charset="-122"/>
              </a:rPr>
              <a:t>04 C </a:t>
            </a:r>
            <a:r>
              <a:rPr lang="zh-CN" altLang="en-US" sz="6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  <a:sym typeface="思源黑体" panose="020B0400000000000000" pitchFamily="34" charset="-122"/>
              </a:rPr>
              <a:t>语言基础知识</a:t>
            </a:r>
          </a:p>
          <a:p>
            <a:endParaRPr lang="zh-CN" altLang="en-US" sz="4400" b="1" i="1" kern="1200" dirty="0">
              <a:solidFill>
                <a:schemeClr val="bg1"/>
              </a:solidFill>
              <a:effectLst>
                <a:glow rad="127000">
                  <a:schemeClr val="accent1">
                    <a:lumMod val="50000"/>
                  </a:schemeClr>
                </a:glow>
              </a:effectLst>
              <a:latin typeface="锐字真言体免费商用" panose="02010600030101010101" pitchFamily="2" charset="-122"/>
              <a:ea typeface="锐字真言体免费商用" panose="02010600030101010101" pitchFamily="2" charset="-122"/>
              <a:cs typeface="+mn-cs"/>
              <a:sym typeface="思源黑体" panose="020B04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淘宝网chenying0907出品 24"/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22340" y="200268"/>
            <a:ext cx="4142628" cy="974838"/>
            <a:chOff x="422340" y="200268"/>
            <a:chExt cx="4142628" cy="974838"/>
          </a:xfrm>
        </p:grpSpPr>
        <p:grpSp>
          <p:nvGrpSpPr>
            <p:cNvPr id="17" name="组合 16"/>
            <p:cNvGrpSpPr/>
            <p:nvPr userDrawn="1"/>
          </p:nvGrpSpPr>
          <p:grpSpPr>
            <a:xfrm>
              <a:off x="994629" y="420402"/>
              <a:ext cx="3570339" cy="754704"/>
              <a:chOff x="994629" y="420402"/>
              <a:chExt cx="3570339" cy="754704"/>
            </a:xfrm>
          </p:grpSpPr>
          <p:sp>
            <p:nvSpPr>
              <p:cNvPr id="26" name="文本框 25"/>
              <p:cNvSpPr txBox="1"/>
              <p:nvPr userDrawn="1"/>
            </p:nvSpPr>
            <p:spPr>
              <a:xfrm>
                <a:off x="1408302" y="420402"/>
                <a:ext cx="2234549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i="1" dirty="0">
                    <a:solidFill>
                      <a:schemeClr val="bg1"/>
                    </a:solidFill>
                    <a:effectLst>
                      <a:glow rad="127000">
                        <a:schemeClr val="accent1">
                          <a:lumMod val="50000"/>
                        </a:schemeClr>
                      </a:glo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  <a:sym typeface="思源黑体" panose="020B0400000000000000" pitchFamily="34" charset="-122"/>
                  </a:rPr>
                  <a:t>数据类型</a:t>
                </a:r>
              </a:p>
            </p:txBody>
          </p:sp>
          <p:sp>
            <p:nvSpPr>
              <p:cNvPr id="27" name="文本框 26"/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25" name="文本框 24"/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04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9" name="图片 8" descr="upload_159476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i="1" spc="110" dirty="0">
                <a:solidFill>
                  <a:srgbClr val="000000"/>
                </a:solidFill>
              </a:rPr>
              <a:t>哈理工</a:t>
            </a:r>
            <a:r>
              <a:rPr lang="en-US" altLang="zh-CN" sz="1400" i="1" spc="110" dirty="0">
                <a:solidFill>
                  <a:srgbClr val="000000"/>
                </a:solidFill>
              </a:rPr>
              <a:t>A.I.R.</a:t>
            </a:r>
            <a:r>
              <a:rPr lang="zh-CN" altLang="en-US" sz="1400" i="1" spc="110" dirty="0">
                <a:solidFill>
                  <a:srgbClr val="000000"/>
                </a:solidFill>
              </a:rPr>
              <a:t>创新实验室</a:t>
            </a:r>
            <a:endParaRPr lang="zh-CN" altLang="en-US" sz="1400" spc="110"/>
          </a:p>
        </p:txBody>
      </p:sp>
      <p:sp>
        <p:nvSpPr>
          <p:cNvPr id="2" name="矩形 1"/>
          <p:cNvSpPr/>
          <p:nvPr/>
        </p:nvSpPr>
        <p:spPr>
          <a:xfrm>
            <a:off x="4632960" y="4405630"/>
            <a:ext cx="3409315" cy="271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524000" y="4453890"/>
            <a:ext cx="1845945" cy="291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94A18FD-5A44-32D0-D3EC-FA42F9BED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518165"/>
              </p:ext>
            </p:extLst>
          </p:nvPr>
        </p:nvGraphicFramePr>
        <p:xfrm>
          <a:off x="792739" y="1781644"/>
          <a:ext cx="10515600" cy="28346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103426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841409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358278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524988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关键字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字节数（典型）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示例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137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整型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int</a:t>
                      </a:r>
                      <a:endParaRPr 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int age = 18;</a:t>
                      </a:r>
                      <a:endParaRPr 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342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短整型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short</a:t>
                      </a:r>
                      <a:endParaRPr 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short s = 10;</a:t>
                      </a:r>
                      <a:endParaRPr 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85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长整型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long</a:t>
                      </a:r>
                      <a:endParaRPr 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 </a:t>
                      </a:r>
                      <a:r>
                        <a:rPr lang="zh-CN" altLang="en-US"/>
                        <a:t>或 </a:t>
                      </a:r>
                      <a:r>
                        <a:rPr lang="en-US" altLang="zh-CN"/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long sum = 100000;</a:t>
                      </a:r>
                      <a:endParaRPr 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295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字符型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char</a:t>
                      </a:r>
                      <a:endParaRPr 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char c = 'A';</a:t>
                      </a:r>
                      <a:endParaRPr 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9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单精度浮点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float</a:t>
                      </a:r>
                      <a:endParaRPr 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float pi = 3.14f;</a:t>
                      </a:r>
                      <a:endParaRPr 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732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双精度浮点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double</a:t>
                      </a:r>
                      <a:endParaRPr 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double g = 9.8;</a:t>
                      </a:r>
                      <a:endParaRPr 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845659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C889600B-1092-A190-6C22-E2F9A89C4F33}"/>
              </a:ext>
            </a:extLst>
          </p:cNvPr>
          <p:cNvSpPr txBox="1"/>
          <p:nvPr/>
        </p:nvSpPr>
        <p:spPr>
          <a:xfrm>
            <a:off x="792739" y="4965802"/>
            <a:ext cx="10515600" cy="8310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zh-CN" altLang="en-US" sz="2000" b="0" dirty="0">
                <a:effectLst/>
                <a:latin typeface="Consolas" panose="020B0609020204030204" pitchFamily="49" charset="0"/>
              </a:rPr>
              <a:t>例子：</a:t>
            </a:r>
            <a:endParaRPr lang="en-US" altLang="zh-CN" sz="2000" b="0" dirty="0">
              <a:effectLst/>
              <a:latin typeface="Consolas" panose="020B0609020204030204" pitchFamily="49" charset="0"/>
            </a:endParaRPr>
          </a:p>
          <a:p>
            <a:pPr algn="ctr">
              <a:lnSpc>
                <a:spcPct val="113095"/>
              </a:lnSpc>
              <a:buNone/>
            </a:pPr>
            <a:r>
              <a:rPr lang="zh-CN" altLang="zh-CN" sz="2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zh-CN" altLang="zh-CN" sz="2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2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zh-CN" sz="2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%zu</a:t>
            </a:r>
            <a:r>
              <a:rPr lang="zh-CN" altLang="zh-CN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zh-CN" altLang="zh-CN" sz="2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zh-CN" sz="2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zh-CN" altLang="zh-CN" sz="2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2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zh-CN" altLang="zh-CN" sz="2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zh-CN" altLang="zh-CN" sz="2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 // 输出 int 类型所占字节数</a:t>
            </a:r>
            <a:endParaRPr lang="zh-CN" altLang="zh-CN" sz="2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淘宝网chenying0907出品 24"/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22340" y="200268"/>
            <a:ext cx="4475634" cy="974838"/>
            <a:chOff x="422340" y="200268"/>
            <a:chExt cx="4475634" cy="974838"/>
          </a:xfrm>
        </p:grpSpPr>
        <p:grpSp>
          <p:nvGrpSpPr>
            <p:cNvPr id="17" name="组合 16"/>
            <p:cNvGrpSpPr/>
            <p:nvPr userDrawn="1"/>
          </p:nvGrpSpPr>
          <p:grpSpPr>
            <a:xfrm>
              <a:off x="994629" y="420402"/>
              <a:ext cx="3903345" cy="754704"/>
              <a:chOff x="994629" y="420402"/>
              <a:chExt cx="3903345" cy="754704"/>
            </a:xfrm>
          </p:grpSpPr>
          <p:sp>
            <p:nvSpPr>
              <p:cNvPr id="26" name="文本框 25"/>
              <p:cNvSpPr txBox="1"/>
              <p:nvPr userDrawn="1"/>
            </p:nvSpPr>
            <p:spPr>
              <a:xfrm>
                <a:off x="1408014" y="420402"/>
                <a:ext cx="348996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i="1" dirty="0">
                    <a:solidFill>
                      <a:schemeClr val="bg1"/>
                    </a:solidFill>
                    <a:effectLst>
                      <a:glow rad="127000">
                        <a:schemeClr val="accent1">
                          <a:lumMod val="50000"/>
                        </a:schemeClr>
                      </a:glo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  <a:sym typeface="思源黑体" panose="020B0400000000000000" pitchFamily="34" charset="-122"/>
                  </a:rPr>
                  <a:t>变量与常量</a:t>
                </a:r>
                <a:endParaRPr lang="en-US" altLang="zh-CN" sz="2400" b="1" i="1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27" name="文本框 26"/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25" name="文本框 24"/>
            <p:cNvSpPr txBox="1"/>
            <p:nvPr userDrawn="1"/>
          </p:nvSpPr>
          <p:spPr>
            <a:xfrm>
              <a:off x="422340" y="200268"/>
              <a:ext cx="850218" cy="64633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04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9" name="图片 8" descr="upload_159476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i="1" spc="110" dirty="0">
                <a:solidFill>
                  <a:srgbClr val="000000"/>
                </a:solidFill>
              </a:rPr>
              <a:t>哈理工</a:t>
            </a:r>
            <a:r>
              <a:rPr lang="en-US" altLang="zh-CN" sz="1400" i="1" spc="110" dirty="0">
                <a:solidFill>
                  <a:srgbClr val="000000"/>
                </a:solidFill>
              </a:rPr>
              <a:t>A.I.R.</a:t>
            </a:r>
            <a:r>
              <a:rPr lang="zh-CN" altLang="en-US" sz="1400" i="1" spc="110" dirty="0">
                <a:solidFill>
                  <a:srgbClr val="000000"/>
                </a:solidFill>
              </a:rPr>
              <a:t>创新实验室</a:t>
            </a:r>
            <a:endParaRPr lang="zh-CN" altLang="en-US" sz="1400" spc="11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6E3A58-C37C-DA78-3931-6BA4064C3BF0}"/>
              </a:ext>
            </a:extLst>
          </p:cNvPr>
          <p:cNvSpPr txBox="1"/>
          <p:nvPr/>
        </p:nvSpPr>
        <p:spPr>
          <a:xfrm>
            <a:off x="994629" y="2067007"/>
            <a:ext cx="740585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变量是存储数据的命名空间，使用前必须先定义：</a:t>
            </a:r>
          </a:p>
          <a:p>
            <a:r>
              <a:rPr lang="en-US" altLang="zh-CN" sz="2400" dirty="0"/>
              <a:t>int age = 20;</a:t>
            </a:r>
          </a:p>
          <a:p>
            <a:r>
              <a:rPr lang="en-US" altLang="zh-CN" sz="2400" dirty="0"/>
              <a:t>float height = 1.75;</a:t>
            </a:r>
          </a:p>
          <a:p>
            <a:r>
              <a:rPr lang="zh-CN" altLang="en-US" sz="2400" dirty="0"/>
              <a:t>变量可多次赋值，后一次赋值覆盖前一次。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2DB10C-8D8C-6E80-7D95-781176A69F0F}"/>
              </a:ext>
            </a:extLst>
          </p:cNvPr>
          <p:cNvSpPr txBox="1"/>
          <p:nvPr/>
        </p:nvSpPr>
        <p:spPr>
          <a:xfrm>
            <a:off x="994629" y="3941172"/>
            <a:ext cx="82463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dirty="0"/>
              <a:t>常量的值在程序运行中不能改变。</a:t>
            </a:r>
          </a:p>
          <a:p>
            <a:pPr>
              <a:buNone/>
            </a:pPr>
            <a:r>
              <a:rPr lang="zh-CN" altLang="en-US" sz="2400" b="1" dirty="0"/>
              <a:t>方式一：使用 </a:t>
            </a:r>
            <a:r>
              <a:rPr lang="en-US" altLang="zh-CN" sz="2400" b="1" dirty="0">
                <a:latin typeface="Courier New" panose="02070309020205020404" pitchFamily="49" charset="0"/>
              </a:rPr>
              <a:t>#define</a:t>
            </a:r>
            <a:endParaRPr lang="en-US" altLang="zh-CN" sz="2400" b="1" dirty="0"/>
          </a:p>
          <a:p>
            <a:pPr rtl="0">
              <a:buNone/>
            </a:pPr>
            <a:r>
              <a:rPr lang="en-US" altLang="zh-CN" sz="2400" dirty="0">
                <a:latin typeface="Courier New" panose="02070309020205020404" pitchFamily="49" charset="0"/>
              </a:rPr>
              <a:t>#define PI 3.14159</a:t>
            </a:r>
          </a:p>
          <a:p>
            <a:pPr>
              <a:buNone/>
            </a:pPr>
            <a:r>
              <a:rPr lang="zh-CN" altLang="en-US" sz="2400" b="1" dirty="0"/>
              <a:t>方式二：使用 </a:t>
            </a:r>
            <a:r>
              <a:rPr lang="en-US" altLang="zh-CN" sz="2400" b="1" dirty="0">
                <a:latin typeface="Courier New" panose="02070309020205020404" pitchFamily="49" charset="0"/>
              </a:rPr>
              <a:t>const</a:t>
            </a:r>
            <a:endParaRPr lang="en-US" altLang="zh-CN" sz="2400" b="1" dirty="0"/>
          </a:p>
          <a:p>
            <a:pPr rtl="0">
              <a:buNone/>
            </a:pPr>
            <a:r>
              <a:rPr lang="en-US" altLang="zh-CN" sz="2400" dirty="0">
                <a:latin typeface="Courier New" panose="02070309020205020404" pitchFamily="49" charset="0"/>
              </a:rPr>
              <a:t>const int MAX = 100;</a:t>
            </a:r>
          </a:p>
        </p:txBody>
      </p:sp>
      <p:sp>
        <p:nvSpPr>
          <p:cNvPr id="3" name="本讲目标：独立创建工程，完成输入、计算与输出">
            <a:extLst>
              <a:ext uri="{FF2B5EF4-FFF2-40B4-BE49-F238E27FC236}">
                <a16:creationId xmlns:a16="http://schemas.microsoft.com/office/drawing/2014/main" id="{0565FFE6-7234-EC37-5B94-F0FA7D6B53BA}"/>
              </a:ext>
            </a:extLst>
          </p:cNvPr>
          <p:cNvSpPr>
            <a:spLocks noGrp="1"/>
          </p:cNvSpPr>
          <p:nvPr/>
        </p:nvSpPr>
        <p:spPr>
          <a:xfrm>
            <a:off x="904875" y="1419225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2100" b="1" dirty="0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变量和常量的存储空间：</a:t>
            </a:r>
            <a:endParaRPr sz="2100" b="1" dirty="0">
              <a:solidFill>
                <a:srgbClr val="084A9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网chenying0907出品 24"/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组合 15"/>
          <p:cNvGrpSpPr/>
          <p:nvPr/>
        </p:nvGrpSpPr>
        <p:grpSpPr>
          <a:xfrm>
            <a:off x="422340" y="200268"/>
            <a:ext cx="4475634" cy="974838"/>
            <a:chOff x="422340" y="200268"/>
            <a:chExt cx="4475634" cy="974838"/>
          </a:xfrm>
        </p:grpSpPr>
        <p:grpSp>
          <p:nvGrpSpPr>
            <p:cNvPr id="4" name="组合 16"/>
            <p:cNvGrpSpPr/>
            <p:nvPr userDrawn="1"/>
          </p:nvGrpSpPr>
          <p:grpSpPr>
            <a:xfrm>
              <a:off x="994629" y="420402"/>
              <a:ext cx="3903345" cy="754704"/>
              <a:chOff x="994629" y="420402"/>
              <a:chExt cx="3903345" cy="754704"/>
            </a:xfrm>
          </p:grpSpPr>
          <p:sp>
            <p:nvSpPr>
              <p:cNvPr id="5" name="文本框 26"/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6" name="文本框 24"/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04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8" name="图片 8" descr="upload_159476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9" name="环境配置：编辑器与编译器">
            <a:extLst>
              <a:ext uri="{FF2B5EF4-FFF2-40B4-BE49-F238E27FC236}">
                <a16:creationId xmlns:a16="http://schemas.microsoft.com/office/drawing/2014/main" id="{43BE5389-BB3A-45E8-A11E-7AC431E18511}"/>
              </a:ext>
            </a:extLst>
          </p:cNvPr>
          <p:cNvSpPr>
            <a:spLocks noGrp="1"/>
          </p:cNvSpPr>
          <p:nvPr/>
        </p:nvSpPr>
        <p:spPr>
          <a:xfrm>
            <a:off x="1428750" y="400050"/>
            <a:ext cx="700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环境配置：编辑器与编译器</a:t>
            </a:r>
          </a:p>
        </p:txBody>
      </p:sp>
      <p:sp>
        <p:nvSpPr>
          <p:cNvPr id="10" name="哈理工 A.I.R. 创新实验室">
            <a:extLst>
              <a:ext uri="{FF2B5EF4-FFF2-40B4-BE49-F238E27FC236}">
                <a16:creationId xmlns:a16="http://schemas.microsoft.com/office/drawing/2014/main" id="{78279B84-0430-454C-BA7F-15DA0F2F7959}"/>
              </a:ext>
            </a:extLst>
          </p:cNvPr>
          <p:cNvSpPr>
            <a:spLocks noGrp="1"/>
          </p:cNvSpPr>
          <p:nvPr/>
        </p:nvSpPr>
        <p:spPr>
          <a:xfrm>
            <a:off x="8991600" y="704850"/>
            <a:ext cx="2305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哈理工 A.I.R. 创新实验室</a:t>
            </a:r>
          </a:p>
        </p:txBody>
      </p:sp>
      <p:sp>
        <p:nvSpPr>
          <p:cNvPr id="11" name="本讲目标：独立创建工程，完成输入、计算与输出">
            <a:extLst>
              <a:ext uri="{FF2B5EF4-FFF2-40B4-BE49-F238E27FC236}">
                <a16:creationId xmlns:a16="http://schemas.microsoft.com/office/drawing/2014/main" id="{DAE2AF19-DE53-4CB4-B167-1E7C602459B5}"/>
              </a:ext>
            </a:extLst>
          </p:cNvPr>
          <p:cNvSpPr>
            <a:spLocks noGrp="1"/>
          </p:cNvSpPr>
          <p:nvPr/>
        </p:nvSpPr>
        <p:spPr>
          <a:xfrm>
            <a:off x="904875" y="1419225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sz="2100" b="1" dirty="0" err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Vscode</a:t>
            </a:r>
            <a:r>
              <a:rPr lang="zh-CN" altLang="en-US" sz="2100" b="1" dirty="0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配置：</a:t>
            </a:r>
            <a:endParaRPr sz="2100" b="1" dirty="0">
              <a:solidFill>
                <a:srgbClr val="084A9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1. 安装 VS Code 与 Microsoft">
            <a:extLst>
              <a:ext uri="{FF2B5EF4-FFF2-40B4-BE49-F238E27FC236}">
                <a16:creationId xmlns:a16="http://schemas.microsoft.com/office/drawing/2014/main" id="{602AF3A9-57B4-4D43-8F01-EE8B3D9BDCDC}"/>
              </a:ext>
            </a:extLst>
          </p:cNvPr>
          <p:cNvSpPr>
            <a:spLocks noGrp="1"/>
          </p:cNvSpPr>
          <p:nvPr/>
        </p:nvSpPr>
        <p:spPr>
          <a:xfrm>
            <a:off x="904875" y="201930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dirty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1. </a:t>
            </a:r>
            <a:r>
              <a:rPr sz="2100" b="0" dirty="0" err="1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安装</a:t>
            </a:r>
            <a:r>
              <a:rPr sz="2100" b="0" dirty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 VS Code 与 Microsoft C/C++ </a:t>
            </a:r>
            <a:r>
              <a:rPr sz="2100" b="0" dirty="0" err="1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扩展，用于编写代码</a:t>
            </a:r>
            <a:r>
              <a:rPr sz="2100" b="0" dirty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13" name="2. 安装 MSYS2，在 MSYS2 终端执行工">
            <a:extLst>
              <a:ext uri="{FF2B5EF4-FFF2-40B4-BE49-F238E27FC236}">
                <a16:creationId xmlns:a16="http://schemas.microsoft.com/office/drawing/2014/main" id="{7288FFD9-06C3-42E1-BC7B-E748A5C101FA}"/>
              </a:ext>
            </a:extLst>
          </p:cNvPr>
          <p:cNvSpPr>
            <a:spLocks noGrp="1"/>
          </p:cNvSpPr>
          <p:nvPr/>
        </p:nvSpPr>
        <p:spPr>
          <a:xfrm>
            <a:off x="904875" y="260985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dirty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2. </a:t>
            </a:r>
            <a:r>
              <a:rPr sz="2100" b="0" dirty="0" err="1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安装</a:t>
            </a:r>
            <a:r>
              <a:rPr sz="2100" b="0" dirty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 MSYS2，在 MSYS2 </a:t>
            </a:r>
            <a:r>
              <a:rPr sz="2100" b="0" dirty="0" err="1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终端执行工具链安装命令</a:t>
            </a:r>
            <a:r>
              <a:rPr sz="2100" b="0" dirty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：</a:t>
            </a:r>
          </a:p>
        </p:txBody>
      </p:sp>
      <p:sp>
        <p:nvSpPr>
          <p:cNvPr id="14" name="pacman -S --needed base-d">
            <a:extLst>
              <a:ext uri="{FF2B5EF4-FFF2-40B4-BE49-F238E27FC236}">
                <a16:creationId xmlns:a16="http://schemas.microsoft.com/office/drawing/2014/main" id="{BF9E5184-A4EC-43BA-B0AA-CAAD19F4F989}"/>
              </a:ext>
            </a:extLst>
          </p:cNvPr>
          <p:cNvSpPr>
            <a:spLocks noGrp="1"/>
          </p:cNvSpPr>
          <p:nvPr/>
        </p:nvSpPr>
        <p:spPr>
          <a:xfrm>
            <a:off x="1143000" y="3105150"/>
            <a:ext cx="10191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pacman -S --needed base-devel mingw-w64-ucrt-x86_64-toolchain</a:t>
            </a:r>
          </a:p>
        </p:txBody>
      </p:sp>
      <p:sp>
        <p:nvSpPr>
          <p:cNvPr id="15" name="3. 在 Windows 用户环境变量 Path ">
            <a:extLst>
              <a:ext uri="{FF2B5EF4-FFF2-40B4-BE49-F238E27FC236}">
                <a16:creationId xmlns:a16="http://schemas.microsoft.com/office/drawing/2014/main" id="{D1142B9A-C0CE-4972-BAD9-75291952203C}"/>
              </a:ext>
            </a:extLst>
          </p:cNvPr>
          <p:cNvSpPr>
            <a:spLocks noGrp="1"/>
          </p:cNvSpPr>
          <p:nvPr/>
        </p:nvSpPr>
        <p:spPr>
          <a:xfrm>
            <a:off x="904875" y="369570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3. 在 Windows 用户环境变量 Path 中添加实际的 bin 目录：</a:t>
            </a:r>
          </a:p>
        </p:txBody>
      </p:sp>
      <p:sp>
        <p:nvSpPr>
          <p:cNvPr id="16" name="C:\msys64\ucrt64\bin">
            <a:extLst>
              <a:ext uri="{FF2B5EF4-FFF2-40B4-BE49-F238E27FC236}">
                <a16:creationId xmlns:a16="http://schemas.microsoft.com/office/drawing/2014/main" id="{51997BB3-C460-43B6-8D8D-2A4ECE3D1BBE}"/>
              </a:ext>
            </a:extLst>
          </p:cNvPr>
          <p:cNvSpPr>
            <a:spLocks noGrp="1"/>
          </p:cNvSpPr>
          <p:nvPr/>
        </p:nvSpPr>
        <p:spPr>
          <a:xfrm>
            <a:off x="1143000" y="4191000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C:\msys64\ucrt64\bin</a:t>
            </a:r>
          </a:p>
        </p:txBody>
      </p:sp>
      <p:sp>
        <p:nvSpPr>
          <p:cNvPr id="17" name="4. 重启 VS Code，打开新终端，执行 gc">
            <a:extLst>
              <a:ext uri="{FF2B5EF4-FFF2-40B4-BE49-F238E27FC236}">
                <a16:creationId xmlns:a16="http://schemas.microsoft.com/office/drawing/2014/main" id="{53AE59EF-D0A7-460B-B497-F58FA4AB7F84}"/>
              </a:ext>
            </a:extLst>
          </p:cNvPr>
          <p:cNvSpPr>
            <a:spLocks noGrp="1"/>
          </p:cNvSpPr>
          <p:nvPr/>
        </p:nvSpPr>
        <p:spPr>
          <a:xfrm>
            <a:off x="904875" y="476250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4. 重启 VS Code，打开新终端，执行 gcc --version。</a:t>
            </a:r>
          </a:p>
        </p:txBody>
      </p:sp>
    </p:spTree>
    <p:extLst>
      <p:ext uri="{BB962C8B-B14F-4D97-AF65-F5344CB8AC3E}">
        <p14:creationId xmlns:p14="http://schemas.microsoft.com/office/powerpoint/2010/main" val="337805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网chenying0907出品 24"/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组合 15"/>
          <p:cNvGrpSpPr/>
          <p:nvPr/>
        </p:nvGrpSpPr>
        <p:grpSpPr>
          <a:xfrm>
            <a:off x="422340" y="200268"/>
            <a:ext cx="4475634" cy="974838"/>
            <a:chOff x="422340" y="200268"/>
            <a:chExt cx="4475634" cy="974838"/>
          </a:xfrm>
        </p:grpSpPr>
        <p:grpSp>
          <p:nvGrpSpPr>
            <p:cNvPr id="4" name="组合 16"/>
            <p:cNvGrpSpPr/>
            <p:nvPr userDrawn="1"/>
          </p:nvGrpSpPr>
          <p:grpSpPr>
            <a:xfrm>
              <a:off x="994629" y="420402"/>
              <a:ext cx="3903345" cy="754704"/>
              <a:chOff x="994629" y="420402"/>
              <a:chExt cx="3903345" cy="754704"/>
            </a:xfrm>
          </p:grpSpPr>
          <p:sp>
            <p:nvSpPr>
              <p:cNvPr id="5" name="文本框 26"/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6" name="文本框 24"/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04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8" name="图片 8" descr="upload_159476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9" name="创建工程与第一次运行">
            <a:extLst>
              <a:ext uri="{FF2B5EF4-FFF2-40B4-BE49-F238E27FC236}">
                <a16:creationId xmlns:a16="http://schemas.microsoft.com/office/drawing/2014/main" id="{ECA7C095-2123-431F-8517-710DB80CC856}"/>
              </a:ext>
            </a:extLst>
          </p:cNvPr>
          <p:cNvSpPr>
            <a:spLocks noGrp="1"/>
          </p:cNvSpPr>
          <p:nvPr/>
        </p:nvSpPr>
        <p:spPr>
          <a:xfrm>
            <a:off x="1428750" y="400050"/>
            <a:ext cx="700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创建工程与第一次运行</a:t>
            </a:r>
          </a:p>
        </p:txBody>
      </p:sp>
      <p:sp>
        <p:nvSpPr>
          <p:cNvPr id="10" name="哈理工 A.I.R. 创新实验室">
            <a:extLst>
              <a:ext uri="{FF2B5EF4-FFF2-40B4-BE49-F238E27FC236}">
                <a16:creationId xmlns:a16="http://schemas.microsoft.com/office/drawing/2014/main" id="{CDC98FB0-1BDD-49FD-9F9E-DDD35F8001C6}"/>
              </a:ext>
            </a:extLst>
          </p:cNvPr>
          <p:cNvSpPr>
            <a:spLocks noGrp="1"/>
          </p:cNvSpPr>
          <p:nvPr/>
        </p:nvSpPr>
        <p:spPr>
          <a:xfrm>
            <a:off x="8991600" y="704850"/>
            <a:ext cx="2305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哈理工 A.I.R. 创新实验室</a:t>
            </a:r>
          </a:p>
        </p:txBody>
      </p:sp>
      <p:sp>
        <p:nvSpPr>
          <p:cNvPr id="11" name="工程操作">
            <a:extLst>
              <a:ext uri="{FF2B5EF4-FFF2-40B4-BE49-F238E27FC236}">
                <a16:creationId xmlns:a16="http://schemas.microsoft.com/office/drawing/2014/main" id="{CC0DEFFA-082C-4C45-BEF0-076137D10A02}"/>
              </a:ext>
            </a:extLst>
          </p:cNvPr>
          <p:cNvSpPr>
            <a:spLocks noGrp="1"/>
          </p:cNvSpPr>
          <p:nvPr/>
        </p:nvSpPr>
        <p:spPr>
          <a:xfrm>
            <a:off x="904875" y="1466850"/>
            <a:ext cx="461962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工程操作</a:t>
            </a:r>
          </a:p>
        </p:txBody>
      </p:sp>
      <p:sp>
        <p:nvSpPr>
          <p:cNvPr id="12" name="1. 新建文件夹 c_lesson01。&#10;2. 用">
            <a:extLst>
              <a:ext uri="{FF2B5EF4-FFF2-40B4-BE49-F238E27FC236}">
                <a16:creationId xmlns:a16="http://schemas.microsoft.com/office/drawing/2014/main" id="{C61F06DB-0F6D-4D50-8F0C-C9CA4FAD3D21}"/>
              </a:ext>
            </a:extLst>
          </p:cNvPr>
          <p:cNvSpPr>
            <a:spLocks noGrp="1"/>
          </p:cNvSpPr>
          <p:nvPr/>
        </p:nvSpPr>
        <p:spPr>
          <a:xfrm>
            <a:off x="904875" y="2000250"/>
            <a:ext cx="5000625" cy="2209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1. 新建文件夹 c_lesson01。</a:t>
            </a:r>
          </a:p>
          <a:p>
            <a:pPr>
              <a:def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2. 用 VS Code 打开该文件夹。</a:t>
            </a:r>
          </a:p>
          <a:p>
            <a:pPr>
              <a:def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3. 新建 main.c，输入右侧代码。</a:t>
            </a:r>
          </a:p>
          <a:p>
            <a:pPr>
              <a:def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4. 保存文件，打开集成终端。</a:t>
            </a:r>
          </a:p>
        </p:txBody>
      </p:sp>
      <p:sp>
        <p:nvSpPr>
          <p:cNvPr id="13" name="main.c">
            <a:extLst>
              <a:ext uri="{FF2B5EF4-FFF2-40B4-BE49-F238E27FC236}">
                <a16:creationId xmlns:a16="http://schemas.microsoft.com/office/drawing/2014/main" id="{4443E2F5-E717-4703-BB44-5ED336875F6E}"/>
              </a:ext>
            </a:extLst>
          </p:cNvPr>
          <p:cNvSpPr>
            <a:spLocks noGrp="1"/>
          </p:cNvSpPr>
          <p:nvPr/>
        </p:nvSpPr>
        <p:spPr>
          <a:xfrm>
            <a:off x="6381750" y="1466850"/>
            <a:ext cx="471487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main.c</a:t>
            </a:r>
          </a:p>
        </p:txBody>
      </p:sp>
      <p:sp>
        <p:nvSpPr>
          <p:cNvPr id="14" name="#include &lt;stdio.h&gt;&#10;int ma">
            <a:extLst>
              <a:ext uri="{FF2B5EF4-FFF2-40B4-BE49-F238E27FC236}">
                <a16:creationId xmlns:a16="http://schemas.microsoft.com/office/drawing/2014/main" id="{E503642A-E084-4FA8-AE68-2664D8AA2520}"/>
              </a:ext>
            </a:extLst>
          </p:cNvPr>
          <p:cNvSpPr>
            <a:spLocks noGrp="1"/>
          </p:cNvSpPr>
          <p:nvPr/>
        </p:nvSpPr>
        <p:spPr>
          <a:xfrm>
            <a:off x="6381750" y="2000250"/>
            <a:ext cx="4857750" cy="2457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#include &lt;stdio.h&gt;</a:t>
            </a:r>
          </a:p>
          <a:p>
            <a:pPr>
              <a:def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int main(void)</a:t>
            </a:r>
          </a:p>
          <a:p>
            <a:pPr>
              <a:def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>
            <a:pPr>
              <a:def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    printf("Hello, C!\n");</a:t>
            </a:r>
          </a:p>
          <a:p>
            <a:pPr>
              <a:def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>
            <a:pPr>
              <a:def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045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网chenying0907出品 24"/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组合 15"/>
          <p:cNvGrpSpPr/>
          <p:nvPr/>
        </p:nvGrpSpPr>
        <p:grpSpPr>
          <a:xfrm>
            <a:off x="422340" y="200268"/>
            <a:ext cx="4475634" cy="974838"/>
            <a:chOff x="422340" y="200268"/>
            <a:chExt cx="4475634" cy="974838"/>
          </a:xfrm>
        </p:grpSpPr>
        <p:grpSp>
          <p:nvGrpSpPr>
            <p:cNvPr id="4" name="组合 16"/>
            <p:cNvGrpSpPr/>
            <p:nvPr userDrawn="1"/>
          </p:nvGrpSpPr>
          <p:grpSpPr>
            <a:xfrm>
              <a:off x="994629" y="420402"/>
              <a:ext cx="3903345" cy="754704"/>
              <a:chOff x="994629" y="420402"/>
              <a:chExt cx="3903345" cy="754704"/>
            </a:xfrm>
          </p:grpSpPr>
          <p:sp>
            <p:nvSpPr>
              <p:cNvPr id="5" name="文本框 26"/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6" name="文本框 24"/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04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8" name="图片 8" descr="upload_159476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9" name="C 程序的编译与运行">
            <a:extLst>
              <a:ext uri="{FF2B5EF4-FFF2-40B4-BE49-F238E27FC236}">
                <a16:creationId xmlns:a16="http://schemas.microsoft.com/office/drawing/2014/main" id="{21BDB44D-C13B-4420-90AD-184BD9ABEA51}"/>
              </a:ext>
            </a:extLst>
          </p:cNvPr>
          <p:cNvSpPr>
            <a:spLocks noGrp="1"/>
          </p:cNvSpPr>
          <p:nvPr/>
        </p:nvSpPr>
        <p:spPr>
          <a:xfrm>
            <a:off x="1428750" y="400050"/>
            <a:ext cx="700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C 程序的编译与运行</a:t>
            </a:r>
          </a:p>
        </p:txBody>
      </p:sp>
      <p:sp>
        <p:nvSpPr>
          <p:cNvPr id="10" name="哈理工 A.I.R. 创新实验室">
            <a:extLst>
              <a:ext uri="{FF2B5EF4-FFF2-40B4-BE49-F238E27FC236}">
                <a16:creationId xmlns:a16="http://schemas.microsoft.com/office/drawing/2014/main" id="{20A51BDB-F21B-4FA1-BB19-29442B678232}"/>
              </a:ext>
            </a:extLst>
          </p:cNvPr>
          <p:cNvSpPr>
            <a:spLocks noGrp="1"/>
          </p:cNvSpPr>
          <p:nvPr/>
        </p:nvSpPr>
        <p:spPr>
          <a:xfrm>
            <a:off x="8991600" y="704850"/>
            <a:ext cx="2305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哈理工 A.I.R. 创新实验室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904875" y="1504950"/>
          <a:ext cx="10382250" cy="2990850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17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主要作用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常见文件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预处理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展开 #include 和 #define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main.c / main.i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编译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检查语法，生成汇编代码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main.s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汇编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生成目标文件中的机器代码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main.o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链接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连接目标文件和库，生成程序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main.exe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编译命令通常一次完成上面四步，中间文件默认不保留。">
            <a:extLst>
              <a:ext uri="{FF2B5EF4-FFF2-40B4-BE49-F238E27FC236}">
                <a16:creationId xmlns:a16="http://schemas.microsoft.com/office/drawing/2014/main" id="{71EF7E9D-8B82-4AA9-A2FD-1ECB0A32D6AA}"/>
              </a:ext>
            </a:extLst>
          </p:cNvPr>
          <p:cNvSpPr>
            <a:spLocks noGrp="1"/>
          </p:cNvSpPr>
          <p:nvPr/>
        </p:nvSpPr>
        <p:spPr>
          <a:xfrm>
            <a:off x="904875" y="4714875"/>
            <a:ext cx="10382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编译命令通常一次完成上面四步，中间文件默认不保留。</a:t>
            </a:r>
          </a:p>
        </p:txBody>
      </p:sp>
      <p:sp>
        <p:nvSpPr>
          <p:cNvPr id="13" name="gcc main.c -o main.exe">
            <a:extLst>
              <a:ext uri="{FF2B5EF4-FFF2-40B4-BE49-F238E27FC236}">
                <a16:creationId xmlns:a16="http://schemas.microsoft.com/office/drawing/2014/main" id="{60503E75-2902-4A01-9D8D-F46041CE28AD}"/>
              </a:ext>
            </a:extLst>
          </p:cNvPr>
          <p:cNvSpPr>
            <a:spLocks noGrp="1"/>
          </p:cNvSpPr>
          <p:nvPr/>
        </p:nvSpPr>
        <p:spPr>
          <a:xfrm>
            <a:off x="904875" y="5257800"/>
            <a:ext cx="52863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gcc main.c -o main.exe</a:t>
            </a:r>
          </a:p>
        </p:txBody>
      </p:sp>
      <p:sp>
        <p:nvSpPr>
          <p:cNvPr id="14" name="运行：操作系统加载程序并执行。">
            <a:extLst>
              <a:ext uri="{FF2B5EF4-FFF2-40B4-BE49-F238E27FC236}">
                <a16:creationId xmlns:a16="http://schemas.microsoft.com/office/drawing/2014/main" id="{11964E91-4D31-452D-A934-C1D9AA41BEF9}"/>
              </a:ext>
            </a:extLst>
          </p:cNvPr>
          <p:cNvSpPr>
            <a:spLocks noGrp="1"/>
          </p:cNvSpPr>
          <p:nvPr/>
        </p:nvSpPr>
        <p:spPr>
          <a:xfrm>
            <a:off x="5905500" y="5257800"/>
            <a:ext cx="538162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运行：操作系统加载程序并执行。</a:t>
            </a:r>
          </a:p>
        </p:txBody>
      </p:sp>
    </p:spTree>
    <p:extLst>
      <p:ext uri="{BB962C8B-B14F-4D97-AF65-F5344CB8AC3E}">
        <p14:creationId xmlns:p14="http://schemas.microsoft.com/office/powerpoint/2010/main" val="1018928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C1849-24E4-C5E9-09BA-4AB38EF91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网chenying0907出品 24">
            <a:extLst>
              <a:ext uri="{FF2B5EF4-FFF2-40B4-BE49-F238E27FC236}">
                <a16:creationId xmlns:a16="http://schemas.microsoft.com/office/drawing/2014/main" id="{C45A1E06-EE37-89B9-E7E8-30253DEEA231}"/>
              </a:ext>
            </a:extLst>
          </p:cNvPr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23DC5FE5-D6E3-5D4E-C370-12925B616631}"/>
              </a:ext>
            </a:extLst>
          </p:cNvPr>
          <p:cNvGrpSpPr/>
          <p:nvPr/>
        </p:nvGrpSpPr>
        <p:grpSpPr>
          <a:xfrm>
            <a:off x="422340" y="200268"/>
            <a:ext cx="4475634" cy="974838"/>
            <a:chOff x="422340" y="200268"/>
            <a:chExt cx="4475634" cy="974838"/>
          </a:xfrm>
        </p:grpSpPr>
        <p:grpSp>
          <p:nvGrpSpPr>
            <p:cNvPr id="4" name="组合 16">
              <a:extLst>
                <a:ext uri="{FF2B5EF4-FFF2-40B4-BE49-F238E27FC236}">
                  <a16:creationId xmlns:a16="http://schemas.microsoft.com/office/drawing/2014/main" id="{542CA604-EEEE-BED2-6DC6-A5C850F8DF7C}"/>
                </a:ext>
              </a:extLst>
            </p:cNvPr>
            <p:cNvGrpSpPr/>
            <p:nvPr userDrawn="1"/>
          </p:nvGrpSpPr>
          <p:grpSpPr>
            <a:xfrm>
              <a:off x="994629" y="420402"/>
              <a:ext cx="3903345" cy="754704"/>
              <a:chOff x="994629" y="420402"/>
              <a:chExt cx="3903345" cy="754704"/>
            </a:xfrm>
          </p:grpSpPr>
          <p:sp>
            <p:nvSpPr>
              <p:cNvPr id="5" name="文本框 26">
                <a:extLst>
                  <a:ext uri="{FF2B5EF4-FFF2-40B4-BE49-F238E27FC236}">
                    <a16:creationId xmlns:a16="http://schemas.microsoft.com/office/drawing/2014/main" id="{465F4AFF-A680-E4D3-DB8F-222293A37957}"/>
                  </a:ext>
                </a:extLst>
              </p:cNvPr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6" name="文本框 24">
              <a:extLst>
                <a:ext uri="{FF2B5EF4-FFF2-40B4-BE49-F238E27FC236}">
                  <a16:creationId xmlns:a16="http://schemas.microsoft.com/office/drawing/2014/main" id="{17526451-38E5-45E5-D299-965DFA3C0406}"/>
                </a:ext>
              </a:extLst>
            </p:cNvPr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04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>
            <a:extLst>
              <a:ext uri="{FF2B5EF4-FFF2-40B4-BE49-F238E27FC236}">
                <a16:creationId xmlns:a16="http://schemas.microsoft.com/office/drawing/2014/main" id="{55BE5F97-1818-1B89-36A0-C42B2094FFD4}"/>
              </a:ext>
            </a:extLst>
          </p:cNvPr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8" name="图片 8" descr="upload_159476022">
            <a:extLst>
              <a:ext uri="{FF2B5EF4-FFF2-40B4-BE49-F238E27FC236}">
                <a16:creationId xmlns:a16="http://schemas.microsoft.com/office/drawing/2014/main" id="{19E2361A-389C-6C80-9B35-05FD93A83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9" name="算术、赋值与运算顺序">
            <a:extLst>
              <a:ext uri="{FF2B5EF4-FFF2-40B4-BE49-F238E27FC236}">
                <a16:creationId xmlns:a16="http://schemas.microsoft.com/office/drawing/2014/main" id="{736FCE7F-BDA7-4F6D-B8D0-155D503A3BF6}"/>
              </a:ext>
            </a:extLst>
          </p:cNvPr>
          <p:cNvSpPr>
            <a:spLocks noGrp="1"/>
          </p:cNvSpPr>
          <p:nvPr/>
        </p:nvSpPr>
        <p:spPr>
          <a:xfrm>
            <a:off x="1428750" y="400050"/>
            <a:ext cx="700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算术、赋值与运算顺序</a:t>
            </a:r>
          </a:p>
        </p:txBody>
      </p:sp>
      <p:sp>
        <p:nvSpPr>
          <p:cNvPr id="10" name="哈理工 A.I.R. 创新实验室">
            <a:extLst>
              <a:ext uri="{FF2B5EF4-FFF2-40B4-BE49-F238E27FC236}">
                <a16:creationId xmlns:a16="http://schemas.microsoft.com/office/drawing/2014/main" id="{70B8C2C0-5F71-4382-BB2E-58A79383BBD6}"/>
              </a:ext>
            </a:extLst>
          </p:cNvPr>
          <p:cNvSpPr>
            <a:spLocks noGrp="1"/>
          </p:cNvSpPr>
          <p:nvPr/>
        </p:nvSpPr>
        <p:spPr>
          <a:xfrm>
            <a:off x="8991600" y="704850"/>
            <a:ext cx="2305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哈理工 A.I.R. 创新实验室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904875" y="1495425"/>
          <a:ext cx="10382250" cy="2257424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435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运算符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含义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示例与结果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3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  - 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加、减、乘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 + 2 得 9，7 * 2 得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3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除法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 / 2 得 3，7.0 / 2 得 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3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整数取余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7 % 2 得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int count = 3;&#10;count = co">
            <a:extLst>
              <a:ext uri="{FF2B5EF4-FFF2-40B4-BE49-F238E27FC236}">
                <a16:creationId xmlns:a16="http://schemas.microsoft.com/office/drawing/2014/main" id="{30FA1CF8-C5E7-462A-8010-14D6DE6D51E3}"/>
              </a:ext>
            </a:extLst>
          </p:cNvPr>
          <p:cNvSpPr>
            <a:spLocks noGrp="1"/>
          </p:cNvSpPr>
          <p:nvPr/>
        </p:nvSpPr>
        <p:spPr>
          <a:xfrm>
            <a:off x="904875" y="4000500"/>
            <a:ext cx="7334250" cy="1257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int count = 3;</a:t>
            </a:r>
          </a:p>
          <a:p>
            <a:pPr>
              <a:def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count = count + 2;  // count is 5</a:t>
            </a:r>
          </a:p>
          <a:p>
            <a:pPr>
              <a:def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count += 2;        // count is 7</a:t>
            </a:r>
          </a:p>
        </p:txBody>
      </p:sp>
      <p:sp>
        <p:nvSpPr>
          <p:cNvPr id="13" name="= 表示赋值&#10;+= 表示加后再赋值">
            <a:extLst>
              <a:ext uri="{FF2B5EF4-FFF2-40B4-BE49-F238E27FC236}">
                <a16:creationId xmlns:a16="http://schemas.microsoft.com/office/drawing/2014/main" id="{C3D44CD8-4F59-4438-820A-3A2F0FC58361}"/>
              </a:ext>
            </a:extLst>
          </p:cNvPr>
          <p:cNvSpPr>
            <a:spLocks noGrp="1"/>
          </p:cNvSpPr>
          <p:nvPr/>
        </p:nvSpPr>
        <p:spPr>
          <a:xfrm>
            <a:off x="8477250" y="4029075"/>
            <a:ext cx="276225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= 表示赋值</a:t>
            </a:r>
          </a:p>
          <a:p>
            <a:pPr>
              <a:defRPr sz="2025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+= 表示加后再赋值</a:t>
            </a:r>
          </a:p>
        </p:txBody>
      </p:sp>
      <p:sp>
        <p:nvSpPr>
          <p:cNvPr id="14" name="先算括号，再算乘除取余，最后算加减；同级算术运算从">
            <a:extLst>
              <a:ext uri="{FF2B5EF4-FFF2-40B4-BE49-F238E27FC236}">
                <a16:creationId xmlns:a16="http://schemas.microsoft.com/office/drawing/2014/main" id="{8346C966-AEC6-4740-9202-8DF3A4ED4918}"/>
              </a:ext>
            </a:extLst>
          </p:cNvPr>
          <p:cNvSpPr>
            <a:spLocks noGrp="1"/>
          </p:cNvSpPr>
          <p:nvPr/>
        </p:nvSpPr>
        <p:spPr>
          <a:xfrm>
            <a:off x="904875" y="5429250"/>
            <a:ext cx="10382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先算括号，再算乘除取余，最后算加减；同级算术运算从左到右。</a:t>
            </a:r>
          </a:p>
        </p:txBody>
      </p:sp>
      <p:sp>
        <p:nvSpPr>
          <p:cNvPr id="15" name="随堂练习：2 + 3 * 4 与 (2 + 3) ">
            <a:extLst>
              <a:ext uri="{FF2B5EF4-FFF2-40B4-BE49-F238E27FC236}">
                <a16:creationId xmlns:a16="http://schemas.microsoft.com/office/drawing/2014/main" id="{44279993-036D-4305-8A03-9969D297F2C6}"/>
              </a:ext>
            </a:extLst>
          </p:cNvPr>
          <p:cNvSpPr>
            <a:spLocks noGrp="1"/>
          </p:cNvSpPr>
          <p:nvPr/>
        </p:nvSpPr>
        <p:spPr>
          <a:xfrm>
            <a:off x="904875" y="5934075"/>
            <a:ext cx="10382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随堂练习：2 + 3 * 4 与 (2 + 3) * 4 的结果各是多少？</a:t>
            </a:r>
          </a:p>
        </p:txBody>
      </p:sp>
    </p:spTree>
    <p:extLst>
      <p:ext uri="{BB962C8B-B14F-4D97-AF65-F5344CB8AC3E}">
        <p14:creationId xmlns:p14="http://schemas.microsoft.com/office/powerpoint/2010/main" val="879709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5E00B-18C4-0237-EB73-53F65B1E8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网chenying0907出品 24">
            <a:extLst>
              <a:ext uri="{FF2B5EF4-FFF2-40B4-BE49-F238E27FC236}">
                <a16:creationId xmlns:a16="http://schemas.microsoft.com/office/drawing/2014/main" id="{A59A4D3A-C6D6-486E-AFC4-095DC760DE15}"/>
              </a:ext>
            </a:extLst>
          </p:cNvPr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D2F64F17-F1B9-8F9F-BBB1-661C9C863699}"/>
              </a:ext>
            </a:extLst>
          </p:cNvPr>
          <p:cNvGrpSpPr/>
          <p:nvPr/>
        </p:nvGrpSpPr>
        <p:grpSpPr>
          <a:xfrm>
            <a:off x="422340" y="200268"/>
            <a:ext cx="4475634" cy="974838"/>
            <a:chOff x="422340" y="200268"/>
            <a:chExt cx="4475634" cy="974838"/>
          </a:xfrm>
        </p:grpSpPr>
        <p:grpSp>
          <p:nvGrpSpPr>
            <p:cNvPr id="4" name="组合 16">
              <a:extLst>
                <a:ext uri="{FF2B5EF4-FFF2-40B4-BE49-F238E27FC236}">
                  <a16:creationId xmlns:a16="http://schemas.microsoft.com/office/drawing/2014/main" id="{39544969-A681-0BFC-4D3F-91E5977BB3B1}"/>
                </a:ext>
              </a:extLst>
            </p:cNvPr>
            <p:cNvGrpSpPr/>
            <p:nvPr userDrawn="1"/>
          </p:nvGrpSpPr>
          <p:grpSpPr>
            <a:xfrm>
              <a:off x="994629" y="420402"/>
              <a:ext cx="3903345" cy="754704"/>
              <a:chOff x="994629" y="420402"/>
              <a:chExt cx="3903345" cy="754704"/>
            </a:xfrm>
          </p:grpSpPr>
          <p:sp>
            <p:nvSpPr>
              <p:cNvPr id="5" name="文本框 26">
                <a:extLst>
                  <a:ext uri="{FF2B5EF4-FFF2-40B4-BE49-F238E27FC236}">
                    <a16:creationId xmlns:a16="http://schemas.microsoft.com/office/drawing/2014/main" id="{9C2EA4D1-74AE-791A-7827-C9B49067F5E5}"/>
                  </a:ext>
                </a:extLst>
              </p:cNvPr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6" name="文本框 24">
              <a:extLst>
                <a:ext uri="{FF2B5EF4-FFF2-40B4-BE49-F238E27FC236}">
                  <a16:creationId xmlns:a16="http://schemas.microsoft.com/office/drawing/2014/main" id="{18A8AFC9-352A-36FF-08D7-32B6D874F8FF}"/>
                </a:ext>
              </a:extLst>
            </p:cNvPr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04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>
            <a:extLst>
              <a:ext uri="{FF2B5EF4-FFF2-40B4-BE49-F238E27FC236}">
                <a16:creationId xmlns:a16="http://schemas.microsoft.com/office/drawing/2014/main" id="{03F85AA8-4E17-7B9C-5C3C-EF00296DBF54}"/>
              </a:ext>
            </a:extLst>
          </p:cNvPr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8" name="图片 8" descr="upload_159476022">
            <a:extLst>
              <a:ext uri="{FF2B5EF4-FFF2-40B4-BE49-F238E27FC236}">
                <a16:creationId xmlns:a16="http://schemas.microsoft.com/office/drawing/2014/main" id="{30C701A6-C1CB-84C6-B6A9-E00C2CAF7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9" name="关系与逻辑运算">
            <a:extLst>
              <a:ext uri="{FF2B5EF4-FFF2-40B4-BE49-F238E27FC236}">
                <a16:creationId xmlns:a16="http://schemas.microsoft.com/office/drawing/2014/main" id="{E60A1F73-F04A-436C-8A6E-978B5C979FF0}"/>
              </a:ext>
            </a:extLst>
          </p:cNvPr>
          <p:cNvSpPr>
            <a:spLocks noGrp="1"/>
          </p:cNvSpPr>
          <p:nvPr/>
        </p:nvSpPr>
        <p:spPr>
          <a:xfrm>
            <a:off x="1428750" y="400050"/>
            <a:ext cx="700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关系与逻辑运算</a:t>
            </a:r>
          </a:p>
        </p:txBody>
      </p:sp>
      <p:sp>
        <p:nvSpPr>
          <p:cNvPr id="10" name="哈理工 A.I.R. 创新实验室">
            <a:extLst>
              <a:ext uri="{FF2B5EF4-FFF2-40B4-BE49-F238E27FC236}">
                <a16:creationId xmlns:a16="http://schemas.microsoft.com/office/drawing/2014/main" id="{87C7733E-C105-45C2-A3D3-B5004F61EAAA}"/>
              </a:ext>
            </a:extLst>
          </p:cNvPr>
          <p:cNvSpPr>
            <a:spLocks noGrp="1"/>
          </p:cNvSpPr>
          <p:nvPr/>
        </p:nvSpPr>
        <p:spPr>
          <a:xfrm>
            <a:off x="8991600" y="704850"/>
            <a:ext cx="2305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哈理工 A.I.R. 创新实验室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904875" y="1524000"/>
          <a:ext cx="10382250" cy="2286000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类别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运算符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含义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&gt;  &lt;  &gt;=  &lt;=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大于、小于、大于等于、小于等于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相等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==  !=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等于、不等于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逻辑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&amp;&amp;  ||  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并且、或者、非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0 表示假，非 0 表示真；关系和逻辑运算的结果为">
            <a:extLst>
              <a:ext uri="{FF2B5EF4-FFF2-40B4-BE49-F238E27FC236}">
                <a16:creationId xmlns:a16="http://schemas.microsoft.com/office/drawing/2014/main" id="{E83E4400-A9C5-40C7-B418-F36009819A13}"/>
              </a:ext>
            </a:extLst>
          </p:cNvPr>
          <p:cNvSpPr>
            <a:spLocks noGrp="1"/>
          </p:cNvSpPr>
          <p:nvPr/>
        </p:nvSpPr>
        <p:spPr>
          <a:xfrm>
            <a:off x="904875" y="4010025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0 表示假，非 0 表示真；关系和逻辑运算的结果为 0 或 1</a:t>
            </a:r>
          </a:p>
        </p:txBody>
      </p:sp>
      <p:sp>
        <p:nvSpPr>
          <p:cNvPr id="13" name="int a = 5, b = 2;&#10;a &gt; b  ">
            <a:extLst>
              <a:ext uri="{FF2B5EF4-FFF2-40B4-BE49-F238E27FC236}">
                <a16:creationId xmlns:a16="http://schemas.microsoft.com/office/drawing/2014/main" id="{39F8D08A-9E6A-44AC-BC64-76B0AE2D091D}"/>
              </a:ext>
            </a:extLst>
          </p:cNvPr>
          <p:cNvSpPr>
            <a:spLocks noGrp="1"/>
          </p:cNvSpPr>
          <p:nvPr/>
        </p:nvSpPr>
        <p:spPr>
          <a:xfrm>
            <a:off x="904875" y="4581525"/>
            <a:ext cx="6953250" cy="1504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int a = 5, b = 2;</a:t>
            </a:r>
          </a:p>
          <a:p>
            <a:pPr>
              <a:def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a &gt; b           // 1</a:t>
            </a:r>
          </a:p>
          <a:p>
            <a:pPr>
              <a:def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a == b          // 0</a:t>
            </a:r>
          </a:p>
          <a:p>
            <a:pPr>
              <a:def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(a &gt; b) &amp;&amp; (b &gt; 0)  // 1</a:t>
            </a:r>
          </a:p>
        </p:txBody>
      </p:sp>
      <p:sp>
        <p:nvSpPr>
          <p:cNvPr id="14" name="a = b：把 b 的值赋给 a&#10;a == b：判">
            <a:extLst>
              <a:ext uri="{FF2B5EF4-FFF2-40B4-BE49-F238E27FC236}">
                <a16:creationId xmlns:a16="http://schemas.microsoft.com/office/drawing/2014/main" id="{4E2E7A5D-16C6-4BD1-855E-AADBAA66BEAB}"/>
              </a:ext>
            </a:extLst>
          </p:cNvPr>
          <p:cNvSpPr>
            <a:spLocks noGrp="1"/>
          </p:cNvSpPr>
          <p:nvPr/>
        </p:nvSpPr>
        <p:spPr>
          <a:xfrm>
            <a:off x="7810500" y="4686300"/>
            <a:ext cx="352425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a = b：把 b 的值赋给 a</a:t>
            </a:r>
          </a:p>
          <a:p>
            <a:pPr>
              <a:defRPr sz="2025" b="0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a == b：判断两者是否相等</a:t>
            </a:r>
          </a:p>
        </p:txBody>
      </p:sp>
    </p:spTree>
    <p:extLst>
      <p:ext uri="{BB962C8B-B14F-4D97-AF65-F5344CB8AC3E}">
        <p14:creationId xmlns:p14="http://schemas.microsoft.com/office/powerpoint/2010/main" val="210272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5C13E-1A7A-0ABD-4906-12A1BE4D9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网chenying0907出品 24">
            <a:extLst>
              <a:ext uri="{FF2B5EF4-FFF2-40B4-BE49-F238E27FC236}">
                <a16:creationId xmlns:a16="http://schemas.microsoft.com/office/drawing/2014/main" id="{AFEDA8B9-CC2F-8BEE-3A18-86A97C2FE6CC}"/>
              </a:ext>
            </a:extLst>
          </p:cNvPr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BB699616-FF95-69F7-A8BD-9CDA3510759F}"/>
              </a:ext>
            </a:extLst>
          </p:cNvPr>
          <p:cNvGrpSpPr/>
          <p:nvPr/>
        </p:nvGrpSpPr>
        <p:grpSpPr>
          <a:xfrm>
            <a:off x="422340" y="200268"/>
            <a:ext cx="4475634" cy="974838"/>
            <a:chOff x="422340" y="200268"/>
            <a:chExt cx="4475634" cy="974838"/>
          </a:xfrm>
        </p:grpSpPr>
        <p:grpSp>
          <p:nvGrpSpPr>
            <p:cNvPr id="4" name="组合 16">
              <a:extLst>
                <a:ext uri="{FF2B5EF4-FFF2-40B4-BE49-F238E27FC236}">
                  <a16:creationId xmlns:a16="http://schemas.microsoft.com/office/drawing/2014/main" id="{237DB4D3-4B7A-CB15-1BC9-BCCF04CF2567}"/>
                </a:ext>
              </a:extLst>
            </p:cNvPr>
            <p:cNvGrpSpPr/>
            <p:nvPr userDrawn="1"/>
          </p:nvGrpSpPr>
          <p:grpSpPr>
            <a:xfrm>
              <a:off x="994629" y="420402"/>
              <a:ext cx="3903345" cy="754704"/>
              <a:chOff x="994629" y="420402"/>
              <a:chExt cx="3903345" cy="754704"/>
            </a:xfrm>
          </p:grpSpPr>
          <p:sp>
            <p:nvSpPr>
              <p:cNvPr id="5" name="文本框 26">
                <a:extLst>
                  <a:ext uri="{FF2B5EF4-FFF2-40B4-BE49-F238E27FC236}">
                    <a16:creationId xmlns:a16="http://schemas.microsoft.com/office/drawing/2014/main" id="{AE05FE41-4FAA-C05E-758C-0790C296055F}"/>
                  </a:ext>
                </a:extLst>
              </p:cNvPr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6" name="文本框 24">
              <a:extLst>
                <a:ext uri="{FF2B5EF4-FFF2-40B4-BE49-F238E27FC236}">
                  <a16:creationId xmlns:a16="http://schemas.microsoft.com/office/drawing/2014/main" id="{E5E81B92-E3F9-445A-8B99-630E06E3300B}"/>
                </a:ext>
              </a:extLst>
            </p:cNvPr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04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>
            <a:extLst>
              <a:ext uri="{FF2B5EF4-FFF2-40B4-BE49-F238E27FC236}">
                <a16:creationId xmlns:a16="http://schemas.microsoft.com/office/drawing/2014/main" id="{A0A2900A-A4D3-CC26-5D76-A694C436D9E9}"/>
              </a:ext>
            </a:extLst>
          </p:cNvPr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8" name="图片 8" descr="upload_159476022">
            <a:extLst>
              <a:ext uri="{FF2B5EF4-FFF2-40B4-BE49-F238E27FC236}">
                <a16:creationId xmlns:a16="http://schemas.microsoft.com/office/drawing/2014/main" id="{B19F05D7-BE49-FC77-1811-D53D97C92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9" name="printf：输出数据">
            <a:extLst>
              <a:ext uri="{FF2B5EF4-FFF2-40B4-BE49-F238E27FC236}">
                <a16:creationId xmlns:a16="http://schemas.microsoft.com/office/drawing/2014/main" id="{B806E47E-0E4F-4A32-944C-39B1D99D9291}"/>
              </a:ext>
            </a:extLst>
          </p:cNvPr>
          <p:cNvSpPr>
            <a:spLocks noGrp="1"/>
          </p:cNvSpPr>
          <p:nvPr/>
        </p:nvSpPr>
        <p:spPr>
          <a:xfrm>
            <a:off x="1428750" y="400050"/>
            <a:ext cx="700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printf：输出数据</a:t>
            </a:r>
          </a:p>
        </p:txBody>
      </p:sp>
      <p:sp>
        <p:nvSpPr>
          <p:cNvPr id="10" name="哈理工 A.I.R. 创新实验室">
            <a:extLst>
              <a:ext uri="{FF2B5EF4-FFF2-40B4-BE49-F238E27FC236}">
                <a16:creationId xmlns:a16="http://schemas.microsoft.com/office/drawing/2014/main" id="{88B67F7F-111C-4A49-A712-FF8CAF63F5EF}"/>
              </a:ext>
            </a:extLst>
          </p:cNvPr>
          <p:cNvSpPr>
            <a:spLocks noGrp="1"/>
          </p:cNvSpPr>
          <p:nvPr/>
        </p:nvSpPr>
        <p:spPr>
          <a:xfrm>
            <a:off x="8991600" y="704850"/>
            <a:ext cx="2305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哈理工 A.I.R. 创新实验室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904875" y="1504950"/>
          <a:ext cx="10382250" cy="2305052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格式符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示例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int 整数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%d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printf("%d", count);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float / double 小数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%f 或 %.2f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printf("%.2f", voltage);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char 字符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%c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printf("%c", grade);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int count = 3;&#10;double vol">
            <a:extLst>
              <a:ext uri="{FF2B5EF4-FFF2-40B4-BE49-F238E27FC236}">
                <a16:creationId xmlns:a16="http://schemas.microsoft.com/office/drawing/2014/main" id="{F35B3C6A-6283-4B9C-AC03-74442E9C4509}"/>
              </a:ext>
            </a:extLst>
          </p:cNvPr>
          <p:cNvSpPr>
            <a:spLocks noGrp="1"/>
          </p:cNvSpPr>
          <p:nvPr/>
        </p:nvSpPr>
        <p:spPr>
          <a:xfrm>
            <a:off x="904875" y="4095750"/>
            <a:ext cx="10382250" cy="1323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int count = 3;</a:t>
            </a:r>
          </a:p>
          <a:p>
            <a:pPr>
              <a:def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double voltage = 12.5;</a:t>
            </a:r>
          </a:p>
          <a:p>
            <a:pPr>
              <a:def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printf("count=%d, U=%.2f V\n", count, voltage);</a:t>
            </a:r>
          </a:p>
        </p:txBody>
      </p:sp>
      <p:sp>
        <p:nvSpPr>
          <p:cNvPr id="13" name="输出：count=3, U=12.50 V">
            <a:extLst>
              <a:ext uri="{FF2B5EF4-FFF2-40B4-BE49-F238E27FC236}">
                <a16:creationId xmlns:a16="http://schemas.microsoft.com/office/drawing/2014/main" id="{0B64D4B4-860D-4437-84E7-34D36DCFD7CE}"/>
              </a:ext>
            </a:extLst>
          </p:cNvPr>
          <p:cNvSpPr>
            <a:spLocks noGrp="1"/>
          </p:cNvSpPr>
          <p:nvPr/>
        </p:nvSpPr>
        <p:spPr>
          <a:xfrm>
            <a:off x="904875" y="5524500"/>
            <a:ext cx="74295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输出：count=3, U=12.50 V</a:t>
            </a:r>
          </a:p>
        </p:txBody>
      </p:sp>
      <p:sp>
        <p:nvSpPr>
          <p:cNvPr id="14" name="\n 换行；%.2f 保留两位小数显示；多个参数按">
            <a:extLst>
              <a:ext uri="{FF2B5EF4-FFF2-40B4-BE49-F238E27FC236}">
                <a16:creationId xmlns:a16="http://schemas.microsoft.com/office/drawing/2014/main" id="{6CBA877C-228E-4788-885E-33F32F41DFC9}"/>
              </a:ext>
            </a:extLst>
          </p:cNvPr>
          <p:cNvSpPr>
            <a:spLocks noGrp="1"/>
          </p:cNvSpPr>
          <p:nvPr/>
        </p:nvSpPr>
        <p:spPr>
          <a:xfrm>
            <a:off x="904875" y="6019800"/>
            <a:ext cx="10382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05A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05A65"/>
                </a:solidFill>
                <a:latin typeface="Noto Sans CJK SC"/>
                <a:ea typeface="Noto Sans CJK SC"/>
                <a:cs typeface="Noto Sans CJK SC"/>
              </a:rPr>
              <a:t>\n 换行；%.2f 保留两位小数显示；多个参数按顺序对应。</a:t>
            </a:r>
          </a:p>
        </p:txBody>
      </p:sp>
    </p:spTree>
    <p:extLst>
      <p:ext uri="{BB962C8B-B14F-4D97-AF65-F5344CB8AC3E}">
        <p14:creationId xmlns:p14="http://schemas.microsoft.com/office/powerpoint/2010/main" val="421750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7A50B-E6F0-D690-B5ED-546381A96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网chenying0907出品 24">
            <a:extLst>
              <a:ext uri="{FF2B5EF4-FFF2-40B4-BE49-F238E27FC236}">
                <a16:creationId xmlns:a16="http://schemas.microsoft.com/office/drawing/2014/main" id="{B006E13E-F2B5-F668-E832-5B172615DFA6}"/>
              </a:ext>
            </a:extLst>
          </p:cNvPr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2D6D0301-31F9-DA8A-4439-2C988C4E9206}"/>
              </a:ext>
            </a:extLst>
          </p:cNvPr>
          <p:cNvGrpSpPr/>
          <p:nvPr/>
        </p:nvGrpSpPr>
        <p:grpSpPr>
          <a:xfrm>
            <a:off x="422340" y="200268"/>
            <a:ext cx="4475634" cy="974838"/>
            <a:chOff x="422340" y="200268"/>
            <a:chExt cx="4475634" cy="974838"/>
          </a:xfrm>
        </p:grpSpPr>
        <p:grpSp>
          <p:nvGrpSpPr>
            <p:cNvPr id="4" name="组合 16">
              <a:extLst>
                <a:ext uri="{FF2B5EF4-FFF2-40B4-BE49-F238E27FC236}">
                  <a16:creationId xmlns:a16="http://schemas.microsoft.com/office/drawing/2014/main" id="{7251D92E-1A8E-D136-B700-77C3E1DBEAA1}"/>
                </a:ext>
              </a:extLst>
            </p:cNvPr>
            <p:cNvGrpSpPr/>
            <p:nvPr userDrawn="1"/>
          </p:nvGrpSpPr>
          <p:grpSpPr>
            <a:xfrm>
              <a:off x="994629" y="420402"/>
              <a:ext cx="3903345" cy="754704"/>
              <a:chOff x="994629" y="420402"/>
              <a:chExt cx="3903345" cy="754704"/>
            </a:xfrm>
          </p:grpSpPr>
          <p:sp>
            <p:nvSpPr>
              <p:cNvPr id="5" name="文本框 26">
                <a:extLst>
                  <a:ext uri="{FF2B5EF4-FFF2-40B4-BE49-F238E27FC236}">
                    <a16:creationId xmlns:a16="http://schemas.microsoft.com/office/drawing/2014/main" id="{516DF6D4-CE8F-9558-B79C-0FBC0E2686ED}"/>
                  </a:ext>
                </a:extLst>
              </p:cNvPr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6" name="文本框 24">
              <a:extLst>
                <a:ext uri="{FF2B5EF4-FFF2-40B4-BE49-F238E27FC236}">
                  <a16:creationId xmlns:a16="http://schemas.microsoft.com/office/drawing/2014/main" id="{B789E059-7443-BC82-FE70-798336B0E259}"/>
                </a:ext>
              </a:extLst>
            </p:cNvPr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04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>
            <a:extLst>
              <a:ext uri="{FF2B5EF4-FFF2-40B4-BE49-F238E27FC236}">
                <a16:creationId xmlns:a16="http://schemas.microsoft.com/office/drawing/2014/main" id="{B99CC385-9D37-8080-B1FF-F8793244F28D}"/>
              </a:ext>
            </a:extLst>
          </p:cNvPr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8" name="图片 8" descr="upload_159476022">
            <a:extLst>
              <a:ext uri="{FF2B5EF4-FFF2-40B4-BE49-F238E27FC236}">
                <a16:creationId xmlns:a16="http://schemas.microsoft.com/office/drawing/2014/main" id="{DA87A8AC-12AC-0CF1-72B1-EF0E13F2B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9" name="scanf：输入数据">
            <a:extLst>
              <a:ext uri="{FF2B5EF4-FFF2-40B4-BE49-F238E27FC236}">
                <a16:creationId xmlns:a16="http://schemas.microsoft.com/office/drawing/2014/main" id="{813EAEA1-0BD8-4686-B6A9-317BB0985D52}"/>
              </a:ext>
            </a:extLst>
          </p:cNvPr>
          <p:cNvSpPr>
            <a:spLocks noGrp="1"/>
          </p:cNvSpPr>
          <p:nvPr/>
        </p:nvSpPr>
        <p:spPr>
          <a:xfrm>
            <a:off x="1428750" y="400050"/>
            <a:ext cx="700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scanf：输入数据</a:t>
            </a:r>
          </a:p>
        </p:txBody>
      </p:sp>
      <p:sp>
        <p:nvSpPr>
          <p:cNvPr id="10" name="哈理工 A.I.R. 创新实验室">
            <a:extLst>
              <a:ext uri="{FF2B5EF4-FFF2-40B4-BE49-F238E27FC236}">
                <a16:creationId xmlns:a16="http://schemas.microsoft.com/office/drawing/2014/main" id="{76EEE439-9D2D-409E-9B43-061656DC6B42}"/>
              </a:ext>
            </a:extLst>
          </p:cNvPr>
          <p:cNvSpPr>
            <a:spLocks noGrp="1"/>
          </p:cNvSpPr>
          <p:nvPr/>
        </p:nvSpPr>
        <p:spPr>
          <a:xfrm>
            <a:off x="8991600" y="704850"/>
            <a:ext cx="2305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哈理工 A.I.R. 创新实验室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904875" y="1495425"/>
          <a:ext cx="10382250" cy="2305052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变量类型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输入写法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要点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int n;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scanf("%d", &amp;n);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%d 对应整数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float x;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scanf("%f", &amp;x);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%f 对应 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double x;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scanf("%lf", &amp;x);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%lf 对应 double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double voltage, current;&#10;">
            <a:extLst>
              <a:ext uri="{FF2B5EF4-FFF2-40B4-BE49-F238E27FC236}">
                <a16:creationId xmlns:a16="http://schemas.microsoft.com/office/drawing/2014/main" id="{E73479CE-CF69-483A-97D6-2C6296EDA3B8}"/>
              </a:ext>
            </a:extLst>
          </p:cNvPr>
          <p:cNvSpPr>
            <a:spLocks noGrp="1"/>
          </p:cNvSpPr>
          <p:nvPr/>
        </p:nvSpPr>
        <p:spPr>
          <a:xfrm>
            <a:off x="904875" y="4114800"/>
            <a:ext cx="10382250" cy="933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double voltage, current;</a:t>
            </a:r>
          </a:p>
          <a:p>
            <a:pPr>
              <a:def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scanf("%lf %lf", &amp;voltage, &amp;current);</a:t>
            </a:r>
          </a:p>
        </p:txBody>
      </p:sp>
      <p:sp>
        <p:nvSpPr>
          <p:cNvPr id="13" name="输入示例：12 0.5    输入两个数后按回车。">
            <a:extLst>
              <a:ext uri="{FF2B5EF4-FFF2-40B4-BE49-F238E27FC236}">
                <a16:creationId xmlns:a16="http://schemas.microsoft.com/office/drawing/2014/main" id="{6C01C805-1EAB-4694-A1C4-284091986FED}"/>
              </a:ext>
            </a:extLst>
          </p:cNvPr>
          <p:cNvSpPr>
            <a:spLocks noGrp="1"/>
          </p:cNvSpPr>
          <p:nvPr/>
        </p:nvSpPr>
        <p:spPr>
          <a:xfrm>
            <a:off x="904875" y="5172075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输入示例：12 0.5    输入两个数后按回车。</a:t>
            </a:r>
          </a:p>
        </p:txBody>
      </p:sp>
      <p:sp>
        <p:nvSpPr>
          <p:cNvPr id="14" name="本页数值变量前要加 &amp;，输入顺序要与变量顺序一致。">
            <a:extLst>
              <a:ext uri="{FF2B5EF4-FFF2-40B4-BE49-F238E27FC236}">
                <a16:creationId xmlns:a16="http://schemas.microsoft.com/office/drawing/2014/main" id="{9D6DEFA3-DF72-48A5-A108-FA4E23D354A0}"/>
              </a:ext>
            </a:extLst>
          </p:cNvPr>
          <p:cNvSpPr>
            <a:spLocks noGrp="1"/>
          </p:cNvSpPr>
          <p:nvPr/>
        </p:nvSpPr>
        <p:spPr>
          <a:xfrm>
            <a:off x="904875" y="5667375"/>
            <a:ext cx="103822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本页数值变量前要加 &amp;，输入顺序要与变量顺序一致。</a:t>
            </a:r>
          </a:p>
        </p:txBody>
      </p:sp>
      <p:sp>
        <p:nvSpPr>
          <p:cNvPr id="15" name="注意：scanf 中 double 用 %lf，p">
            <a:extLst>
              <a:ext uri="{FF2B5EF4-FFF2-40B4-BE49-F238E27FC236}">
                <a16:creationId xmlns:a16="http://schemas.microsoft.com/office/drawing/2014/main" id="{8E1054E0-0FD3-41DF-B17F-0BFA9B7B4832}"/>
              </a:ext>
            </a:extLst>
          </p:cNvPr>
          <p:cNvSpPr>
            <a:spLocks noGrp="1"/>
          </p:cNvSpPr>
          <p:nvPr/>
        </p:nvSpPr>
        <p:spPr>
          <a:xfrm>
            <a:off x="904875" y="614362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05A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05A65"/>
                </a:solidFill>
                <a:latin typeface="Noto Sans CJK SC"/>
                <a:ea typeface="Noto Sans CJK SC"/>
                <a:cs typeface="Noto Sans CJK SC"/>
              </a:rPr>
              <a:t>注意：scanf 中 double 用 %lf，printf 中用 %f。</a:t>
            </a:r>
          </a:p>
        </p:txBody>
      </p:sp>
    </p:spTree>
    <p:extLst>
      <p:ext uri="{BB962C8B-B14F-4D97-AF65-F5344CB8AC3E}">
        <p14:creationId xmlns:p14="http://schemas.microsoft.com/office/powerpoint/2010/main" val="47858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5707C-B00D-B108-D507-790F0BFEC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网chenying0907出品 24">
            <a:extLst>
              <a:ext uri="{FF2B5EF4-FFF2-40B4-BE49-F238E27FC236}">
                <a16:creationId xmlns:a16="http://schemas.microsoft.com/office/drawing/2014/main" id="{65662114-D079-6D1F-BF30-91DC82EC49C2}"/>
              </a:ext>
            </a:extLst>
          </p:cNvPr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B349D18E-25FB-2547-959A-8D20B5753318}"/>
              </a:ext>
            </a:extLst>
          </p:cNvPr>
          <p:cNvGrpSpPr/>
          <p:nvPr/>
        </p:nvGrpSpPr>
        <p:grpSpPr>
          <a:xfrm>
            <a:off x="422340" y="200268"/>
            <a:ext cx="4475634" cy="974838"/>
            <a:chOff x="422340" y="200268"/>
            <a:chExt cx="4475634" cy="974838"/>
          </a:xfrm>
        </p:grpSpPr>
        <p:grpSp>
          <p:nvGrpSpPr>
            <p:cNvPr id="4" name="组合 16">
              <a:extLst>
                <a:ext uri="{FF2B5EF4-FFF2-40B4-BE49-F238E27FC236}">
                  <a16:creationId xmlns:a16="http://schemas.microsoft.com/office/drawing/2014/main" id="{1DC67F63-9BB4-2D2F-1522-09DE014E93DB}"/>
                </a:ext>
              </a:extLst>
            </p:cNvPr>
            <p:cNvGrpSpPr/>
            <p:nvPr userDrawn="1"/>
          </p:nvGrpSpPr>
          <p:grpSpPr>
            <a:xfrm>
              <a:off x="994629" y="420402"/>
              <a:ext cx="3903345" cy="754704"/>
              <a:chOff x="994629" y="420402"/>
              <a:chExt cx="3903345" cy="754704"/>
            </a:xfrm>
          </p:grpSpPr>
          <p:sp>
            <p:nvSpPr>
              <p:cNvPr id="5" name="文本框 26">
                <a:extLst>
                  <a:ext uri="{FF2B5EF4-FFF2-40B4-BE49-F238E27FC236}">
                    <a16:creationId xmlns:a16="http://schemas.microsoft.com/office/drawing/2014/main" id="{8B8D4533-CDD1-155E-2FC6-0E20781E6278}"/>
                  </a:ext>
                </a:extLst>
              </p:cNvPr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6" name="文本框 24">
              <a:extLst>
                <a:ext uri="{FF2B5EF4-FFF2-40B4-BE49-F238E27FC236}">
                  <a16:creationId xmlns:a16="http://schemas.microsoft.com/office/drawing/2014/main" id="{BA070CB5-D656-60D5-6B4F-7DD6EDF70055}"/>
                </a:ext>
              </a:extLst>
            </p:cNvPr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04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>
            <a:extLst>
              <a:ext uri="{FF2B5EF4-FFF2-40B4-BE49-F238E27FC236}">
                <a16:creationId xmlns:a16="http://schemas.microsoft.com/office/drawing/2014/main" id="{3ACAA853-6E17-1C05-9528-8C98767A7E0A}"/>
              </a:ext>
            </a:extLst>
          </p:cNvPr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8" name="图片 8" descr="upload_159476022">
            <a:extLst>
              <a:ext uri="{FF2B5EF4-FFF2-40B4-BE49-F238E27FC236}">
                <a16:creationId xmlns:a16="http://schemas.microsoft.com/office/drawing/2014/main" id="{E56E445C-5F73-2527-9902-10B090389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9" name="类型转换与整数除法">
            <a:extLst>
              <a:ext uri="{FF2B5EF4-FFF2-40B4-BE49-F238E27FC236}">
                <a16:creationId xmlns:a16="http://schemas.microsoft.com/office/drawing/2014/main" id="{743D7630-41F0-49EA-BE8C-F9F88523AF18}"/>
              </a:ext>
            </a:extLst>
          </p:cNvPr>
          <p:cNvSpPr>
            <a:spLocks noGrp="1"/>
          </p:cNvSpPr>
          <p:nvPr/>
        </p:nvSpPr>
        <p:spPr>
          <a:xfrm>
            <a:off x="1428750" y="400050"/>
            <a:ext cx="700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类型转换与整数除法</a:t>
            </a:r>
          </a:p>
        </p:txBody>
      </p:sp>
      <p:sp>
        <p:nvSpPr>
          <p:cNvPr id="10" name="哈理工 A.I.R. 创新实验室">
            <a:extLst>
              <a:ext uri="{FF2B5EF4-FFF2-40B4-BE49-F238E27FC236}">
                <a16:creationId xmlns:a16="http://schemas.microsoft.com/office/drawing/2014/main" id="{BE360572-5D12-496B-905B-2538FDB7C922}"/>
              </a:ext>
            </a:extLst>
          </p:cNvPr>
          <p:cNvSpPr>
            <a:spLocks noGrp="1"/>
          </p:cNvSpPr>
          <p:nvPr/>
        </p:nvSpPr>
        <p:spPr>
          <a:xfrm>
            <a:off x="8991600" y="704850"/>
            <a:ext cx="2305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哈理工 A.I.R. 创新实验室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904875" y="1543050"/>
          <a:ext cx="10382250" cy="3000375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代码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保存的值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原因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double a = 5 / 2;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先做整数除法，再转为 double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double b = 5.0 / 2;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有浮点操作数，按浮点数计算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double c = (double)5 / 2;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除法前显式转换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int n = (int)3.9;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丢弃小数部分，不是四舍五入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平均值中的常见错误">
            <a:extLst>
              <a:ext uri="{FF2B5EF4-FFF2-40B4-BE49-F238E27FC236}">
                <a16:creationId xmlns:a16="http://schemas.microsoft.com/office/drawing/2014/main" id="{3681BCC4-F047-4C6D-A226-AD0C016A5FAD}"/>
              </a:ext>
            </a:extLst>
          </p:cNvPr>
          <p:cNvSpPr>
            <a:spLocks noGrp="1"/>
          </p:cNvSpPr>
          <p:nvPr/>
        </p:nvSpPr>
        <p:spPr>
          <a:xfrm>
            <a:off x="904875" y="4810125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平均值中的常见错误</a:t>
            </a:r>
          </a:p>
        </p:txBody>
      </p:sp>
      <p:sp>
        <p:nvSpPr>
          <p:cNvPr id="13" name="int a = 5, b = 2;&#10;double ">
            <a:extLst>
              <a:ext uri="{FF2B5EF4-FFF2-40B4-BE49-F238E27FC236}">
                <a16:creationId xmlns:a16="http://schemas.microsoft.com/office/drawing/2014/main" id="{997F90FC-E9D9-4C88-88B2-F477152A2E9D}"/>
              </a:ext>
            </a:extLst>
          </p:cNvPr>
          <p:cNvSpPr>
            <a:spLocks noGrp="1"/>
          </p:cNvSpPr>
          <p:nvPr/>
        </p:nvSpPr>
        <p:spPr>
          <a:xfrm>
            <a:off x="904875" y="5334000"/>
            <a:ext cx="771525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int a = 5, b = 2;</a:t>
            </a:r>
          </a:p>
          <a:p>
            <a:pPr>
              <a:def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double average = (a + b) / 2.0;</a:t>
            </a:r>
          </a:p>
        </p:txBody>
      </p:sp>
      <p:sp>
        <p:nvSpPr>
          <p:cNvPr id="14" name="average = 3.5">
            <a:extLst>
              <a:ext uri="{FF2B5EF4-FFF2-40B4-BE49-F238E27FC236}">
                <a16:creationId xmlns:a16="http://schemas.microsoft.com/office/drawing/2014/main" id="{E774B366-3443-49D9-B616-7751B150D7CE}"/>
              </a:ext>
            </a:extLst>
          </p:cNvPr>
          <p:cNvSpPr>
            <a:spLocks noGrp="1"/>
          </p:cNvSpPr>
          <p:nvPr/>
        </p:nvSpPr>
        <p:spPr>
          <a:xfrm>
            <a:off x="8429625" y="550545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average = 3.5</a:t>
            </a:r>
          </a:p>
        </p:txBody>
      </p:sp>
    </p:spTree>
    <p:extLst>
      <p:ext uri="{BB962C8B-B14F-4D97-AF65-F5344CB8AC3E}">
        <p14:creationId xmlns:p14="http://schemas.microsoft.com/office/powerpoint/2010/main" val="1905039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BF495-3281-C570-C1A0-45B0DB06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网chenying0907出品 24">
            <a:extLst>
              <a:ext uri="{FF2B5EF4-FFF2-40B4-BE49-F238E27FC236}">
                <a16:creationId xmlns:a16="http://schemas.microsoft.com/office/drawing/2014/main" id="{72FB8A2C-7F01-1846-A414-704CFE4D004D}"/>
              </a:ext>
            </a:extLst>
          </p:cNvPr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BDF7ADAB-F48E-7B9A-3231-6C79FE5078F8}"/>
              </a:ext>
            </a:extLst>
          </p:cNvPr>
          <p:cNvGrpSpPr/>
          <p:nvPr/>
        </p:nvGrpSpPr>
        <p:grpSpPr>
          <a:xfrm>
            <a:off x="422340" y="200268"/>
            <a:ext cx="5130966" cy="974838"/>
            <a:chOff x="422340" y="200268"/>
            <a:chExt cx="5130966" cy="974838"/>
          </a:xfrm>
        </p:grpSpPr>
        <p:grpSp>
          <p:nvGrpSpPr>
            <p:cNvPr id="4" name="组合 16">
              <a:extLst>
                <a:ext uri="{FF2B5EF4-FFF2-40B4-BE49-F238E27FC236}">
                  <a16:creationId xmlns:a16="http://schemas.microsoft.com/office/drawing/2014/main" id="{EFFA374B-B775-26DA-A60E-76B096E053F3}"/>
                </a:ext>
              </a:extLst>
            </p:cNvPr>
            <p:cNvGrpSpPr/>
            <p:nvPr userDrawn="1"/>
          </p:nvGrpSpPr>
          <p:grpSpPr>
            <a:xfrm>
              <a:off x="994629" y="420402"/>
              <a:ext cx="4558677" cy="754704"/>
              <a:chOff x="994629" y="420402"/>
              <a:chExt cx="4558677" cy="754704"/>
            </a:xfrm>
          </p:grpSpPr>
          <p:sp>
            <p:nvSpPr>
              <p:cNvPr id="5" name="文本框 26">
                <a:extLst>
                  <a:ext uri="{FF2B5EF4-FFF2-40B4-BE49-F238E27FC236}">
                    <a16:creationId xmlns:a16="http://schemas.microsoft.com/office/drawing/2014/main" id="{2F7CE769-D6A6-7799-0EF6-03F3F463310B}"/>
                  </a:ext>
                </a:extLst>
              </p:cNvPr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6" name="文本框 24">
              <a:extLst>
                <a:ext uri="{FF2B5EF4-FFF2-40B4-BE49-F238E27FC236}">
                  <a16:creationId xmlns:a16="http://schemas.microsoft.com/office/drawing/2014/main" id="{A115C9A2-D4D2-C0F7-8535-A77FE939F68C}"/>
                </a:ext>
              </a:extLst>
            </p:cNvPr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04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>
            <a:extLst>
              <a:ext uri="{FF2B5EF4-FFF2-40B4-BE49-F238E27FC236}">
                <a16:creationId xmlns:a16="http://schemas.microsoft.com/office/drawing/2014/main" id="{FC7823B8-4382-25F1-D0F0-F7794CFD1E51}"/>
              </a:ext>
            </a:extLst>
          </p:cNvPr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8" name="图片 8" descr="upload_159476022">
            <a:extLst>
              <a:ext uri="{FF2B5EF4-FFF2-40B4-BE49-F238E27FC236}">
                <a16:creationId xmlns:a16="http://schemas.microsoft.com/office/drawing/2014/main" id="{1AEC69F6-AB2C-12FC-9EE1-37F21E004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9" name="课堂示例：电功率计算">
            <a:extLst>
              <a:ext uri="{FF2B5EF4-FFF2-40B4-BE49-F238E27FC236}">
                <a16:creationId xmlns:a16="http://schemas.microsoft.com/office/drawing/2014/main" id="{E64B993B-D61F-45C2-80DC-E9498A4D56EB}"/>
              </a:ext>
            </a:extLst>
          </p:cNvPr>
          <p:cNvSpPr>
            <a:spLocks noGrp="1"/>
          </p:cNvSpPr>
          <p:nvPr/>
        </p:nvSpPr>
        <p:spPr>
          <a:xfrm>
            <a:off x="1428750" y="400050"/>
            <a:ext cx="700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课堂示例：电功率计算</a:t>
            </a:r>
          </a:p>
        </p:txBody>
      </p:sp>
      <p:sp>
        <p:nvSpPr>
          <p:cNvPr id="10" name="哈理工 A.I.R. 创新实验室">
            <a:extLst>
              <a:ext uri="{FF2B5EF4-FFF2-40B4-BE49-F238E27FC236}">
                <a16:creationId xmlns:a16="http://schemas.microsoft.com/office/drawing/2014/main" id="{9283BA72-52CC-4A19-B821-91AB3FB139E5}"/>
              </a:ext>
            </a:extLst>
          </p:cNvPr>
          <p:cNvSpPr>
            <a:spLocks noGrp="1"/>
          </p:cNvSpPr>
          <p:nvPr/>
        </p:nvSpPr>
        <p:spPr>
          <a:xfrm>
            <a:off x="8991600" y="704850"/>
            <a:ext cx="2305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哈理工 A.I.R. 创新实验室</a:t>
            </a:r>
          </a:p>
        </p:txBody>
      </p:sp>
      <p:sp>
        <p:nvSpPr>
          <p:cNvPr id="11" name="#include &lt;stdio.h&gt;&#10;int ma">
            <a:extLst>
              <a:ext uri="{FF2B5EF4-FFF2-40B4-BE49-F238E27FC236}">
                <a16:creationId xmlns:a16="http://schemas.microsoft.com/office/drawing/2014/main" id="{053A410D-7ADC-4900-A952-4217F4BC9AE4}"/>
              </a:ext>
            </a:extLst>
          </p:cNvPr>
          <p:cNvSpPr>
            <a:spLocks noGrp="1"/>
          </p:cNvSpPr>
          <p:nvPr/>
        </p:nvSpPr>
        <p:spPr>
          <a:xfrm>
            <a:off x="904875" y="1524000"/>
            <a:ext cx="8143875" cy="396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#include &lt;stdio.h&gt;</a:t>
            </a:r>
          </a:p>
          <a:p>
            <a:pPr>
              <a:def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int main(void)</a:t>
            </a:r>
          </a:p>
          <a:p>
            <a:pPr>
              <a:def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>
            <a:pPr>
              <a:def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    double voltage, current, power;</a:t>
            </a:r>
          </a:p>
          <a:p>
            <a:pPr>
              <a:def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    printf("U(V), I(A):\n");</a:t>
            </a:r>
          </a:p>
          <a:p>
            <a:pPr>
              <a:def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    scanf("%lf %lf", &amp;voltage, &amp;current);</a:t>
            </a:r>
          </a:p>
          <a:p>
            <a:pPr>
              <a:def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    power = voltage * current;</a:t>
            </a:r>
          </a:p>
          <a:p>
            <a:pPr>
              <a:def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    printf("P = %.2f W\n", power);</a:t>
            </a:r>
          </a:p>
          <a:p>
            <a:pPr>
              <a:def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>
            <a:pPr>
              <a:def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2" name="思路">
            <a:extLst>
              <a:ext uri="{FF2B5EF4-FFF2-40B4-BE49-F238E27FC236}">
                <a16:creationId xmlns:a16="http://schemas.microsoft.com/office/drawing/2014/main" id="{06AFBB55-39E2-4A1B-8A34-AD63CAB2A465}"/>
              </a:ext>
            </a:extLst>
          </p:cNvPr>
          <p:cNvSpPr>
            <a:spLocks noGrp="1"/>
          </p:cNvSpPr>
          <p:nvPr/>
        </p:nvSpPr>
        <p:spPr>
          <a:xfrm>
            <a:off x="9429750" y="1533525"/>
            <a:ext cx="1809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思路</a:t>
            </a:r>
          </a:p>
        </p:txBody>
      </p:sp>
      <p:sp>
        <p:nvSpPr>
          <p:cNvPr id="13" name="输入 U、I&#10;&#10;计算 P = U × I&#10;&#10;输出 ">
            <a:extLst>
              <a:ext uri="{FF2B5EF4-FFF2-40B4-BE49-F238E27FC236}">
                <a16:creationId xmlns:a16="http://schemas.microsoft.com/office/drawing/2014/main" id="{A31FD571-70CE-4133-B969-4BC70AE3F7AD}"/>
              </a:ext>
            </a:extLst>
          </p:cNvPr>
          <p:cNvSpPr>
            <a:spLocks noGrp="1"/>
          </p:cNvSpPr>
          <p:nvPr/>
        </p:nvSpPr>
        <p:spPr>
          <a:xfrm>
            <a:off x="9429750" y="2114550"/>
            <a:ext cx="2238375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输入 U、I</a:t>
            </a:r>
          </a:p>
          <a:p>
            <a:endParaRPr sz="1950" b="0">
              <a:solidFill>
                <a:srgbClr val="17212B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95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计算 P = U × I</a:t>
            </a:r>
          </a:p>
          <a:p>
            <a:endParaRPr sz="1950" b="0">
              <a:solidFill>
                <a:srgbClr val="17212B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95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输出 P</a:t>
            </a:r>
          </a:p>
        </p:txBody>
      </p:sp>
      <p:sp>
        <p:nvSpPr>
          <p:cNvPr id="14" name="输入：12 0.5       输出：P = 6.">
            <a:extLst>
              <a:ext uri="{FF2B5EF4-FFF2-40B4-BE49-F238E27FC236}">
                <a16:creationId xmlns:a16="http://schemas.microsoft.com/office/drawing/2014/main" id="{0514BDBF-1ECB-439B-BA8B-8F2F7B1FE07D}"/>
              </a:ext>
            </a:extLst>
          </p:cNvPr>
          <p:cNvSpPr>
            <a:spLocks noGrp="1"/>
          </p:cNvSpPr>
          <p:nvPr/>
        </p:nvSpPr>
        <p:spPr>
          <a:xfrm>
            <a:off x="904875" y="5686425"/>
            <a:ext cx="1038225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输入：12 0.5       输出：P = 6.00 W</a:t>
            </a:r>
          </a:p>
        </p:txBody>
      </p:sp>
    </p:spTree>
    <p:extLst>
      <p:ext uri="{BB962C8B-B14F-4D97-AF65-F5344CB8AC3E}">
        <p14:creationId xmlns:p14="http://schemas.microsoft.com/office/powerpoint/2010/main" val="282125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6C4EA-57CC-E89B-98A6-8ADFFF98E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网chenying0907出品 24">
            <a:extLst>
              <a:ext uri="{FF2B5EF4-FFF2-40B4-BE49-F238E27FC236}">
                <a16:creationId xmlns:a16="http://schemas.microsoft.com/office/drawing/2014/main" id="{A776748E-0327-633C-69E9-B6367DD7046F}"/>
              </a:ext>
            </a:extLst>
          </p:cNvPr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25834B2A-20D3-CF61-A7A4-A1DD50A23916}"/>
              </a:ext>
            </a:extLst>
          </p:cNvPr>
          <p:cNvGrpSpPr/>
          <p:nvPr/>
        </p:nvGrpSpPr>
        <p:grpSpPr>
          <a:xfrm>
            <a:off x="422340" y="200268"/>
            <a:ext cx="4475634" cy="974838"/>
            <a:chOff x="422340" y="200268"/>
            <a:chExt cx="4475634" cy="974838"/>
          </a:xfrm>
        </p:grpSpPr>
        <p:grpSp>
          <p:nvGrpSpPr>
            <p:cNvPr id="4" name="组合 16">
              <a:extLst>
                <a:ext uri="{FF2B5EF4-FFF2-40B4-BE49-F238E27FC236}">
                  <a16:creationId xmlns:a16="http://schemas.microsoft.com/office/drawing/2014/main" id="{E6F80810-86CD-DD94-E8ED-8DAA524CC1AE}"/>
                </a:ext>
              </a:extLst>
            </p:cNvPr>
            <p:cNvGrpSpPr/>
            <p:nvPr userDrawn="1"/>
          </p:nvGrpSpPr>
          <p:grpSpPr>
            <a:xfrm>
              <a:off x="994629" y="420402"/>
              <a:ext cx="3903345" cy="754704"/>
              <a:chOff x="994629" y="420402"/>
              <a:chExt cx="3903345" cy="754704"/>
            </a:xfrm>
          </p:grpSpPr>
          <p:sp>
            <p:nvSpPr>
              <p:cNvPr id="5" name="文本框 26">
                <a:extLst>
                  <a:ext uri="{FF2B5EF4-FFF2-40B4-BE49-F238E27FC236}">
                    <a16:creationId xmlns:a16="http://schemas.microsoft.com/office/drawing/2014/main" id="{5B5CB470-02AB-1338-B87F-C82A3943FA39}"/>
                  </a:ext>
                </a:extLst>
              </p:cNvPr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6" name="文本框 24">
              <a:extLst>
                <a:ext uri="{FF2B5EF4-FFF2-40B4-BE49-F238E27FC236}">
                  <a16:creationId xmlns:a16="http://schemas.microsoft.com/office/drawing/2014/main" id="{5A8EE0C5-B2C3-62D9-007D-24142FC29070}"/>
                </a:ext>
              </a:extLst>
            </p:cNvPr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04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>
            <a:extLst>
              <a:ext uri="{FF2B5EF4-FFF2-40B4-BE49-F238E27FC236}">
                <a16:creationId xmlns:a16="http://schemas.microsoft.com/office/drawing/2014/main" id="{3B842ACC-5D27-C7CF-13DA-F92866958919}"/>
              </a:ext>
            </a:extLst>
          </p:cNvPr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8" name="图片 8" descr="upload_159476022">
            <a:extLst>
              <a:ext uri="{FF2B5EF4-FFF2-40B4-BE49-F238E27FC236}">
                <a16:creationId xmlns:a16="http://schemas.microsoft.com/office/drawing/2014/main" id="{3C1C0F2C-29D2-0BEE-0A48-C92DBE77D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9" name="独立练习：圆的周长与面积">
            <a:extLst>
              <a:ext uri="{FF2B5EF4-FFF2-40B4-BE49-F238E27FC236}">
                <a16:creationId xmlns:a16="http://schemas.microsoft.com/office/drawing/2014/main" id="{C280D42C-5342-4711-A741-E60C5B49DCD3}"/>
              </a:ext>
            </a:extLst>
          </p:cNvPr>
          <p:cNvSpPr>
            <a:spLocks noGrp="1"/>
          </p:cNvSpPr>
          <p:nvPr/>
        </p:nvSpPr>
        <p:spPr>
          <a:xfrm>
            <a:off x="1428750" y="400050"/>
            <a:ext cx="700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独立练习：圆的周长与面积</a:t>
            </a:r>
          </a:p>
        </p:txBody>
      </p:sp>
      <p:sp>
        <p:nvSpPr>
          <p:cNvPr id="10" name="哈理工 A.I.R. 创新实验室">
            <a:extLst>
              <a:ext uri="{FF2B5EF4-FFF2-40B4-BE49-F238E27FC236}">
                <a16:creationId xmlns:a16="http://schemas.microsoft.com/office/drawing/2014/main" id="{0545AE8A-342C-489E-844D-2625757BA8BD}"/>
              </a:ext>
            </a:extLst>
          </p:cNvPr>
          <p:cNvSpPr>
            <a:spLocks noGrp="1"/>
          </p:cNvSpPr>
          <p:nvPr/>
        </p:nvSpPr>
        <p:spPr>
          <a:xfrm>
            <a:off x="8991600" y="704850"/>
            <a:ext cx="2305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哈理工 A.I.R. 创新实验室</a:t>
            </a:r>
          </a:p>
        </p:txBody>
      </p:sp>
      <p:sp>
        <p:nvSpPr>
          <p:cNvPr id="11" name="任务：新建 circle 工程，输入半径，输出周长">
            <a:extLst>
              <a:ext uri="{FF2B5EF4-FFF2-40B4-BE49-F238E27FC236}">
                <a16:creationId xmlns:a16="http://schemas.microsoft.com/office/drawing/2014/main" id="{EE46827D-B5C2-49C7-958E-2EF3647801DD}"/>
              </a:ext>
            </a:extLst>
          </p:cNvPr>
          <p:cNvSpPr>
            <a:spLocks noGrp="1"/>
          </p:cNvSpPr>
          <p:nvPr/>
        </p:nvSpPr>
        <p:spPr>
          <a:xfrm>
            <a:off x="904875" y="1476375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任务：新建 circle 工程，输入半径，输出周长与面积</a:t>
            </a:r>
          </a:p>
        </p:txBody>
      </p:sp>
      <p:sp>
        <p:nvSpPr>
          <p:cNvPr id="12" name="输入约定：半径 r 为合法正数，单位为 cm。">
            <a:extLst>
              <a:ext uri="{FF2B5EF4-FFF2-40B4-BE49-F238E27FC236}">
                <a16:creationId xmlns:a16="http://schemas.microsoft.com/office/drawing/2014/main" id="{67FE579C-3C1D-4DC3-B4CC-A1F0CA95F214}"/>
              </a:ext>
            </a:extLst>
          </p:cNvPr>
          <p:cNvSpPr>
            <a:spLocks noGrp="1"/>
          </p:cNvSpPr>
          <p:nvPr/>
        </p:nvSpPr>
        <p:spPr>
          <a:xfrm>
            <a:off x="904875" y="2076450"/>
            <a:ext cx="10382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输入约定：半径 r 为合法正数，单位为 cm。</a:t>
            </a:r>
          </a:p>
        </p:txBody>
      </p:sp>
      <p:sp>
        <p:nvSpPr>
          <p:cNvPr id="13" name="const double PI = 3.14159">
            <a:extLst>
              <a:ext uri="{FF2B5EF4-FFF2-40B4-BE49-F238E27FC236}">
                <a16:creationId xmlns:a16="http://schemas.microsoft.com/office/drawing/2014/main" id="{4F87D59B-CECF-487C-9022-DF1547D6878D}"/>
              </a:ext>
            </a:extLst>
          </p:cNvPr>
          <p:cNvSpPr>
            <a:spLocks noGrp="1"/>
          </p:cNvSpPr>
          <p:nvPr/>
        </p:nvSpPr>
        <p:spPr>
          <a:xfrm>
            <a:off x="904875" y="2686050"/>
            <a:ext cx="10382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7212B"/>
                </a:solidFill>
                <a:latin typeface="DejaVu Sans Mono"/>
                <a:ea typeface="DejaVu Sans Mono"/>
                <a:cs typeface="DejaVu Sans Mono"/>
              </a:rPr>
              <a:t>const double PI = 3.1415926;</a:t>
            </a:r>
          </a:p>
        </p:txBody>
      </p:sp>
      <p:sp>
        <p:nvSpPr>
          <p:cNvPr id="14" name="公式：周长 C = 2 × PI × r    面">
            <a:extLst>
              <a:ext uri="{FF2B5EF4-FFF2-40B4-BE49-F238E27FC236}">
                <a16:creationId xmlns:a16="http://schemas.microsoft.com/office/drawing/2014/main" id="{7009A6AD-E02C-456E-9C66-7556D64E49D9}"/>
              </a:ext>
            </a:extLst>
          </p:cNvPr>
          <p:cNvSpPr>
            <a:spLocks noGrp="1"/>
          </p:cNvSpPr>
          <p:nvPr/>
        </p:nvSpPr>
        <p:spPr>
          <a:xfrm>
            <a:off x="904875" y="3267075"/>
            <a:ext cx="1038225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公式：周长 C = 2 × PI × r    面积 S = PI × r × r</a:t>
            </a:r>
          </a:p>
        </p:txBody>
      </p:sp>
      <p:sp>
        <p:nvSpPr>
          <p:cNvPr id="15" name="要求：使用变量与常量，读取输入，计算并输出两位小数">
            <a:extLst>
              <a:ext uri="{FF2B5EF4-FFF2-40B4-BE49-F238E27FC236}">
                <a16:creationId xmlns:a16="http://schemas.microsoft.com/office/drawing/2014/main" id="{6739589B-DB51-41B1-8A77-143D2B7E16FC}"/>
              </a:ext>
            </a:extLst>
          </p:cNvPr>
          <p:cNvSpPr>
            <a:spLocks noGrp="1"/>
          </p:cNvSpPr>
          <p:nvPr/>
        </p:nvSpPr>
        <p:spPr>
          <a:xfrm>
            <a:off x="904875" y="3895725"/>
            <a:ext cx="10382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要求：使用变量与常量，读取输入，计算并输出两位小数及单位。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904875" y="4619625"/>
          <a:ext cx="10382250" cy="1495425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输入半径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预期周长 / cm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预期面积 / cm²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19.63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87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219B4-8D63-33DC-C13C-9E2BAAF94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网chenying0907出品 24">
            <a:extLst>
              <a:ext uri="{FF2B5EF4-FFF2-40B4-BE49-F238E27FC236}">
                <a16:creationId xmlns:a16="http://schemas.microsoft.com/office/drawing/2014/main" id="{86B4CCAA-960C-C0F9-003A-4BD94A9C08B4}"/>
              </a:ext>
            </a:extLst>
          </p:cNvPr>
          <p:cNvSpPr/>
          <p:nvPr/>
        </p:nvSpPr>
        <p:spPr>
          <a:xfrm rot="20599068">
            <a:off x="11743027" y="781838"/>
            <a:ext cx="276444" cy="23831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C1C98EEE-158B-9473-2561-7421F813326A}"/>
              </a:ext>
            </a:extLst>
          </p:cNvPr>
          <p:cNvGrpSpPr/>
          <p:nvPr/>
        </p:nvGrpSpPr>
        <p:grpSpPr>
          <a:xfrm>
            <a:off x="422340" y="200268"/>
            <a:ext cx="4475634" cy="974838"/>
            <a:chOff x="422340" y="200268"/>
            <a:chExt cx="4475634" cy="974838"/>
          </a:xfrm>
        </p:grpSpPr>
        <p:grpSp>
          <p:nvGrpSpPr>
            <p:cNvPr id="4" name="组合 16">
              <a:extLst>
                <a:ext uri="{FF2B5EF4-FFF2-40B4-BE49-F238E27FC236}">
                  <a16:creationId xmlns:a16="http://schemas.microsoft.com/office/drawing/2014/main" id="{EC957E4D-E2A2-BADA-FA22-16B96C693629}"/>
                </a:ext>
              </a:extLst>
            </p:cNvPr>
            <p:cNvGrpSpPr/>
            <p:nvPr userDrawn="1"/>
          </p:nvGrpSpPr>
          <p:grpSpPr>
            <a:xfrm>
              <a:off x="994629" y="420402"/>
              <a:ext cx="3903345" cy="754704"/>
              <a:chOff x="994629" y="420402"/>
              <a:chExt cx="3903345" cy="754704"/>
            </a:xfrm>
          </p:grpSpPr>
          <p:sp>
            <p:nvSpPr>
              <p:cNvPr id="5" name="文本框 26">
                <a:extLst>
                  <a:ext uri="{FF2B5EF4-FFF2-40B4-BE49-F238E27FC236}">
                    <a16:creationId xmlns:a16="http://schemas.microsoft.com/office/drawing/2014/main" id="{16C40B41-56DD-0833-7D8D-DB6BA26B00C4}"/>
                  </a:ext>
                </a:extLst>
              </p:cNvPr>
              <p:cNvSpPr txBox="1"/>
              <p:nvPr userDrawn="1"/>
            </p:nvSpPr>
            <p:spPr>
              <a:xfrm>
                <a:off x="994629" y="806806"/>
                <a:ext cx="357033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6" name="文本框 24">
              <a:extLst>
                <a:ext uri="{FF2B5EF4-FFF2-40B4-BE49-F238E27FC236}">
                  <a16:creationId xmlns:a16="http://schemas.microsoft.com/office/drawing/2014/main" id="{8D87345C-1AB4-0F55-E981-D0A93BC8D3FC}"/>
                </a:ext>
              </a:extLst>
            </p:cNvPr>
            <p:cNvSpPr txBox="1"/>
            <p:nvPr userDrawn="1"/>
          </p:nvSpPr>
          <p:spPr>
            <a:xfrm>
              <a:off x="422340" y="200268"/>
              <a:ext cx="850218" cy="64516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CN" sz="3600" b="1" i="1" kern="1200" dirty="0">
                  <a:solidFill>
                    <a:schemeClr val="bg1"/>
                  </a:solidFill>
                  <a:effectLst>
                    <a:glow rad="127000">
                      <a:schemeClr val="accent1">
                        <a:lumMod val="50000"/>
                      </a:schemeClr>
                    </a:glow>
                  </a:effectLst>
                  <a:latin typeface="锐字真言体免费商用" panose="02010600030101010101" pitchFamily="2" charset="-122"/>
                  <a:ea typeface="锐字真言体免费商用" panose="02010600030101010101" pitchFamily="2" charset="-122"/>
                  <a:cs typeface="+mn-cs"/>
                  <a:sym typeface="思源黑体" panose="020B0400000000000000" pitchFamily="34" charset="-122"/>
                </a:rPr>
                <a:t>04</a:t>
              </a:r>
              <a:endParaRPr lang="zh-CN" altLang="en-US" sz="36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</a:endParaRPr>
            </a:p>
          </p:txBody>
        </p:sp>
      </p:grpSp>
      <p:sp>
        <p:nvSpPr>
          <p:cNvPr id="7" name="任意多边形: 形状 68">
            <a:extLst>
              <a:ext uri="{FF2B5EF4-FFF2-40B4-BE49-F238E27FC236}">
                <a16:creationId xmlns:a16="http://schemas.microsoft.com/office/drawing/2014/main" id="{C40D052C-4539-F63B-37BB-4FCE4AB69BD0}"/>
              </a:ext>
            </a:extLst>
          </p:cNvPr>
          <p:cNvSpPr/>
          <p:nvPr/>
        </p:nvSpPr>
        <p:spPr>
          <a:xfrm>
            <a:off x="8557107" y="548565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pic>
        <p:nvPicPr>
          <p:cNvPr id="8" name="图片 8" descr="upload_159476022">
            <a:extLst>
              <a:ext uri="{FF2B5EF4-FFF2-40B4-BE49-F238E27FC236}">
                <a16:creationId xmlns:a16="http://schemas.microsoft.com/office/drawing/2014/main" id="{35AD8F0C-0ADE-E088-6A5C-A5C7CB89A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</p:spPr>
      </p:pic>
      <p:sp>
        <p:nvSpPr>
          <p:cNvPr id="9" name="常见错误与完成标准">
            <a:extLst>
              <a:ext uri="{FF2B5EF4-FFF2-40B4-BE49-F238E27FC236}">
                <a16:creationId xmlns:a16="http://schemas.microsoft.com/office/drawing/2014/main" id="{B3EF2D5E-CCFC-4DBC-8C53-214866A67322}"/>
              </a:ext>
            </a:extLst>
          </p:cNvPr>
          <p:cNvSpPr>
            <a:spLocks noGrp="1"/>
          </p:cNvSpPr>
          <p:nvPr/>
        </p:nvSpPr>
        <p:spPr>
          <a:xfrm>
            <a:off x="1428750" y="400050"/>
            <a:ext cx="700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常见错误与完成标准</a:t>
            </a:r>
          </a:p>
        </p:txBody>
      </p:sp>
      <p:sp>
        <p:nvSpPr>
          <p:cNvPr id="10" name="哈理工 A.I.R. 创新实验室">
            <a:extLst>
              <a:ext uri="{FF2B5EF4-FFF2-40B4-BE49-F238E27FC236}">
                <a16:creationId xmlns:a16="http://schemas.microsoft.com/office/drawing/2014/main" id="{C9C65E32-A198-4288-9E0C-66B5C451728D}"/>
              </a:ext>
            </a:extLst>
          </p:cNvPr>
          <p:cNvSpPr>
            <a:spLocks noGrp="1"/>
          </p:cNvSpPr>
          <p:nvPr/>
        </p:nvSpPr>
        <p:spPr>
          <a:xfrm>
            <a:off x="8991600" y="704850"/>
            <a:ext cx="2305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哈理工 A.I.R. 创新实验室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904875" y="1495425"/>
          <a:ext cx="10382250" cy="314325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现象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优先检查</a:t>
                      </a:r>
                    </a:p>
                  </a:txBody>
                  <a:tcPr>
                    <a:solidFill>
                      <a:srgbClr val="084A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找不到 gcc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GCC 是否安装，Path 是否正确，终端是否重启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编译时报错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先看第一条错误，检查分号、括号、变量名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输入后结果异常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scanf 的 &amp; 和格式符是否匹配变量类型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小数部分丢失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是否先做了整数除法，结果变量类型是否合适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改了代码，结果没变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是否保存文件，并重新编译成功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完成标准">
            <a:extLst>
              <a:ext uri="{FF2B5EF4-FFF2-40B4-BE49-F238E27FC236}">
                <a16:creationId xmlns:a16="http://schemas.microsoft.com/office/drawing/2014/main" id="{2B221C8E-009A-4F54-AA3D-D70B35A07D4B}"/>
              </a:ext>
            </a:extLst>
          </p:cNvPr>
          <p:cNvSpPr>
            <a:spLocks noGrp="1"/>
          </p:cNvSpPr>
          <p:nvPr/>
        </p:nvSpPr>
        <p:spPr>
          <a:xfrm>
            <a:off x="904875" y="487680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84A91"/>
                </a:solidFill>
                <a:latin typeface="Noto Sans CJK SC"/>
                <a:ea typeface="Noto Sans CJK SC"/>
                <a:cs typeface="Noto Sans CJK SC"/>
              </a:rPr>
              <a:t>完成标准</a:t>
            </a:r>
          </a:p>
        </p:txBody>
      </p:sp>
      <p:sp>
        <p:nvSpPr>
          <p:cNvPr id="13" name="能独立建工程并运行；能解释输入、计算、输出各行的作">
            <a:extLst>
              <a:ext uri="{FF2B5EF4-FFF2-40B4-BE49-F238E27FC236}">
                <a16:creationId xmlns:a16="http://schemas.microsoft.com/office/drawing/2014/main" id="{29E70237-8C91-4E6C-9582-EC4353D8A1B9}"/>
              </a:ext>
            </a:extLst>
          </p:cNvPr>
          <p:cNvSpPr>
            <a:spLocks noGrp="1"/>
          </p:cNvSpPr>
          <p:nvPr/>
        </p:nvSpPr>
        <p:spPr>
          <a:xfrm>
            <a:off x="904875" y="5372100"/>
            <a:ext cx="10382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能独立建工程并运行；能解释输入、计算、输出各行的作用。</a:t>
            </a:r>
          </a:p>
        </p:txBody>
      </p:sp>
      <p:sp>
        <p:nvSpPr>
          <p:cNvPr id="14" name="两组测试结果正确，输出带单位；能定位并修改一处简单">
            <a:extLst>
              <a:ext uri="{FF2B5EF4-FFF2-40B4-BE49-F238E27FC236}">
                <a16:creationId xmlns:a16="http://schemas.microsoft.com/office/drawing/2014/main" id="{0E5C6566-4398-4F91-BF94-320F70E0431A}"/>
              </a:ext>
            </a:extLst>
          </p:cNvPr>
          <p:cNvSpPr>
            <a:spLocks noGrp="1"/>
          </p:cNvSpPr>
          <p:nvPr/>
        </p:nvSpPr>
        <p:spPr>
          <a:xfrm>
            <a:off x="904875" y="5895975"/>
            <a:ext cx="10382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7212B"/>
                </a:solidFill>
                <a:latin typeface="Noto Sans CJK SC"/>
                <a:ea typeface="Noto Sans CJK SC"/>
                <a:cs typeface="Noto Sans CJK SC"/>
              </a:rPr>
              <a:t>两组测试结果正确，输出带单位；能定位并修改一处简单错误。</a:t>
            </a:r>
          </a:p>
        </p:txBody>
      </p:sp>
    </p:spTree>
    <p:extLst>
      <p:ext uri="{BB962C8B-B14F-4D97-AF65-F5344CB8AC3E}">
        <p14:creationId xmlns:p14="http://schemas.microsoft.com/office/powerpoint/2010/main" val="2572938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upload_0677123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1488" y="1002574"/>
            <a:ext cx="6354536" cy="4599214"/>
          </a:xfrm>
          <a:prstGeom prst="rect">
            <a:avLst/>
          </a:prstGeom>
        </p:spPr>
      </p:pic>
      <p:sp>
        <p:nvSpPr>
          <p:cNvPr id="26" name="任意多边形: 形状 25"/>
          <p:cNvSpPr/>
          <p:nvPr/>
        </p:nvSpPr>
        <p:spPr>
          <a:xfrm rot="13982193" flipV="1">
            <a:off x="6011572" y="-3138352"/>
            <a:ext cx="2098521" cy="10814693"/>
          </a:xfrm>
          <a:custGeom>
            <a:avLst/>
            <a:gdLst>
              <a:gd name="connsiteX0" fmla="*/ 2098520 w 2098521"/>
              <a:gd name="connsiteY0" fmla="*/ 2788530 h 10814693"/>
              <a:gd name="connsiteX1" fmla="*/ 0 w 2098521"/>
              <a:gd name="connsiteY1" fmla="*/ 0 h 10814693"/>
              <a:gd name="connsiteX2" fmla="*/ 0 w 2098521"/>
              <a:gd name="connsiteY2" fmla="*/ 10814693 h 10814693"/>
              <a:gd name="connsiteX3" fmla="*/ 2098521 w 2098521"/>
              <a:gd name="connsiteY3" fmla="*/ 9073886 h 10814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/>
        </p:nvSpPr>
        <p:spPr>
          <a:xfrm rot="3805420">
            <a:off x="6757538" y="2864877"/>
            <a:ext cx="646538" cy="1118147"/>
          </a:xfrm>
          <a:custGeom>
            <a:avLst/>
            <a:gdLst>
              <a:gd name="connsiteX0" fmla="*/ 441579 w 646538"/>
              <a:gd name="connsiteY0" fmla="*/ 0 h 1118147"/>
              <a:gd name="connsiteX1" fmla="*/ 646538 w 646538"/>
              <a:gd name="connsiteY1" fmla="*/ 1118147 h 1118147"/>
              <a:gd name="connsiteX2" fmla="*/ 0 w 646538"/>
              <a:gd name="connsiteY2" fmla="*/ 1118147 h 1118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6538" h="1118147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任意多边形: 形状 24"/>
          <p:cNvSpPr/>
          <p:nvPr/>
        </p:nvSpPr>
        <p:spPr>
          <a:xfrm rot="3239350">
            <a:off x="3210408" y="3964146"/>
            <a:ext cx="4303214" cy="5920512"/>
          </a:xfrm>
          <a:custGeom>
            <a:avLst/>
            <a:gdLst>
              <a:gd name="connsiteX0" fmla="*/ 0 w 4303214"/>
              <a:gd name="connsiteY0" fmla="*/ 0 h 5920512"/>
              <a:gd name="connsiteX1" fmla="*/ 4303214 w 4303214"/>
              <a:gd name="connsiteY1" fmla="*/ 1 h 5920512"/>
              <a:gd name="connsiteX2" fmla="*/ 0 w 4303214"/>
              <a:gd name="connsiteY2" fmla="*/ 5920512 h 5920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03214" h="5920512">
                <a:moveTo>
                  <a:pt x="0" y="0"/>
                </a:moveTo>
                <a:lnTo>
                  <a:pt x="4303214" y="1"/>
                </a:lnTo>
                <a:lnTo>
                  <a:pt x="0" y="59205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/>
        </p:nvSpPr>
        <p:spPr>
          <a:xfrm rot="13982193" flipV="1">
            <a:off x="10929458" y="1005823"/>
            <a:ext cx="1025939" cy="5287158"/>
          </a:xfrm>
          <a:custGeom>
            <a:avLst/>
            <a:gdLst>
              <a:gd name="connsiteX0" fmla="*/ 2098520 w 2098521"/>
              <a:gd name="connsiteY0" fmla="*/ 2788530 h 10814693"/>
              <a:gd name="connsiteX1" fmla="*/ 0 w 2098521"/>
              <a:gd name="connsiteY1" fmla="*/ 0 h 10814693"/>
              <a:gd name="connsiteX2" fmla="*/ 0 w 2098521"/>
              <a:gd name="connsiteY2" fmla="*/ 10814693 h 10814693"/>
              <a:gd name="connsiteX3" fmla="*/ 2098521 w 2098521"/>
              <a:gd name="connsiteY3" fmla="*/ 9073886 h 10814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8"/>
          <p:cNvSpPr/>
          <p:nvPr/>
        </p:nvSpPr>
        <p:spPr>
          <a:xfrm flipH="1">
            <a:off x="-4825040" y="5331690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sp>
        <p:nvSpPr>
          <p:cNvPr id="8" name="流程图: 数据 7"/>
          <p:cNvSpPr/>
          <p:nvPr userDrawn="1"/>
        </p:nvSpPr>
        <p:spPr>
          <a:xfrm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" name="任意多边形: 形状 68"/>
          <p:cNvSpPr/>
          <p:nvPr/>
        </p:nvSpPr>
        <p:spPr>
          <a:xfrm flipH="1">
            <a:off x="-4122005" y="442190"/>
            <a:ext cx="7940760" cy="560678"/>
          </a:xfrm>
          <a:custGeom>
            <a:avLst/>
            <a:gdLst>
              <a:gd name="connsiteX0" fmla="*/ 525480 w 9818733"/>
              <a:gd name="connsiteY0" fmla="*/ 0 h 896632"/>
              <a:gd name="connsiteX1" fmla="*/ 9818733 w 9818733"/>
              <a:gd name="connsiteY1" fmla="*/ 0 h 896632"/>
              <a:gd name="connsiteX2" fmla="*/ 9818733 w 9818733"/>
              <a:gd name="connsiteY2" fmla="*/ 896632 h 896632"/>
              <a:gd name="connsiteX3" fmla="*/ 0 w 9818733"/>
              <a:gd name="connsiteY3" fmla="*/ 896632 h 89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8733" h="896632">
                <a:moveTo>
                  <a:pt x="525480" y="0"/>
                </a:moveTo>
                <a:lnTo>
                  <a:pt x="9818733" y="0"/>
                </a:lnTo>
                <a:lnTo>
                  <a:pt x="9818733" y="896632"/>
                </a:lnTo>
                <a:lnTo>
                  <a:pt x="0" y="89663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00EE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 flipH="1">
            <a:off x="122464" y="544286"/>
            <a:ext cx="6939643" cy="34017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i="1" spc="11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『生无所息，斗无所止</a:t>
            </a:r>
            <a:r>
              <a:rPr lang="zh-CN" altLang="en-US" sz="2000" b="1" i="1" spc="11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』</a:t>
            </a:r>
            <a:endParaRPr lang="zh-CN" altLang="en-US" sz="2000" b="1" spc="11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 rot="19335346">
            <a:off x="4859935" y="1322839"/>
            <a:ext cx="5038663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b="1" i="1" kern="1200" dirty="0">
                <a:solidFill>
                  <a:schemeClr val="bg1"/>
                </a:solidFill>
                <a:effectLst>
                  <a:glow rad="127000">
                    <a:schemeClr val="accent1">
                      <a:lumMod val="50000"/>
                    </a:schemeClr>
                  </a:glow>
                </a:effectLst>
                <a:latin typeface="锐字真言体免费商用" panose="02010600030101010101" pitchFamily="2" charset="-122"/>
                <a:ea typeface="锐字真言体免费商用" panose="02010600030101010101" pitchFamily="2" charset="-122"/>
                <a:cs typeface="+mn-cs"/>
                <a:sym typeface="思源黑体" panose="020B0400000000000000" pitchFamily="34" charset="-122"/>
              </a:rPr>
              <a:t>下课啦！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619e16e-a454-4088-9145-345384318a25"/>
  <p:tag name="COMMONDATA" val="eyJoZGlkIjoiYTczY2Q5ZGQ4NDlkMTJiOTkzYmE3ZDgxZWMzNDcxMz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自定义 1254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460C7"/>
      </a:accent1>
      <a:accent2>
        <a:srgbClr val="0000EE"/>
      </a:accent2>
      <a:accent3>
        <a:srgbClr val="00ABF9"/>
      </a:accent3>
      <a:accent4>
        <a:srgbClr val="44EBB8"/>
      </a:accent4>
      <a:accent5>
        <a:srgbClr val="000077"/>
      </a:accent5>
      <a:accent6>
        <a:srgbClr val="ACACAC"/>
      </a:accent6>
      <a:hlink>
        <a:srgbClr val="026CA2"/>
      </a:hlink>
      <a:folHlink>
        <a:srgbClr val="BFBFBF"/>
      </a:folHlink>
    </a:clrScheme>
    <a:fontScheme name="思源黑体">
      <a:majorFont>
        <a:latin typeface="思源黑体 CN Heavy"/>
        <a:ea typeface="思源黑体"/>
        <a:cs typeface=""/>
      </a:majorFont>
      <a:minorFont>
        <a:latin typeface="思源黑体"/>
        <a:ea typeface="思源黑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6200</TotalTime>
  <Words>3413</Words>
  <Application>Microsoft Office PowerPoint</Application>
  <PresentationFormat>宽屏</PresentationFormat>
  <Paragraphs>466</Paragraphs>
  <Slides>29</Slides>
  <Notes>29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DejaVu Sans Mono</vt:lpstr>
      <vt:lpstr>Noto Sans CJK SC</vt:lpstr>
      <vt:lpstr>等线</vt:lpstr>
      <vt:lpstr>黑体</vt:lpstr>
      <vt:lpstr>锐字真言体免费商用</vt:lpstr>
      <vt:lpstr>思源黑体</vt:lpstr>
      <vt:lpstr>Arial</vt:lpstr>
      <vt:lpstr>Consolas</vt:lpstr>
      <vt:lpstr>Courier New</vt:lpstr>
      <vt:lpstr>Office Theme</vt:lpstr>
      <vt:lpstr>think-cell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亿 赵</cp:lastModifiedBy>
  <cp:revision>106</cp:revision>
  <dcterms:created xsi:type="dcterms:W3CDTF">2021-09-24T12:27:00Z</dcterms:created>
  <dcterms:modified xsi:type="dcterms:W3CDTF">2026-09-23T09:59:20Z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DDA5ED7262A94FD095C6D29F79F80F00_13</vt:lpwstr>
  </property>
</Properties>
</file>