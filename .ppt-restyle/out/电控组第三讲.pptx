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  <p:sldMasterId id="2147483661" r:id="rId9"/>
  </p:sldMasterIdLst>
  <p:notesMasterIdLst>
    <p:notesMasterId r:id="rId6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theme" Target="theme/theme2.xml"/><Relationship Id="rId8" Type="http://schemas.openxmlformats.org/officeDocument/2006/relationships/slideMaster" Target="slideMasters/slideMaster2.xml"/><Relationship Id="rId9" Type="http://schemas.openxmlformats.org/officeDocument/2006/relationships/slideMaster" Target="slideMasters/slideMaster3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slide" Target="slides/slide21.xml"/><Relationship Id="rId31" Type="http://schemas.openxmlformats.org/officeDocument/2006/relationships/notesSlide" Target="notesSlides/notesSlide1.xml"/><Relationship Id="rId32" Type="http://schemas.openxmlformats.org/officeDocument/2006/relationships/notesSlide" Target="notesSlides/notesSlide2.xml"/><Relationship Id="rId33" Type="http://schemas.openxmlformats.org/officeDocument/2006/relationships/notesSlide" Target="notesSlides/notesSlide3.xml"/><Relationship Id="rId34" Type="http://schemas.openxmlformats.org/officeDocument/2006/relationships/notesSlide" Target="notesSlides/notesSlide4.xml"/><Relationship Id="rId35" Type="http://schemas.openxmlformats.org/officeDocument/2006/relationships/notesSlide" Target="notesSlides/notesSlide5.xml"/><Relationship Id="rId36" Type="http://schemas.openxmlformats.org/officeDocument/2006/relationships/notesSlide" Target="notesSlides/notesSlide6.xml"/><Relationship Id="rId37" Type="http://schemas.openxmlformats.org/officeDocument/2006/relationships/notesSlide" Target="notesSlides/notesSlide7.xml"/><Relationship Id="rId38" Type="http://schemas.openxmlformats.org/officeDocument/2006/relationships/notesSlide" Target="notesSlides/notesSlide8.xml"/><Relationship Id="rId39" Type="http://schemas.openxmlformats.org/officeDocument/2006/relationships/notesSlide" Target="notesSlides/notesSlide9.xml"/><Relationship Id="rId40" Type="http://schemas.openxmlformats.org/officeDocument/2006/relationships/notesSlide" Target="notesSlides/notesSlide10.xml"/><Relationship Id="rId41" Type="http://schemas.openxmlformats.org/officeDocument/2006/relationships/notesSlide" Target="notesSlides/notesSlide11.xml"/><Relationship Id="rId42" Type="http://schemas.openxmlformats.org/officeDocument/2006/relationships/notesSlide" Target="notesSlides/notesSlide12.xml"/><Relationship Id="rId43" Type="http://schemas.openxmlformats.org/officeDocument/2006/relationships/notesSlide" Target="notesSlides/notesSlide13.xml"/><Relationship Id="rId44" Type="http://schemas.openxmlformats.org/officeDocument/2006/relationships/notesSlide" Target="notesSlides/notesSlide14.xml"/><Relationship Id="rId45" Type="http://schemas.openxmlformats.org/officeDocument/2006/relationships/notesSlide" Target="notesSlides/notesSlide15.xml"/><Relationship Id="rId46" Type="http://schemas.openxmlformats.org/officeDocument/2006/relationships/notesSlide" Target="notesSlides/notesSlide16.xml"/><Relationship Id="rId47" Type="http://schemas.openxmlformats.org/officeDocument/2006/relationships/notesSlide" Target="notesSlides/notesSlide17.xml"/><Relationship Id="rId48" Type="http://schemas.openxmlformats.org/officeDocument/2006/relationships/notesSlide" Target="notesSlides/notesSlide18.xml"/><Relationship Id="rId49" Type="http://schemas.openxmlformats.org/officeDocument/2006/relationships/notesSlide" Target="notesSlides/notesSlide19.xml"/><Relationship Id="rId50" Type="http://schemas.openxmlformats.org/officeDocument/2006/relationships/notesSlide" Target="notesSlides/notesSlide20.xml"/><Relationship Id="rId51" Type="http://schemas.openxmlformats.org/officeDocument/2006/relationships/notesSlide" Target="notesSlides/notes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上一讲我们把 C 语言的语法过了一遍：程序流程、函数、数组、字符串、结构体和指针。这一讲换战场，从一片空白的单片机开始，把一块板子变成能听你指挥的控制器。这一讲要解决三个问题：程序怎么烧进芯片、引脚怎么按我们的意思输出和输入、按键为什么不能直接读。学完这一讲，你能独立建工程、点灯、用按键控制灯，并且知道按键抖动用什么办法治。封面上的培训时间和主讲人先留空，正式开课前由主讲人自己填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这是整个 27 赛季电控组的培训时间安排，每周六上午 10:00 到 12:00，地点在西区实训楼三楼，南区教室待定。今天第 8 周，10 月 24 日，讲 STM32 第一部分：工程建立和 GPIO。后面还有第 9 周定时器与 PWM、第 10 周串口与 I2C OLED，第 11 周是转入梯队的正式考核。作业不强制每周内完成，但要求在转入梯队考核上传结束时间之前全部交齐，别拖到最后一周。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这一讲分成四块：先学会用 CubeMX 建一个 STM32 工程，把 GPIO 配成输出，点亮第一颗 LED；然后反过来把 GPIO 配成输入，接按键读电平；接着解决按键抖动这个真实问题；最后学外部中断 EXTI，让 CPU 不用一直守着按键。四块之间是递进的，前一节的代码就是后一节的基础。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第一部分，我们先把 C 换成单片机：用 CubeMX 建一个 STM32 工程，把 GPIO 配成输出，点亮开发板上的 LED。学完这一节，你要能独立建工程、能找到引脚、能改一行代码让灯闪起来。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先问一个问题：我们上学期写的 C 程序，双击就能跑；现在要让一颗芯片动起来，中间多了什么？答案有三层。第一层是启动文件，芯片上电不是直接跳 main，而是先跑 startup 里的汇编，设好栈指针和时钟，才进 main，这部分 CubeMX 会生成，不用改。第二层是 HAL 库，它把我们不想背的寄存器地址和位号包成函数，看右边这段代码，TogglePin 翻转电平，Delay 延时，都是 HAL 提供的。第三层是下载器，代码写对了还要烧进 Flash 才有用，ST-Link 走 SWD 两根线。记住最后这句：C 写逻辑，HAL 出接口，工程是底座。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建工程看着步骤多，其实就五步：选芯片、配时钟、配引脚、配工程设置、生成代码。先看时钟，队伍里最常见的坑就是时钟没配就调串口，波特率一定偏。再看引脚，PC13 是板载 LED，点成输出以后一定要改名字，不然三天后自己都认不出。最后看生成，Toolchain 选 MDK-ARM，生成之后只在 USER CODE BEGIN 和 END 之间写代码，超出了下次重新生成会被覆盖。右边这段 MX_GPIO_Init 就是 CubeMX 替我们生成的，看清 Mode 和 Pull 两个字段，第二章配按键输入时改的就是它们。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点灯只需要认识两个函数。WritePin 三件事：哪个端口、哪根引脚、给高还是给低。注意 PC13 是低电平点亮，所以写 RESET 是亮，写 SET 是灭，这点考试和作业都爱考。TogglePin 更省事，它自己翻转，配一个 Delay 就是闪烁，改 Delay 的数值就改频率。最后留个问题：Delay 是空转等待，CPU 一直在数数，这期间按键按下去也不会理你。第 9 周我们会用定时器把它替掉，第 10 周的作业会直接考这一点。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第二部分反过来：把 GPIO 配成输入，接一个按键。这一节要弄清上拉、下拉到底接在哪，以及为什么按下读到的是 0 而不是 1。学完你要能自己决定用哪种输入模式。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上一节课的灯是被我们主动控制的，现在要反过来听引脚的话。按键只有两种稳定状态，关键在于不按时引脚是什么电平。上拉就是内部接一个电阻到 VCC，平时读高，按下被拉到地，读低，这是最常用的接法，也是我们作业默认的接法。下拉正好相反，判断条件要跟着改，很多同学按下没反应就是因为这里没改。最危险的是浮空输入，引脚没有确定电平，读到的值随机跳，按键必须避开它。右边的代码先看注释那两行，配置在 CubeMX 里完成，代码只写判断。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这张表是本节最该记住的一张。四行里只有两行能用：上拉和下拉。上拉是松手读 1、按下读 0，作业里默认用这个。下拉反过来，代码里的判断条件要跟着反过来，忘了改就会出现按下去没反应。浮空输入不要用于按键，因为没有电阻定电平，引脚读到的值会乱跳。模拟输入留给 ADC 采样用，到时候学传感器再说。看最后一行结论，配错模式最典型的现象就是灯要么不亮、要么长亮。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写按键最常犯的错，是把「按着」当成了「按了一下」。如果只写一句 ReadPin 等于 RESET 就翻转，按住不放的时候灯会一直翻，因为循环每转一圈条件都成立。要按一下动一次，就得记住上一次的电平，找从高到低的那一瞬间，这段代码里的 last 和 now 就是这个意思，注意下一轮循环一定要把 now 存回 last，漏了这一步就会一直触发。右边最后一行是这段代码的命门，很多人写漏了它，然后来找我说按键怎么不好使。再往下区分短按长按就需要计时，第 9 周我们会用定时器做这件事。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第三部分回到一个更细的问题：为什么按一下按键，灯有时候会跳两下？因为机械触点闭合的一瞬间电平并不干净。这一节学会用代码把抖动滤掉，也第一次接触状态机这种写法，它在后面的工程里到处都会用。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先说清楚抖动的来源，它是机械触点的物理特性，弹簧片闭合瞬间会弹几下，这几毫秒里电平在 0 和 1 之间来回跳。芯片跑得太快，每跳一次它都读到了，于是我们以为按了一下，程序却收到好几次。右边是最常用的延时消抖：读到按下，等 20 毫秒让抖动过去，再读一次确认，两次都按下才翻转。为什么是 20 毫秒，因为抖动一般在 10 毫秒以内。这个写法的问题在 Delay，它在等的过程中什么都不干，第 9 周学完定时器，我们会把这段改成不阻塞的状态机，那才是长期做法。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作业里用延时消抖就够了，但工程里不行，因为主循环里还有别的活。判断标准就一条：如果主循环同时还要刷屏、还要发串口，那就不能用会阻塞的延时消抖，得换成状态机，用时间戳判断电平稳定了多久。硬件消抖是另一条路，用 RC 电路把抖动在进入芯片之前就滤掉，代价是加器件、占板面，参数还得算，但换来的是 CPU 完全不操心。这张表不要求背下来，要求的是知道四者的区别在哪，选的时候能说出理由。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最后一部分讲外部中断。前面 CPU 一直守着按键问「按了没」，中断换了个思路：让按键主动通知 CPU。这一节要配通 EXTI、写对回调函数，也要知道中断里哪些事不能做——第 11 周考核的按键部分就要求用中断实现。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中断的配置只在 CubeMX 里做三件事：把引脚模式选成 GPIO_EXTI 并定好触发边沿、勾上 NVIC 里的中断使能、确认优先级。这三步做完再生成代码。第二步特别要提醒，光配了引脚不勾 NVIC，程序编译通过、运行也没报错，就是按下去没反应，这是新手最常见的「没反应」原因。生成的代码里，HAL 已经把中断入口写好了，我们要写的是回调函数，所有 EXTI 线共用这一个回调，所以第一句一定要判断 GPIO_Pin，不判断就会出现按键 A 触发却动了灯 B。最后一句要记住：回调要短。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中断是一个「插队」的机制，它随时会打断主循环，所以里面做的事必须又快又稳。翻转引脚、置标志、计数，这些几微秒就完成，可以放在里面。HAL_Delay 不能放，它靠系统滴答计时，而滴答中断的优先级通常比外部中断低，放进去很可能直接卡住。串口打印也不能放，一次打印几毫秒，后面的中断都要排队，表现就是按键变迟钝。还有一点容易被忽略：中断和主循环共同读写的变量要加 volatile，不然编译器优化之后，主循环会认为这个变量永远不变，标志位永远读不到。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这一页不是让你背表格，是给你一个判断方法。第一看看 CPU 忙不忙：如果主循环里只有按键一件事，轮询完全够用，代码还更好读；如果主循环里还要刷屏、发串口、算 PID，那就不能把 CPU 锁在按键上，这时候中断是唯一选择。第二看事件急不急：按键这种人的操作，晚几毫秒没人在意；但如果是编码器、限位开关、急停，晚一点就是事故。作业第三题要求用 EXTI 实现，第五周考核里也要求按键走中断，这两个题目就是让你把「什么时候该用中断」这件事落实到代码上。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作业一共四题，和这一讲的四块内容一一对应。第一题是概念题，别只写结论，要把「为什么去掉第二个 Delay 灯就长亮」讲清楚，提示一下，想一想写完之后引脚停在什么电平。第二题练配置，重点在上下拉选对没有。第三题开始上中断，注意三件事：引脚模式选对、NVIC 勾上、回调里判断 GPIO_Pin，注释要把流程写清楚，这是我们看代码的第一眼。第四题换引脚，是让你体会「换一根脚要改几个地方」，这题做明白了，第五周考核里换引脚的活就不慌了。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最后说五条提交要求，它们和代码一样重要，每年都有人在这里丢分。第一，注释统一 UTF-8，这是硬要求，Keil 默认的编码在别人电脑上会变成乱码，改一下设置就能解决。第二，视频、代码、其他材料放进同一个压缩包，不要发一堆文件过来。第三，包名按班级加姓名加第几次任务，示例就在屏幕上。第四，邮件主题和压缩包同名，压缩包当附件。第五，作业不要求每周内完成，这是给大家留时间，但第六周考核的上传截止时间之前必须全部交齐，拖到最后一周是交不完的，我提醒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这节课的四块内容：建工程点灯、按键输入与上下拉、按键消抖、外部中断，作业就是这四块的延伸。回去先把工程跑通，把四道题做完，注释记得用 UTF-8。下周六同一时间，我们讲定时器与 PWM，用它来做不阻塞的闪灯和呼吸灯。下课。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vert="horz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vert="horz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  <p:sp>
        <p:nvSpPr>
          <p:cNvPr name="Freeform 3" id="3"/>
          <p:cNvSpPr/>
          <p:nvPr/>
        </p:nvSpPr>
        <p:spPr>
          <a:xfrm rot="0" flipH="false" flipV="false">
            <a:off x="-7315198" y="-5753098"/>
            <a:ext cx="27050999" cy="20192999"/>
          </a:xfrm>
          <a:custGeom>
            <a:avLst/>
            <a:gdLst/>
            <a:ahLst/>
            <a:cxnLst/>
            <a:rect r="r" b="b" t="t" l="l"/>
            <a:pathLst>
              <a:path h="20192999" w="27050999">
                <a:moveTo>
                  <a:pt x="7467599" y="5905499"/>
                </a:moveTo>
                <a:lnTo>
                  <a:pt x="7467599" y="12763499"/>
                </a:lnTo>
                <a:lnTo>
                  <a:pt x="19659599" y="12763499"/>
                </a:lnTo>
                <a:lnTo>
                  <a:pt x="19659599" y="5905499"/>
                </a:lnTo>
                <a:close/>
                <a:moveTo>
                  <a:pt x="0" y="0"/>
                </a:moveTo>
                <a:lnTo>
                  <a:pt x="27050999" y="0"/>
                </a:lnTo>
                <a:lnTo>
                  <a:pt x="27050999" y="20192999"/>
                </a:lnTo>
                <a:lnTo>
                  <a:pt x="0" y="20192999"/>
                </a:lnTo>
                <a:close/>
              </a:path>
            </a:pathLst>
          </a:custGeom>
          <a:solidFill>
            <a:srgbClr val="E6E6E6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vert="horz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002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" type="pic" sz="quarter"/>
          </p:nvPr>
        </p:nvSpPr>
        <p:spPr>
          <a:xfrm rot="0" flipH="false" flipV="false">
            <a:off x="910379" y="1873354"/>
            <a:ext cx="1944937" cy="1944936"/>
          </a:xfrm>
          <a:prstGeom prst="rect">
            <a:avLst/>
          </a:prstGeom>
          <a:solidFill>
            <a:srgbClr val="F0F0F0">
              <a:alpha val="100000"/>
            </a:srgbClr>
          </a:solidFill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2" type="pic" sz="quarter"/>
          </p:nvPr>
        </p:nvSpPr>
        <p:spPr>
          <a:xfrm rot="0" flipH="false" flipV="false">
            <a:off x="2938349" y="1873353"/>
            <a:ext cx="1944937" cy="1944936"/>
          </a:xfrm>
          <a:prstGeom prst="rect">
            <a:avLst/>
          </a:prstGeom>
          <a:solidFill>
            <a:srgbClr val="F0F0F0">
              <a:alpha val="100000"/>
            </a:srgbClr>
          </a:solidFill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4" id="4"/>
          <p:cNvSpPr/>
          <p:nvPr>
            <p:ph idx="3" type="pic" sz="quarter"/>
          </p:nvPr>
        </p:nvSpPr>
        <p:spPr>
          <a:xfrm rot="0" flipH="false" flipV="false">
            <a:off x="910378" y="3886331"/>
            <a:ext cx="1944937" cy="1944936"/>
          </a:xfrm>
          <a:prstGeom prst="rect">
            <a:avLst/>
          </a:prstGeom>
          <a:solidFill>
            <a:srgbClr val="F0F0F0">
              <a:alpha val="100000"/>
            </a:srgbClr>
          </a:solidFill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" type="pic" sz="quarter"/>
          </p:nvPr>
        </p:nvSpPr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2_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pic" sz="quarter"/>
          </p:nvPr>
        </p:nvSpPr>
        <p:spPr>
          <a:xfrm rot="0" flipH="false" flipV="false">
            <a:off x="5635724" y="0"/>
            <a:ext cx="4732259" cy="6858000"/>
          </a:xfrm>
          <a:prstGeom prst="roundRect">
            <a:avLst>
              <a:gd name="adj" fmla="val 14725504"/>
            </a:avLst>
          </a:prstGeom>
          <a:solidFill>
            <a:srgbClr val="F2F2F2">
              <a:alpha val="100000"/>
            </a:srgbClr>
          </a:solidFill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3436373"/>
          </a:xfrm>
          <a:prstGeom prst="rect">
            <a:avLst/>
          </a:prstGeom>
          <a:gradFill rotWithShape="true">
            <a:gsLst>
              <a:gs pos="0">
                <a:srgbClr val="0460C7">
                  <a:alpha val="100000"/>
                </a:srgbClr>
              </a:gs>
              <a:gs pos="100000">
                <a:srgbClr val="034895">
                  <a:alpha val="100000"/>
                </a:srgbClr>
              </a:gs>
            </a:gsLst>
            <a:path path="circle">
              <a:fillToRect l="0" r="100000" t="0" b="100000"/>
            </a:path>
            <a:tileRect t="-100000" b="0" l="-100000" r="0"/>
          </a:gra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>
            <p:ph idx="6" type="pic" sz="quarter"/>
          </p:nvPr>
        </p:nvSpPr>
        <p:spPr>
          <a:xfrm rot="0" flipH="false" flipV="false">
            <a:off x="7030064" y="559769"/>
            <a:ext cx="4552336" cy="2685548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2700000" dist="152400" blurRad="317500" algn="tl" rotWithShape="false">
              <a:srgbClr val="000000">
                <a:alpha val="24000"/>
              </a:srgbClr>
            </a:outerShdw>
          </a:effectLst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4" id="4"/>
          <p:cNvSpPr/>
          <p:nvPr>
            <p:ph idx="7" type="pic" sz="quarter"/>
          </p:nvPr>
        </p:nvSpPr>
        <p:spPr>
          <a:xfrm rot="0" flipH="false" flipV="false">
            <a:off x="622006" y="3615026"/>
            <a:ext cx="4552336" cy="2685548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2700000" dist="152400" blurRad="317500" algn="tl" rotWithShape="false">
              <a:srgbClr val="000000">
                <a:alpha val="24000"/>
              </a:srgbClr>
            </a:outerShdw>
          </a:effectLst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Gener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1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自定义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Office Theme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1" id="1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vert="horz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  <p:sp>
        <p:nvSpPr>
          <p:cNvPr name="Freeform 2" id="2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12700" cap="flat">
            <a:noFill/>
            <a:prstDash val="solid"/>
          </a:ln>
        </p:spPr>
        <p:txBody>
          <a:bodyPr anchor="ctr" rtlCol="false" vert="horz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  <p:sp>
        <p:nvSpPr>
          <p:cNvPr name="Freeform 3" id="3"/>
          <p:cNvSpPr/>
          <p:nvPr/>
        </p:nvSpPr>
        <p:spPr>
          <a:xfrm rot="-268369" flipH="false" flipV="false">
            <a:off x="554150" y="863907"/>
            <a:ext cx="154283" cy="113868"/>
          </a:xfrm>
          <a:custGeom>
            <a:avLst/>
            <a:gdLst/>
            <a:ahLst/>
            <a:cxnLst/>
            <a:rect r="r" b="b" t="t" l="l"/>
            <a:pathLst>
              <a:path h="113868" w="154283">
                <a:moveTo>
                  <a:pt x="154137" y="113650"/>
                </a:moveTo>
                <a:lnTo>
                  <a:pt x="154283" y="113868"/>
                </a:lnTo>
                <a:lnTo>
                  <a:pt x="153957" y="113867"/>
                </a:lnTo>
                <a:close/>
                <a:moveTo>
                  <a:pt x="77323" y="0"/>
                </a:moveTo>
                <a:lnTo>
                  <a:pt x="152921" y="113862"/>
                </a:lnTo>
                <a:lnTo>
                  <a:pt x="0" y="11317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vert="horz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12700" cap="flat">
            <a:noFill/>
            <a:prstDash val="solid"/>
          </a:ln>
        </p:spPr>
        <p:txBody>
          <a:bodyPr anchor="ctr" rtlCol="false" vert="horz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  <p:sp>
        <p:nvSpPr>
          <p:cNvPr name="Freeform 6" id="6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vert="horz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  <p:sp>
        <p:nvSpPr>
          <p:cNvPr name="Freeform 7" id="7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vert="horz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57483700" r:id="rId2"/>
    <p:sldLayoutId id="2157483701" r:id="rId3"/>
    <p:sldLayoutId id="2157483702" r:id="rId4"/>
    <p:sldLayoutId id="2157483703" r:id="rId5"/>
    <p:sldLayoutId id="2157483704" r:id="rId6"/>
    <p:sldLayoutId id="2157483705" r:id="rId7"/>
    <p:sldLayoutId id="2157483706" r:id="rId8"/>
    <p:sldLayoutId id="2157483707" r:id="rId9"/>
    <p:sldLayoutId id="2157483708" r:id="rId10"/>
    <p:sldLayoutId id="2157483709" r:id="rId11"/>
    <p:sldLayoutId id="2157483710" r:id="rId12"/>
    <p:sldLayoutId id="215748371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Relationship Id="rId4" Type="http://schemas.openxmlformats.org/officeDocument/2006/relationships/image" Target="../media/image5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-268369" flipH="false" flipV="false">
            <a:off x="554150" y="863907"/>
            <a:ext cx="154283" cy="113868"/>
          </a:xfrm>
          <a:custGeom>
            <a:avLst/>
            <a:gdLst/>
            <a:ahLst/>
            <a:cxnLst/>
            <a:rect r="r" b="b" t="t" l="l"/>
            <a:pathLst>
              <a:path h="113868" w="154283">
                <a:moveTo>
                  <a:pt x="154137" y="113650"/>
                </a:moveTo>
                <a:lnTo>
                  <a:pt x="154283" y="113868"/>
                </a:lnTo>
                <a:lnTo>
                  <a:pt x="153957" y="113867"/>
                </a:lnTo>
                <a:close/>
                <a:moveTo>
                  <a:pt x="77323" y="0"/>
                </a:moveTo>
                <a:lnTo>
                  <a:pt x="152921" y="113862"/>
                </a:lnTo>
                <a:lnTo>
                  <a:pt x="0" y="11317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7" id="7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-190500" y="1360714"/>
            <a:ext cx="6408964" cy="4640036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Freeform 10" id="10"/>
          <p:cNvSpPr/>
          <p:nvPr/>
        </p:nvSpPr>
        <p:spPr>
          <a:xfrm rot="10800000" flipH="false" flipV="false">
            <a:off x="-4121880" y="1823357"/>
            <a:ext cx="8390917" cy="766246"/>
          </a:xfrm>
          <a:custGeom>
            <a:avLst/>
            <a:gdLst/>
            <a:ahLst/>
            <a:cxnLst/>
            <a:rect r="r" b="b" t="t" l="l"/>
            <a:pathLst>
              <a:path h="766246" w="8390917">
                <a:moveTo>
                  <a:pt x="8365092" y="0"/>
                </a:moveTo>
                <a:lnTo>
                  <a:pt x="8390917" y="0"/>
                </a:lnTo>
                <a:lnTo>
                  <a:pt x="8390917" y="766246"/>
                </a:lnTo>
                <a:lnTo>
                  <a:pt x="0" y="766246"/>
                </a:lnTo>
                <a:lnTo>
                  <a:pt x="336178" y="192623"/>
                </a:lnTo>
                <a:lnTo>
                  <a:pt x="8365092" y="192623"/>
                </a:lnTo>
                <a:close/>
              </a:path>
            </a:pathLst>
          </a:custGeom>
          <a:solidFill>
            <a:srgbClr val="F0F0F0">
              <a:alpha val="6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2977103" flipH="false" flipV="false">
            <a:off x="8466446" y="2089651"/>
            <a:ext cx="3245258" cy="3776827"/>
          </a:xfrm>
          <a:prstGeom prst="parallelogram">
            <a:avLst>
              <a:gd name="adj" fmla="val 25000"/>
            </a:avLst>
          </a:prstGeom>
          <a:solidFill>
            <a:srgbClr val="0000B3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2" id="12"/>
          <p:cNvSpPr/>
          <p:nvPr/>
        </p:nvSpPr>
        <p:spPr>
          <a:xfrm rot="0" flipH="false" flipV="false">
            <a:off x="2803763" y="2064282"/>
            <a:ext cx="9818733" cy="2317218"/>
          </a:xfrm>
          <a:custGeom>
            <a:avLst/>
            <a:gdLst/>
            <a:ahLst/>
            <a:cxnLst/>
            <a:rect r="r" b="b" t="t" l="l"/>
            <a:pathLst>
              <a:path h="2317218" w="9818733">
                <a:moveTo>
                  <a:pt x="1358028" y="0"/>
                </a:moveTo>
                <a:lnTo>
                  <a:pt x="9818733" y="0"/>
                </a:lnTo>
                <a:lnTo>
                  <a:pt x="9818733" y="2317218"/>
                </a:lnTo>
                <a:lnTo>
                  <a:pt x="0" y="2317218"/>
                </a:lnTo>
                <a:close/>
              </a:path>
            </a:pathLst>
          </a:cu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3" id="13"/>
          <p:cNvSpPr/>
          <p:nvPr/>
        </p:nvSpPr>
        <p:spPr>
          <a:xfrm rot="10800000" flipH="false" flipV="true">
            <a:off x="-4122005" y="4421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4" id="14"/>
          <p:cNvSpPr/>
          <p:nvPr/>
        </p:nvSpPr>
        <p:spPr>
          <a:xfrm rot="10800000" flipH="false" flipV="false">
            <a:off x="-2695316" y="5619146"/>
            <a:ext cx="6289317" cy="574331"/>
          </a:xfrm>
          <a:custGeom>
            <a:avLst/>
            <a:gdLst/>
            <a:ahLst/>
            <a:cxnLst/>
            <a:rect r="r" b="b" t="t" l="l"/>
            <a:pathLst>
              <a:path h="574331" w="6289317">
                <a:moveTo>
                  <a:pt x="6269961" y="0"/>
                </a:moveTo>
                <a:lnTo>
                  <a:pt x="6289317" y="0"/>
                </a:lnTo>
                <a:lnTo>
                  <a:pt x="6289317" y="574331"/>
                </a:lnTo>
                <a:lnTo>
                  <a:pt x="0" y="574331"/>
                </a:lnTo>
                <a:lnTo>
                  <a:pt x="251978" y="144379"/>
                </a:lnTo>
                <a:lnTo>
                  <a:pt x="6269961" y="144379"/>
                </a:lnTo>
                <a:close/>
              </a:path>
            </a:pathLst>
          </a:custGeom>
          <a:solidFill>
            <a:srgbClr val="D9D9D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5" id="15"/>
          <p:cNvSpPr/>
          <p:nvPr/>
        </p:nvSpPr>
        <p:spPr>
          <a:xfrm rot="10800000" flipH="false" flipV="false">
            <a:off x="-383223" y="6193477"/>
            <a:ext cx="5180980" cy="473119"/>
          </a:xfrm>
          <a:custGeom>
            <a:avLst/>
            <a:gdLst/>
            <a:ahLst/>
            <a:cxnLst/>
            <a:rect r="r" b="b" t="t" l="l"/>
            <a:pathLst>
              <a:path h="473119" w="5180980">
                <a:moveTo>
                  <a:pt x="5165034" y="0"/>
                </a:moveTo>
                <a:lnTo>
                  <a:pt x="5180980" y="0"/>
                </a:lnTo>
                <a:lnTo>
                  <a:pt x="5180980" y="473119"/>
                </a:lnTo>
                <a:lnTo>
                  <a:pt x="0" y="473119"/>
                </a:lnTo>
                <a:lnTo>
                  <a:pt x="207574" y="118936"/>
                </a:lnTo>
                <a:lnTo>
                  <a:pt x="5165034" y="118936"/>
                </a:lnTo>
                <a:close/>
              </a:path>
            </a:pathLst>
          </a:custGeom>
          <a:solidFill>
            <a:srgbClr val="D9D9D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6" id="16"/>
          <p:cNvSpPr/>
          <p:nvPr/>
        </p:nvSpPr>
        <p:spPr>
          <a:xfrm rot="-3659522" flipH="false" flipV="false">
            <a:off x="9248546" y="3449847"/>
            <a:ext cx="2824243" cy="4476772"/>
          </a:xfrm>
          <a:custGeom>
            <a:avLst/>
            <a:gdLst/>
            <a:ahLst/>
            <a:cxnLst/>
            <a:rect r="r" b="b" t="t" l="l"/>
            <a:pathLst>
              <a:path h="4476772" w="2824243">
                <a:moveTo>
                  <a:pt x="0" y="2594027"/>
                </a:moveTo>
                <a:lnTo>
                  <a:pt x="942392" y="0"/>
                </a:lnTo>
                <a:lnTo>
                  <a:pt x="2824243" y="4476772"/>
                </a:lnTo>
                <a:lnTo>
                  <a:pt x="0" y="2594027"/>
                </a:lnTo>
                <a:close/>
              </a:path>
            </a:pathLst>
          </a:custGeom>
          <a:solidFill>
            <a:srgbClr val="0460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5530263" y="1342006"/>
            <a:ext cx="1131474" cy="482453"/>
          </a:xfrm>
          <a:prstGeom prst="parallelogram">
            <a:avLst>
              <a:gd name="adj" fmla="val 62784"/>
            </a:avLst>
          </a:prstGeom>
          <a:solidFill>
            <a:srgbClr val="0460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067064" y="1107039"/>
            <a:ext cx="606981" cy="258813"/>
          </a:xfrm>
          <a:prstGeom prst="parallelogram">
            <a:avLst>
              <a:gd name="adj" fmla="val 62784"/>
            </a:avLst>
          </a:prstGeom>
          <a:solidFill>
            <a:srgbClr val="0460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4797757" y="6133027"/>
            <a:ext cx="4716356" cy="338554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565656"/>
                </a:solidFill>
                <a:latin typeface="Noto Sans SC"/>
                <a:ea typeface="Noto Sans SC"/>
                <a:cs typeface="Noto Sans SC"/>
                <a:sym typeface="Noto Sans SC"/>
              </a:rPr>
              <a:t>培训时间：第8周 10.24　主讲人：＿＿＿＿＿</a:t>
            </a:r>
            <a:endParaRPr lang="en-US" sz="1100"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4269037" y="2765633"/>
            <a:ext cx="8900796" cy="1547812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false" i="true" strike="noStrike" u="none" sz="5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电控组第三讲</a:t>
            </a:r>
            <a:endParaRPr lang="en-US" sz="1100"/>
          </a:p>
        </p:txBody>
      </p:sp>
      <p:sp>
        <p:nvSpPr>
          <p:cNvPr name="AutoShape 21" id="21"/>
          <p:cNvSpPr txBox="true"/>
          <p:nvPr/>
        </p:nvSpPr>
        <p:spPr>
          <a:xfrm rot="10800000" flipH="false" flipV="true">
            <a:off x="122464" y="544286"/>
            <a:ext cx="6939643" cy="340179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000" spc="110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『生无所息，斗无所止』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88552" y="704088"/>
            <a:ext cx="2304288" cy="301752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ts val="1721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275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哈理工 A.I.R. 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00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26464" y="402336"/>
            <a:ext cx="7004304" cy="54864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ts val="324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40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关于时间安排:</a:t>
            </a:r>
            <a:endParaRPr lang="en-US" sz="1100"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1408014" y="1109242"/>
            <a:ext cx="7645310" cy="487602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-268369" flipH="false" flipV="false">
            <a:off x="554150" y="863907"/>
            <a:ext cx="154283" cy="113868"/>
          </a:xfrm>
          <a:custGeom>
            <a:avLst/>
            <a:gdLst/>
            <a:ahLst/>
            <a:cxnLst/>
            <a:rect r="r" b="b" t="t" l="l"/>
            <a:pathLst>
              <a:path h="113868" w="154283">
                <a:moveTo>
                  <a:pt x="154137" y="113650"/>
                </a:moveTo>
                <a:lnTo>
                  <a:pt x="154283" y="113868"/>
                </a:lnTo>
                <a:lnTo>
                  <a:pt x="153957" y="113867"/>
                </a:lnTo>
                <a:close/>
                <a:moveTo>
                  <a:pt x="77323" y="0"/>
                </a:moveTo>
                <a:lnTo>
                  <a:pt x="152921" y="113862"/>
                </a:lnTo>
                <a:lnTo>
                  <a:pt x="0" y="11317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7" id="7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9" id="9"/>
          <p:cNvSpPr/>
          <p:nvPr/>
        </p:nvSpPr>
        <p:spPr>
          <a:xfrm rot="2380623" flipH="false" flipV="false">
            <a:off x="11528781" y="-382476"/>
            <a:ext cx="687161" cy="5225545"/>
          </a:xfrm>
          <a:custGeom>
            <a:avLst/>
            <a:gdLst/>
            <a:ahLst/>
            <a:cxnLst/>
            <a:rect r="r" b="b" t="t" l="l"/>
            <a:pathLst>
              <a:path h="5225545" w="687161">
                <a:moveTo>
                  <a:pt x="0" y="570027"/>
                </a:moveTo>
                <a:lnTo>
                  <a:pt x="687161" y="0"/>
                </a:lnTo>
                <a:lnTo>
                  <a:pt x="687161" y="4655515"/>
                </a:lnTo>
                <a:lnTo>
                  <a:pt x="0" y="5225545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2380623" flipH="false" flipV="false">
            <a:off x="-511296" y="-1203550"/>
            <a:ext cx="2174008" cy="4424167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1" id="11"/>
          <p:cNvSpPr/>
          <p:nvPr/>
        </p:nvSpPr>
        <p:spPr>
          <a:xfrm rot="2380623" flipH="false" flipV="false">
            <a:off x="1452010" y="-2589138"/>
            <a:ext cx="981375" cy="8713877"/>
          </a:xfrm>
          <a:prstGeom prst="roundRect">
            <a:avLst>
              <a:gd name="adj" fmla="val 0"/>
            </a:avLst>
          </a:prstGeom>
          <a:solidFill>
            <a:srgbClr val="00AB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2" id="12"/>
          <p:cNvSpPr/>
          <p:nvPr/>
        </p:nvSpPr>
        <p:spPr>
          <a:xfrm rot="8785094" flipH="false" flipV="false">
            <a:off x="-476482" y="-332819"/>
            <a:ext cx="808317" cy="3628428"/>
          </a:xfrm>
          <a:custGeom>
            <a:avLst/>
            <a:gdLst/>
            <a:ahLst/>
            <a:cxnLst/>
            <a:rect r="r" b="b" t="t" l="l"/>
            <a:pathLst>
              <a:path h="3628428" w="808317">
                <a:moveTo>
                  <a:pt x="0" y="3628428"/>
                </a:moveTo>
                <a:lnTo>
                  <a:pt x="0" y="243140"/>
                </a:lnTo>
                <a:lnTo>
                  <a:pt x="808317" y="0"/>
                </a:lnTo>
                <a:lnTo>
                  <a:pt x="808317" y="3628428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3" id="13"/>
          <p:cNvSpPr/>
          <p:nvPr/>
        </p:nvSpPr>
        <p:spPr>
          <a:xfrm rot="0" flipH="false" flipV="false">
            <a:off x="65171" y="2821044"/>
            <a:ext cx="532402" cy="392937"/>
          </a:xfrm>
          <a:custGeom>
            <a:avLst/>
            <a:gdLst/>
            <a:ahLst/>
            <a:cxnLst/>
            <a:rect r="r" b="b" t="t" l="l"/>
            <a:pathLst>
              <a:path h="392937" w="532402">
                <a:moveTo>
                  <a:pt x="531894" y="392184"/>
                </a:moveTo>
                <a:lnTo>
                  <a:pt x="532402" y="392937"/>
                </a:lnTo>
                <a:lnTo>
                  <a:pt x="531273" y="392932"/>
                </a:lnTo>
                <a:close/>
                <a:moveTo>
                  <a:pt x="266823" y="0"/>
                </a:moveTo>
                <a:lnTo>
                  <a:pt x="527696" y="392916"/>
                </a:lnTo>
                <a:lnTo>
                  <a:pt x="0" y="390555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4" id="14"/>
          <p:cNvSpPr/>
          <p:nvPr/>
        </p:nvSpPr>
        <p:spPr>
          <a:xfrm rot="8785094" flipH="false" flipV="false">
            <a:off x="55920" y="-982343"/>
            <a:ext cx="808317" cy="3628428"/>
          </a:xfrm>
          <a:custGeom>
            <a:avLst/>
            <a:gdLst/>
            <a:ahLst/>
            <a:cxnLst/>
            <a:rect r="r" b="b" t="t" l="l"/>
            <a:pathLst>
              <a:path h="3628428" w="808317">
                <a:moveTo>
                  <a:pt x="0" y="3628428"/>
                </a:moveTo>
                <a:lnTo>
                  <a:pt x="0" y="243140"/>
                </a:lnTo>
                <a:lnTo>
                  <a:pt x="808317" y="0"/>
                </a:lnTo>
                <a:lnTo>
                  <a:pt x="808317" y="3628428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5" id="15"/>
          <p:cNvSpPr/>
          <p:nvPr/>
        </p:nvSpPr>
        <p:spPr>
          <a:xfrm rot="2380623" flipH="false" flipV="false">
            <a:off x="1588692" y="1005717"/>
            <a:ext cx="687161" cy="5225545"/>
          </a:xfrm>
          <a:custGeom>
            <a:avLst/>
            <a:gdLst/>
            <a:ahLst/>
            <a:cxnLst/>
            <a:rect r="r" b="b" t="t" l="l"/>
            <a:pathLst>
              <a:path h="5225545" w="687161">
                <a:moveTo>
                  <a:pt x="0" y="570027"/>
                </a:moveTo>
                <a:lnTo>
                  <a:pt x="687161" y="0"/>
                </a:lnTo>
                <a:lnTo>
                  <a:pt x="687161" y="4655515"/>
                </a:lnTo>
                <a:lnTo>
                  <a:pt x="0" y="5225545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996097" y="2113157"/>
            <a:ext cx="1203960" cy="706755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460C7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5030470" y="2906310"/>
            <a:ext cx="683260" cy="683260"/>
          </a:xfrm>
          <a:prstGeom prst="roundRect">
            <a:avLst>
              <a:gd name="adj" fmla="val 0"/>
            </a:avLst>
          </a:prstGeom>
          <a:noFill/>
          <a:ln w="12700" cmpd="sng" cap="flat">
            <a:solidFill>
              <a:srgbClr val="000000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5906299" y="2944410"/>
            <a:ext cx="5301615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ln w="9525">
                  <a:solidFill>
                    <a:srgbClr val="FFFFFF">
                      <a:alpha val="100000"/>
                    </a:srgbClr>
                  </a:solidFill>
                </a:ln>
                <a:solidFill>
                  <a:srgbClr val="000077"/>
                </a:solidFill>
                <a:effectLst>
                  <a:outerShdw dir="2700000" dist="38100" blurRad="12700" algn="tl">
                    <a:srgbClr val="1414FF">
                      <a:alpha val="100000"/>
                    </a:srgbClr>
                  </a:outerShdw>
                </a:effectLst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GPIO 输入与按键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5024755" y="3948762"/>
            <a:ext cx="683260" cy="683260"/>
          </a:xfrm>
          <a:prstGeom prst="roundRect">
            <a:avLst>
              <a:gd name="adj" fmla="val 0"/>
            </a:avLst>
          </a:prstGeom>
          <a:noFill/>
          <a:ln w="12700" cmpd="sng" cap="flat">
            <a:solidFill>
              <a:srgbClr val="000000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5883275" y="3938602"/>
            <a:ext cx="5301615" cy="646331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ln w="9525">
                  <a:solidFill>
                    <a:srgbClr val="FFFFFF">
                      <a:alpha val="100000"/>
                    </a:srgbClr>
                  </a:solidFill>
                </a:ln>
                <a:solidFill>
                  <a:srgbClr val="000077"/>
                </a:solidFill>
                <a:effectLst>
                  <a:outerShdw dir="2700000" dist="38100" blurRad="12700" algn="tl">
                    <a:srgbClr val="1414FF">
                      <a:alpha val="100000"/>
                    </a:srgbClr>
                  </a:outerShdw>
                </a:effectLst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按键消抖</a:t>
            </a:r>
            <a:endParaRPr lang="en-US" sz="1100"/>
          </a:p>
        </p:txBody>
      </p:sp>
      <p:sp>
        <p:nvSpPr>
          <p:cNvPr name="Freeform 21" id="21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23" id="23"/>
          <p:cNvSpPr txBox="true"/>
          <p:nvPr/>
        </p:nvSpPr>
        <p:spPr>
          <a:xfrm rot="0" flipH="false" flipV="false">
            <a:off x="8961317" y="691994"/>
            <a:ext cx="6962834" cy="273819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true" strike="noStrike" u="none" sz="1400" spc="11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哈理工A.I.R.创新实验室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5013325" y="1856626"/>
            <a:ext cx="683260" cy="683260"/>
          </a:xfrm>
          <a:prstGeom prst="roundRect">
            <a:avLst>
              <a:gd name="adj" fmla="val 0"/>
            </a:avLst>
          </a:prstGeom>
          <a:noFill/>
          <a:ln w="12700" cmpd="sng" cap="flat">
            <a:solidFill>
              <a:srgbClr val="000000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25" id="25"/>
          <p:cNvSpPr txBox="true"/>
          <p:nvPr/>
        </p:nvSpPr>
        <p:spPr>
          <a:xfrm rot="0" flipH="false" flipV="false">
            <a:off x="5883275" y="1894726"/>
            <a:ext cx="5741166" cy="646331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true" strike="noStrike" u="none" sz="3600">
                <a:ln w="9525">
                  <a:solidFill>
                    <a:srgbClr val="FFFFFF">
                      <a:alpha val="100000"/>
                    </a:srgbClr>
                  </a:solidFill>
                </a:ln>
                <a:solidFill>
                  <a:srgbClr val="000077"/>
                </a:solidFill>
                <a:effectLst>
                  <a:outerShdw dir="2700000" dist="38100" blurRad="12700" algn="tl">
                    <a:srgbClr val="1414FF">
                      <a:alpha val="100000"/>
                    </a:srgbClr>
                  </a:outerShdw>
                </a:effectLst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工程建立与 GPIO 输出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5013325" y="5001374"/>
            <a:ext cx="683260" cy="683260"/>
          </a:xfrm>
          <a:prstGeom prst="roundRect">
            <a:avLst>
              <a:gd name="adj" fmla="val 0"/>
            </a:avLst>
          </a:prstGeom>
          <a:noFill/>
          <a:ln w="12700" cmpd="sng" cap="flat">
            <a:solidFill>
              <a:srgbClr val="000000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name="AutoShape 27" id="27"/>
          <p:cNvSpPr txBox="true"/>
          <p:nvPr/>
        </p:nvSpPr>
        <p:spPr>
          <a:xfrm rot="0" flipH="false" flipV="false">
            <a:off x="5871845" y="4991214"/>
            <a:ext cx="5301615" cy="646331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ln w="9525">
                  <a:solidFill>
                    <a:srgbClr val="FFFFFF">
                      <a:alpha val="100000"/>
                    </a:srgbClr>
                  </a:solidFill>
                </a:ln>
                <a:solidFill>
                  <a:srgbClr val="000077"/>
                </a:solidFill>
                <a:effectLst>
                  <a:outerShdw dir="2700000" dist="38100" blurRad="12700" algn="tl">
                    <a:srgbClr val="1414FF">
                      <a:alpha val="100000"/>
                    </a:srgbClr>
                  </a:outerShdw>
                </a:effectLst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外部中断 EXTI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-268369" flipH="false" flipV="false">
            <a:off x="554150" y="863907"/>
            <a:ext cx="154283" cy="113868"/>
          </a:xfrm>
          <a:custGeom>
            <a:avLst/>
            <a:gdLst/>
            <a:ahLst/>
            <a:cxnLst/>
            <a:rect r="r" b="b" t="t" l="l"/>
            <a:pathLst>
              <a:path h="113868" w="154283">
                <a:moveTo>
                  <a:pt x="154137" y="113650"/>
                </a:moveTo>
                <a:lnTo>
                  <a:pt x="154283" y="113868"/>
                </a:lnTo>
                <a:lnTo>
                  <a:pt x="153957" y="113867"/>
                </a:lnTo>
                <a:close/>
                <a:moveTo>
                  <a:pt x="77323" y="0"/>
                </a:moveTo>
                <a:lnTo>
                  <a:pt x="152921" y="113862"/>
                </a:lnTo>
                <a:lnTo>
                  <a:pt x="0" y="11317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7" id="7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-176893" y="1002574"/>
            <a:ext cx="6354536" cy="4599214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Freeform 10" id="10"/>
          <p:cNvSpPr/>
          <p:nvPr/>
        </p:nvSpPr>
        <p:spPr>
          <a:xfrm rot="-7617807" flipH="false" flipV="true">
            <a:off x="6011572" y="-3138352"/>
            <a:ext cx="2098521" cy="10814693"/>
          </a:xfrm>
          <a:custGeom>
            <a:avLst/>
            <a:gdLst/>
            <a:ahLst/>
            <a:cxnLst/>
            <a:rect r="r" b="b" t="t" l="l"/>
            <a:pathLst>
              <a:path h="10814693" w="2098521">
                <a:moveTo>
                  <a:pt x="2098520" y="2788530"/>
                </a:moveTo>
                <a:lnTo>
                  <a:pt x="0" y="0"/>
                </a:lnTo>
                <a:lnTo>
                  <a:pt x="0" y="10814693"/>
                </a:lnTo>
                <a:lnTo>
                  <a:pt x="2098521" y="9073886"/>
                </a:lnTo>
                <a:close/>
              </a:path>
            </a:pathLst>
          </a:custGeom>
          <a:solidFill>
            <a:srgbClr val="00AB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1" id="11"/>
          <p:cNvSpPr/>
          <p:nvPr/>
        </p:nvSpPr>
        <p:spPr>
          <a:xfrm rot="3805419" flipH="false" flipV="false">
            <a:off x="6757538" y="2864877"/>
            <a:ext cx="646538" cy="1118147"/>
          </a:xfrm>
          <a:custGeom>
            <a:avLst/>
            <a:gdLst/>
            <a:ahLst/>
            <a:cxnLst/>
            <a:rect r="r" b="b" t="t" l="l"/>
            <a:pathLst>
              <a:path h="1118147" w="646538">
                <a:moveTo>
                  <a:pt x="441579" y="0"/>
                </a:moveTo>
                <a:lnTo>
                  <a:pt x="646538" y="1118147"/>
                </a:lnTo>
                <a:lnTo>
                  <a:pt x="0" y="111814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2" id="12"/>
          <p:cNvSpPr/>
          <p:nvPr/>
        </p:nvSpPr>
        <p:spPr>
          <a:xfrm rot="3239350" flipH="false" flipV="false">
            <a:off x="3210408" y="3964146"/>
            <a:ext cx="4303213" cy="5920511"/>
          </a:xfrm>
          <a:custGeom>
            <a:avLst/>
            <a:gdLst/>
            <a:ahLst/>
            <a:cxnLst/>
            <a:rect r="r" b="b" t="t" l="l"/>
            <a:pathLst>
              <a:path h="5920511" w="4303213">
                <a:moveTo>
                  <a:pt x="0" y="0"/>
                </a:moveTo>
                <a:lnTo>
                  <a:pt x="4303213" y="1"/>
                </a:lnTo>
                <a:lnTo>
                  <a:pt x="0" y="5920511"/>
                </a:lnTo>
                <a:close/>
              </a:path>
            </a:pathLst>
          </a:custGeom>
          <a:solidFill>
            <a:srgbClr val="0460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3" id="13"/>
          <p:cNvSpPr/>
          <p:nvPr/>
        </p:nvSpPr>
        <p:spPr>
          <a:xfrm rot="-7617807" flipH="false" flipV="true">
            <a:off x="10929458" y="1005823"/>
            <a:ext cx="1025939" cy="5287159"/>
          </a:xfrm>
          <a:custGeom>
            <a:avLst/>
            <a:gdLst/>
            <a:ahLst/>
            <a:cxnLst/>
            <a:rect r="r" b="b" t="t" l="l"/>
            <a:pathLst>
              <a:path h="5287159" w="1025939">
                <a:moveTo>
                  <a:pt x="1025939" y="1363275"/>
                </a:moveTo>
                <a:lnTo>
                  <a:pt x="0" y="0"/>
                </a:lnTo>
                <a:lnTo>
                  <a:pt x="0" y="5287159"/>
                </a:lnTo>
                <a:lnTo>
                  <a:pt x="1025939" y="443610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4" id="14"/>
          <p:cNvSpPr/>
          <p:nvPr/>
        </p:nvSpPr>
        <p:spPr>
          <a:xfrm rot="10800000" flipH="false" flipV="true">
            <a:off x="-4825040" y="53316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-346982" y="5807529"/>
            <a:ext cx="2231571" cy="693964"/>
          </a:xfrm>
          <a:prstGeom prst="flowChartInputOutput">
            <a:avLst/>
          </a:prstGeom>
          <a:solidFill>
            <a:srgbClr val="000000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6" id="16"/>
          <p:cNvSpPr/>
          <p:nvPr/>
        </p:nvSpPr>
        <p:spPr>
          <a:xfrm rot="10800000" flipH="false" flipV="true">
            <a:off x="-4122005" y="4421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10800000" flipH="false" flipV="true">
            <a:off x="122464" y="544286"/>
            <a:ext cx="6939643" cy="340179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000" spc="110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『生无所息，斗无所止』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-2264654" flipH="false" flipV="false">
            <a:off x="4168351" y="1430526"/>
            <a:ext cx="6009640" cy="2462213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6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01</a:t>
            </a: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工程建立与 GPIO 输出</a:t>
            </a:r>
            <a:r>
              <a:rPr lang="en-US" b="true" i="true" strike="noStrike" u="none" sz="1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true" i="true" strike="noStrike" u="none" sz="1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/>
            </a:r>
          </a:p>
          <a:p>
            <a:pPr algn="l">
              <a:lnSpc>
                <a:spcPct val="10000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88552" y="704088"/>
            <a:ext cx="2304288" cy="301752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ts val="1721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275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哈理工 A.I.R. 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01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26464" y="402336"/>
            <a:ext cx="7004304" cy="54864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ts val="324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40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从写 C 到点灯，中间多了哪几层？</a:t>
            </a:r>
            <a:endParaRPr lang="en-US" sz="1100"/>
          </a:p>
        </p:txBody>
      </p:sp>
      <p:sp>
        <p:nvSpPr>
          <p:cNvPr id="13" name="TextBox 12"/>
          <p:cNvSpPr txBox="1"/>
          <p:nvPr/>
        </p:nvSpPr>
        <p:spPr>
          <a:xfrm>
            <a:off x="905256" y="1417320"/>
            <a:ext cx="10378440" cy="2828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1. 启动文件与链接脚本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1782508"/>
            <a:ext cx="103784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C 程序从 main 开始，单片机却是先跑 startup 汇编：它设置栈指针、初始化时钟，再跳进 main。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" y="2157412"/>
            <a:ext cx="10378440" cy="2828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2. HAL 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2522601"/>
            <a:ext cx="103784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HAL_GPIO_TogglePin() 内部帮你算好了寄存器地址与位号，不用自己查手册写十六进制。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" y="2897505"/>
            <a:ext cx="10378440" cy="2828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3. 下载器与 Flash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262693"/>
            <a:ext cx="103784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ST-Link 把编译好的 bin 烧进 Flash，掉电不丢；单步调试靠 SWD 两根线。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" y="3637597"/>
            <a:ext cx="10378440" cy="20802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int main(void) {</a:t>
            </a:r>
          </a:p>
          <a:p>
            <a:pPr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HAL_Init();</a:t>
            </a:r>
          </a:p>
          <a:p>
            <a:pPr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SystemClock_Config();</a:t>
            </a:r>
          </a:p>
          <a:p>
            <a:pPr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MX_GPIO_Init(); // CubeMX 生成</a:t>
            </a:r>
          </a:p>
          <a:p>
            <a:pPr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while (1) {</a:t>
            </a:r>
          </a:p>
          <a:p>
            <a:pPr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HAL_GPIO_TogglePin(GPIOC, GPIO_PIN_13);</a:t>
            </a:r>
          </a:p>
          <a:p>
            <a:pPr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HAL_Delay(500);</a:t>
            </a:r>
          </a:p>
          <a:p>
            <a:pPr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6052185"/>
            <a:ext cx="10378440" cy="25717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C 负责逻辑，HAL 负责接口，工程负责底座——三者齐了，灯才会亮。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88552" y="704088"/>
            <a:ext cx="2304288" cy="301752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ts val="1721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275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哈理工 A.I.R. 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01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26464" y="402336"/>
            <a:ext cx="7004304" cy="54864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ts val="324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40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建工程：五步怎么走完？</a:t>
            </a:r>
            <a:endParaRPr lang="en-US" sz="1100"/>
          </a:p>
        </p:txBody>
      </p:sp>
      <p:sp>
        <p:nvSpPr>
          <p:cNvPr id="13" name="TextBox 12"/>
          <p:cNvSpPr txBox="1"/>
          <p:nvPr/>
        </p:nvSpPr>
        <p:spPr>
          <a:xfrm>
            <a:off x="905256" y="1417320"/>
            <a:ext cx="10378440" cy="30003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362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1. 选芯片、定时钟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1799653"/>
            <a:ext cx="10378440" cy="29146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295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选 STM32F103C8T6，外部晶振 8MHz 倍频到 72MHz——时钟不对，串口和定时器全是错的。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" y="2191702"/>
            <a:ext cx="10378440" cy="30003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362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2. 配引脚、命名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2574036"/>
            <a:ext cx="10378440" cy="29146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295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PC13 点成 GPIO_Output，模式选推挽输出、无上下拉；引脚改名 LED 以后好找。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" y="2966085"/>
            <a:ext cx="10378440" cy="30003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362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3. 生成、只改 USER CODE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348418"/>
            <a:ext cx="10378440" cy="29146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295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Toolchain 选 MDK-ARM；自己写的代码放在 USER CODE BEGIN 与 END 之间，重新生成不会被冲掉。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" y="3740467"/>
            <a:ext cx="10378440" cy="198119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void MX_GPIO_Init(void) {</a:t>
            </a:r>
          </a:p>
          <a:p>
            <a:pPr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GPIO_InitTypeDef g = {0};</a:t>
            </a:r>
          </a:p>
          <a:p>
            <a:pPr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g.Pin = GPIO_PIN_13;</a:t>
            </a:r>
          </a:p>
          <a:p>
            <a:pPr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g.Mode = GPIO_MODE_OUTPUT_PP;</a:t>
            </a:r>
          </a:p>
          <a:p>
            <a:pPr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g.Pull = GPIO_NOPULL;</a:t>
            </a:r>
          </a:p>
          <a:p>
            <a:pPr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g.Speed = GPIO_SPEED_FREQ_HIGH;</a:t>
            </a:r>
          </a:p>
          <a:p>
            <a:pPr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HAL_GPIO_Init(GPIOC, &amp;g);</a:t>
            </a:r>
          </a:p>
          <a:p>
            <a:pPr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5867971"/>
            <a:ext cx="103784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CubeMX 把寄存器配置翻译成 init 代码，你的工作只剩 while(1) 里那几行逻辑。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88552" y="704088"/>
            <a:ext cx="2304288" cy="301752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ts val="1721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275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哈理工 A.I.R. 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01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26464" y="402336"/>
            <a:ext cx="7004304" cy="54864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ts val="324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40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点亮一颗 LED：三行代码够不够？</a:t>
            </a:r>
            <a:endParaRPr lang="en-US" sz="1100"/>
          </a:p>
        </p:txBody>
      </p:sp>
      <p:sp>
        <p:nvSpPr>
          <p:cNvPr id="13" name="TextBox 12"/>
          <p:cNvSpPr txBox="1"/>
          <p:nvPr/>
        </p:nvSpPr>
        <p:spPr>
          <a:xfrm>
            <a:off x="905256" y="1417320"/>
            <a:ext cx="10378440" cy="31718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97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1. WritePin 定电平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1816798"/>
            <a:ext cx="10378440" cy="30861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三个参数：哪个口、哪根脚、给高还是给低。PC13 是低电平点亮，写 RESET 才亮。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" y="2225992"/>
            <a:ext cx="10378440" cy="31718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97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2. TogglePin 翻转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2625471"/>
            <a:ext cx="10378440" cy="30861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翻转不用记当前电平，配一次 Delay 就是闪烁；想快想慢，只改 Delay 的毫秒数。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" y="3034665"/>
            <a:ext cx="10378440" cy="31718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97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3. Delay 的代价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434143"/>
            <a:ext cx="10378440" cy="30861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HAL_Delay 是空转等待，等待期间什么都干不了——灯闪了，按键就顾不上，这是真实问题。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" y="3843337"/>
            <a:ext cx="10378440" cy="153543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while (1) {</a:t>
            </a:r>
          </a:p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HAL_GPIO_WritePin(GPIOC, GPIO_PIN_13, GPIO_PIN_RESET);</a:t>
            </a:r>
          </a:p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HAL_Delay(1000);</a:t>
            </a:r>
          </a:p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HAL_GPIO_WritePin(GPIOC, GPIO_PIN_13, GPIO_PIN_SET);</a:t>
            </a:r>
          </a:p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HAL_Delay(1000);</a:t>
            </a:r>
          </a:p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5726430"/>
            <a:ext cx="10378440" cy="58293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29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想一想：两个 HAL_Delay(1000) 都留着，灯是 1 秒闪一次；去掉第二个，灯会怎样？作业里有这道题。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-268369" flipH="false" flipV="false">
            <a:off x="554150" y="863907"/>
            <a:ext cx="154283" cy="113868"/>
          </a:xfrm>
          <a:custGeom>
            <a:avLst/>
            <a:gdLst/>
            <a:ahLst/>
            <a:cxnLst/>
            <a:rect r="r" b="b" t="t" l="l"/>
            <a:pathLst>
              <a:path h="113868" w="154283">
                <a:moveTo>
                  <a:pt x="154137" y="113650"/>
                </a:moveTo>
                <a:lnTo>
                  <a:pt x="154283" y="113868"/>
                </a:lnTo>
                <a:lnTo>
                  <a:pt x="153957" y="113867"/>
                </a:lnTo>
                <a:close/>
                <a:moveTo>
                  <a:pt x="77323" y="0"/>
                </a:moveTo>
                <a:lnTo>
                  <a:pt x="152921" y="113862"/>
                </a:lnTo>
                <a:lnTo>
                  <a:pt x="0" y="11317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7" id="7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-176893" y="1002574"/>
            <a:ext cx="6354536" cy="4599214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Freeform 10" id="10"/>
          <p:cNvSpPr/>
          <p:nvPr/>
        </p:nvSpPr>
        <p:spPr>
          <a:xfrm rot="-7617807" flipH="false" flipV="true">
            <a:off x="6011572" y="-3138352"/>
            <a:ext cx="2098521" cy="10814693"/>
          </a:xfrm>
          <a:custGeom>
            <a:avLst/>
            <a:gdLst/>
            <a:ahLst/>
            <a:cxnLst/>
            <a:rect r="r" b="b" t="t" l="l"/>
            <a:pathLst>
              <a:path h="10814693" w="2098521">
                <a:moveTo>
                  <a:pt x="2098520" y="2788530"/>
                </a:moveTo>
                <a:lnTo>
                  <a:pt x="0" y="0"/>
                </a:lnTo>
                <a:lnTo>
                  <a:pt x="0" y="10814693"/>
                </a:lnTo>
                <a:lnTo>
                  <a:pt x="2098521" y="9073886"/>
                </a:lnTo>
                <a:close/>
              </a:path>
            </a:pathLst>
          </a:custGeom>
          <a:solidFill>
            <a:srgbClr val="00AB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1" id="11"/>
          <p:cNvSpPr/>
          <p:nvPr/>
        </p:nvSpPr>
        <p:spPr>
          <a:xfrm rot="3805419" flipH="false" flipV="false">
            <a:off x="6757538" y="2864877"/>
            <a:ext cx="646538" cy="1118147"/>
          </a:xfrm>
          <a:custGeom>
            <a:avLst/>
            <a:gdLst/>
            <a:ahLst/>
            <a:cxnLst/>
            <a:rect r="r" b="b" t="t" l="l"/>
            <a:pathLst>
              <a:path h="1118147" w="646538">
                <a:moveTo>
                  <a:pt x="441579" y="0"/>
                </a:moveTo>
                <a:lnTo>
                  <a:pt x="646538" y="1118147"/>
                </a:lnTo>
                <a:lnTo>
                  <a:pt x="0" y="111814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2" id="12"/>
          <p:cNvSpPr/>
          <p:nvPr/>
        </p:nvSpPr>
        <p:spPr>
          <a:xfrm rot="3239350" flipH="false" flipV="false">
            <a:off x="3210408" y="3964146"/>
            <a:ext cx="4303213" cy="5920511"/>
          </a:xfrm>
          <a:custGeom>
            <a:avLst/>
            <a:gdLst/>
            <a:ahLst/>
            <a:cxnLst/>
            <a:rect r="r" b="b" t="t" l="l"/>
            <a:pathLst>
              <a:path h="5920511" w="4303213">
                <a:moveTo>
                  <a:pt x="0" y="0"/>
                </a:moveTo>
                <a:lnTo>
                  <a:pt x="4303213" y="1"/>
                </a:lnTo>
                <a:lnTo>
                  <a:pt x="0" y="5920511"/>
                </a:lnTo>
                <a:close/>
              </a:path>
            </a:pathLst>
          </a:custGeom>
          <a:solidFill>
            <a:srgbClr val="0460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3" id="13"/>
          <p:cNvSpPr/>
          <p:nvPr/>
        </p:nvSpPr>
        <p:spPr>
          <a:xfrm rot="-7617807" flipH="false" flipV="true">
            <a:off x="10929458" y="1005823"/>
            <a:ext cx="1025939" cy="5287159"/>
          </a:xfrm>
          <a:custGeom>
            <a:avLst/>
            <a:gdLst/>
            <a:ahLst/>
            <a:cxnLst/>
            <a:rect r="r" b="b" t="t" l="l"/>
            <a:pathLst>
              <a:path h="5287159" w="1025939">
                <a:moveTo>
                  <a:pt x="1025939" y="1363275"/>
                </a:moveTo>
                <a:lnTo>
                  <a:pt x="0" y="0"/>
                </a:lnTo>
                <a:lnTo>
                  <a:pt x="0" y="5287159"/>
                </a:lnTo>
                <a:lnTo>
                  <a:pt x="1025939" y="443610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4" id="14"/>
          <p:cNvSpPr/>
          <p:nvPr/>
        </p:nvSpPr>
        <p:spPr>
          <a:xfrm rot="10800000" flipH="false" flipV="true">
            <a:off x="-4825040" y="53316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-346982" y="5807529"/>
            <a:ext cx="2231571" cy="693964"/>
          </a:xfrm>
          <a:prstGeom prst="flowChartInputOutput">
            <a:avLst/>
          </a:prstGeom>
          <a:solidFill>
            <a:srgbClr val="000000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6" id="16"/>
          <p:cNvSpPr/>
          <p:nvPr/>
        </p:nvSpPr>
        <p:spPr>
          <a:xfrm rot="10800000" flipH="false" flipV="true">
            <a:off x="-4122005" y="4421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10800000" flipH="false" flipV="true">
            <a:off x="122464" y="544286"/>
            <a:ext cx="6939643" cy="340179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000" spc="110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『生无所息，斗无所止』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-2264654" flipH="false" flipV="false">
            <a:off x="4168351" y="1430526"/>
            <a:ext cx="6009640" cy="2462213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6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02</a:t>
            </a: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GPIO 输入与按键</a:t>
            </a:r>
            <a:r>
              <a:rPr lang="en-US" b="true" i="true" strike="noStrike" u="none" sz="1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true" i="true" strike="noStrike" u="none" sz="1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/>
            </a:r>
          </a:p>
          <a:p>
            <a:pPr algn="l">
              <a:lnSpc>
                <a:spcPct val="100000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88552" y="704088"/>
            <a:ext cx="2304288" cy="301752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ts val="1721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275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哈理工 A.I.R. 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02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26464" y="402336"/>
            <a:ext cx="7004304" cy="54864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ts val="324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40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按键按下读到 0，是谁定的？</a:t>
            </a:r>
            <a:endParaRPr lang="en-US" sz="1100"/>
          </a:p>
        </p:txBody>
      </p:sp>
      <p:sp>
        <p:nvSpPr>
          <p:cNvPr id="13" name="TextBox 12"/>
          <p:cNvSpPr txBox="1"/>
          <p:nvPr/>
        </p:nvSpPr>
        <p:spPr>
          <a:xfrm>
            <a:off x="905256" y="1417320"/>
            <a:ext cx="10378440" cy="33432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1. 上拉输入：平时 1，按下 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1833943"/>
            <a:ext cx="10378440" cy="33432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引脚内部经电阻接 VCC，按键另一端接地。松手读到高电平，按下被拉低——最常用接法。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" y="2268855"/>
            <a:ext cx="10378440" cy="33432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2. 下拉输入：平时 0，按下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2685478"/>
            <a:ext cx="10378440" cy="33432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电阻接 GND，按下接 VCC。判断逻辑要跟着反过来写，接反了灯会一直亮或一直不亮。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" y="3120390"/>
            <a:ext cx="10378440" cy="33432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3. 浮空输入：绝对不能用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537013"/>
            <a:ext cx="10378440" cy="33432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没有电阻定电平，引脚像根天线，读到的值随手指和空气乱跳，程序无法判断。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" y="3971925"/>
            <a:ext cx="10378440" cy="19069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// CubeMX: PB1 -&gt; GPIO_Input</a:t>
            </a:r>
          </a:p>
          <a:p>
            <a:pPr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// Pull-up -&gt; 平时读 1</a:t>
            </a:r>
          </a:p>
          <a:p>
            <a:pPr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if (HAL_GPIO_ReadPin(GPIOB, GPIO_PIN_1)</a:t>
            </a:r>
          </a:p>
          <a:p>
            <a:pPr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== GPIO_PIN_RESET) {</a:t>
            </a:r>
          </a:p>
          <a:p>
            <a:pPr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HAL_GPIO_WritePin(GPIOC,</a:t>
            </a:r>
          </a:p>
          <a:p>
            <a:pPr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GPIO_PIN_13, GPIO_PIN_RESET);</a:t>
            </a:r>
          </a:p>
          <a:p>
            <a:pPr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6025134"/>
            <a:ext cx="10378440" cy="30861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「按下读到 0 还是 1」由 CubeMX 里的上拉/下拉决定，代码只负责如实读出来。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88552" y="704088"/>
            <a:ext cx="2304288" cy="301752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ts val="1721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275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哈理工 A.I.R. 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02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26464" y="402336"/>
            <a:ext cx="7004304" cy="54864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ts val="324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40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四种输入模式，按键该选哪一种？</a:t>
            </a:r>
            <a:endParaRPr lang="en-US" sz="1100"/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905256" y="1417320"/>
          <a:ext cx="10378439" cy="2376010"/>
        </p:xfrm>
        <a:graphic>
          <a:graphicData uri="http://schemas.openxmlformats.org/drawingml/2006/table">
            <a:tbl>
              <a:tblPr firstRow="1" bandRow="0"/>
              <a:tblGrid>
                <a:gridCol w="2225844"/>
                <a:gridCol w="2102186"/>
                <a:gridCol w="2102186"/>
                <a:gridCol w="3948223"/>
              </a:tblGrid>
              <a:tr h="475202">
                <a:tc>
                  <a:txBody>
                    <a:bodyPr wrap="square"/>
                    <a:lstStyle/>
                    <a:p>
                      <a:pPr>
                        <a:lnSpc>
                          <a:spcPts val="27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模式</a:t>
                      </a: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84A9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7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松手时电平</a:t>
                      </a: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84A9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7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按下时电平</a:t>
                      </a: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84A9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7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能不能用在按键上</a:t>
                      </a: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84A91"/>
                    </a:solidFill>
                  </a:tcPr>
                </a:tc>
              </a:tr>
              <a:tr h="475202">
                <a:tc>
                  <a:txBody>
                    <a:bodyPr wrap="square"/>
                    <a:lstStyle/>
                    <a:p>
                      <a:pPr>
                        <a:lnSpc>
                          <a:spcPts val="27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721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上拉输入</a:t>
                      </a: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7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721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1（高）</a:t>
                      </a: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7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721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0（低）</a:t>
                      </a: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7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721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推荐，作业里就用它</a:t>
                      </a: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202">
                <a:tc>
                  <a:txBody>
                    <a:bodyPr wrap="square"/>
                    <a:lstStyle/>
                    <a:p>
                      <a:pPr>
                        <a:lnSpc>
                          <a:spcPts val="27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721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下拉输入</a:t>
                      </a: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7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721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0（低）</a:t>
                      </a: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7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721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1（高）</a:t>
                      </a: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7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721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可用，判断条件要反过来写</a:t>
                      </a: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202">
                <a:tc>
                  <a:txBody>
                    <a:bodyPr wrap="square"/>
                    <a:lstStyle/>
                    <a:p>
                      <a:pPr>
                        <a:lnSpc>
                          <a:spcPts val="27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721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浮空输入</a:t>
                      </a: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7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721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不确定</a:t>
                      </a: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7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721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不确定</a:t>
                      </a: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7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721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不要用，读数会乱跳</a:t>
                      </a: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202">
                <a:tc>
                  <a:txBody>
                    <a:bodyPr wrap="square"/>
                    <a:lstStyle/>
                    <a:p>
                      <a:pPr>
                        <a:lnSpc>
                          <a:spcPts val="27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721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模拟输入</a:t>
                      </a: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7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721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连续电压</a:t>
                      </a: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7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721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连续电压</a:t>
                      </a: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7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721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给 ADC 采样用，不接按键</a:t>
                      </a: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905256" y="5640705"/>
            <a:ext cx="10378440" cy="66865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同一个按键配上拉和配下拉，代码里判断的电平正好相反——选错模式，现象就是灯不亮或长亮。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88552" y="704088"/>
            <a:ext cx="2304288" cy="301752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ts val="1721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275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哈理工 A.I.R. 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02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26464" y="402336"/>
            <a:ext cx="7004304" cy="54864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ts val="324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40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读按键：只判断一次电平够不够？</a:t>
            </a:r>
            <a:endParaRPr lang="en-US" sz="1100"/>
          </a:p>
        </p:txBody>
      </p:sp>
      <p:sp>
        <p:nvSpPr>
          <p:cNvPr id="13" name="TextBox 12"/>
          <p:cNvSpPr txBox="1"/>
          <p:nvPr/>
        </p:nvSpPr>
        <p:spPr>
          <a:xfrm>
            <a:off x="905256" y="1417320"/>
            <a:ext cx="10378440" cy="31718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97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1. 判断电平：现在按着吗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1816798"/>
            <a:ext cx="10378440" cy="30861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ReadPin 等于 RESET 就是按着。按住不放它会一直成立，灯会一直翻，不是「按一下翻一次」。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" y="2225992"/>
            <a:ext cx="10378440" cy="31718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97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2. 判断边沿：刚刚按了一下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2625471"/>
            <a:ext cx="10378440" cy="30861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存下上一次的电平，只有「上次 1、这次 0」才算一次按下——这才是按一下动一次。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" y="3034665"/>
            <a:ext cx="10378440" cy="31718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97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3. 区分短按与长按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434143"/>
            <a:ext cx="10378440" cy="30861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要计时就得有「现在几点」，HAL_GetTick 能凑合，第 9 周的定时器才是正规做法。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" y="3843337"/>
            <a:ext cx="10378440" cy="179133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static uint8_t last = 1;</a:t>
            </a:r>
          </a:p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uint8_t now = HAL_GPIO_ReadPin(GPIOB, GPIO_PIN_1);</a:t>
            </a:r>
          </a:p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// 下降沿：刚刚按下</a:t>
            </a:r>
          </a:p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if (last == 1 &amp;&amp; now == 0) {</a:t>
            </a:r>
          </a:p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HAL_GPIO_TogglePin(GPIOC, GPIO_PIN_13);</a:t>
            </a:r>
          </a:p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last = now;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6017895"/>
            <a:ext cx="10378440" cy="29146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29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判断电平回答「现在按着吗」，判断边沿回答「刚刚按了一下」——两个需求不能混在同一行 if 里。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-268369" flipH="false" flipV="false">
            <a:off x="554150" y="863907"/>
            <a:ext cx="154283" cy="113868"/>
          </a:xfrm>
          <a:custGeom>
            <a:avLst/>
            <a:gdLst/>
            <a:ahLst/>
            <a:cxnLst/>
            <a:rect r="r" b="b" t="t" l="l"/>
            <a:pathLst>
              <a:path h="113868" w="154283">
                <a:moveTo>
                  <a:pt x="154137" y="113650"/>
                </a:moveTo>
                <a:lnTo>
                  <a:pt x="154283" y="113868"/>
                </a:lnTo>
                <a:lnTo>
                  <a:pt x="153957" y="113867"/>
                </a:lnTo>
                <a:close/>
                <a:moveTo>
                  <a:pt x="77323" y="0"/>
                </a:moveTo>
                <a:lnTo>
                  <a:pt x="152921" y="113862"/>
                </a:lnTo>
                <a:lnTo>
                  <a:pt x="0" y="11317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7" id="7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-176893" y="1002574"/>
            <a:ext cx="6354536" cy="4599214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Freeform 10" id="10"/>
          <p:cNvSpPr/>
          <p:nvPr/>
        </p:nvSpPr>
        <p:spPr>
          <a:xfrm rot="-7617807" flipH="false" flipV="true">
            <a:off x="6011572" y="-3138352"/>
            <a:ext cx="2098521" cy="10814693"/>
          </a:xfrm>
          <a:custGeom>
            <a:avLst/>
            <a:gdLst/>
            <a:ahLst/>
            <a:cxnLst/>
            <a:rect r="r" b="b" t="t" l="l"/>
            <a:pathLst>
              <a:path h="10814693" w="2098521">
                <a:moveTo>
                  <a:pt x="2098520" y="2788530"/>
                </a:moveTo>
                <a:lnTo>
                  <a:pt x="0" y="0"/>
                </a:lnTo>
                <a:lnTo>
                  <a:pt x="0" y="10814693"/>
                </a:lnTo>
                <a:lnTo>
                  <a:pt x="2098521" y="9073886"/>
                </a:lnTo>
                <a:close/>
              </a:path>
            </a:pathLst>
          </a:custGeom>
          <a:solidFill>
            <a:srgbClr val="00AB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1" id="11"/>
          <p:cNvSpPr/>
          <p:nvPr/>
        </p:nvSpPr>
        <p:spPr>
          <a:xfrm rot="3805419" flipH="false" flipV="false">
            <a:off x="6757538" y="2864877"/>
            <a:ext cx="646538" cy="1118147"/>
          </a:xfrm>
          <a:custGeom>
            <a:avLst/>
            <a:gdLst/>
            <a:ahLst/>
            <a:cxnLst/>
            <a:rect r="r" b="b" t="t" l="l"/>
            <a:pathLst>
              <a:path h="1118147" w="646538">
                <a:moveTo>
                  <a:pt x="441579" y="0"/>
                </a:moveTo>
                <a:lnTo>
                  <a:pt x="646538" y="1118147"/>
                </a:lnTo>
                <a:lnTo>
                  <a:pt x="0" y="111814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2" id="12"/>
          <p:cNvSpPr/>
          <p:nvPr/>
        </p:nvSpPr>
        <p:spPr>
          <a:xfrm rot="3239350" flipH="false" flipV="false">
            <a:off x="3210408" y="3964146"/>
            <a:ext cx="4303213" cy="5920511"/>
          </a:xfrm>
          <a:custGeom>
            <a:avLst/>
            <a:gdLst/>
            <a:ahLst/>
            <a:cxnLst/>
            <a:rect r="r" b="b" t="t" l="l"/>
            <a:pathLst>
              <a:path h="5920511" w="4303213">
                <a:moveTo>
                  <a:pt x="0" y="0"/>
                </a:moveTo>
                <a:lnTo>
                  <a:pt x="4303213" y="1"/>
                </a:lnTo>
                <a:lnTo>
                  <a:pt x="0" y="5920511"/>
                </a:lnTo>
                <a:close/>
              </a:path>
            </a:pathLst>
          </a:custGeom>
          <a:solidFill>
            <a:srgbClr val="0460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3" id="13"/>
          <p:cNvSpPr/>
          <p:nvPr/>
        </p:nvSpPr>
        <p:spPr>
          <a:xfrm rot="-7617807" flipH="false" flipV="true">
            <a:off x="10929458" y="1005823"/>
            <a:ext cx="1025939" cy="5287159"/>
          </a:xfrm>
          <a:custGeom>
            <a:avLst/>
            <a:gdLst/>
            <a:ahLst/>
            <a:cxnLst/>
            <a:rect r="r" b="b" t="t" l="l"/>
            <a:pathLst>
              <a:path h="5287159" w="1025939">
                <a:moveTo>
                  <a:pt x="1025939" y="1363275"/>
                </a:moveTo>
                <a:lnTo>
                  <a:pt x="0" y="0"/>
                </a:lnTo>
                <a:lnTo>
                  <a:pt x="0" y="5287159"/>
                </a:lnTo>
                <a:lnTo>
                  <a:pt x="1025939" y="443610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4" id="14"/>
          <p:cNvSpPr/>
          <p:nvPr/>
        </p:nvSpPr>
        <p:spPr>
          <a:xfrm rot="10800000" flipH="false" flipV="true">
            <a:off x="-4825040" y="53316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-346982" y="5807529"/>
            <a:ext cx="2231571" cy="693964"/>
          </a:xfrm>
          <a:prstGeom prst="flowChartInputOutput">
            <a:avLst/>
          </a:prstGeom>
          <a:solidFill>
            <a:srgbClr val="000000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6" id="16"/>
          <p:cNvSpPr/>
          <p:nvPr/>
        </p:nvSpPr>
        <p:spPr>
          <a:xfrm rot="10800000" flipH="false" flipV="true">
            <a:off x="-4122005" y="4421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10800000" flipH="false" flipV="true">
            <a:off x="122464" y="544286"/>
            <a:ext cx="6939643" cy="340179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000" spc="110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『生无所息，斗无所止』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-2264654" flipH="false" flipV="false">
            <a:off x="4168351" y="1430526"/>
            <a:ext cx="6009640" cy="2462213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6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03</a:t>
            </a: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按键消抖</a:t>
            </a:r>
            <a:r>
              <a:rPr lang="en-US" b="true" i="true" strike="noStrike" u="none" sz="1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true" i="true" strike="noStrike" u="none" sz="1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/>
            </a:r>
          </a:p>
          <a:p>
            <a:pPr algn="l">
              <a:lnSpc>
                <a:spcPct val="100000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88552" y="704088"/>
            <a:ext cx="2304288" cy="301752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ts val="1721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275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哈理工 A.I.R. 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03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26464" y="402336"/>
            <a:ext cx="7004304" cy="54864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ts val="324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40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抖动从哪来，怎么在代码里滤掉？</a:t>
            </a:r>
            <a:endParaRPr lang="en-US" sz="1100"/>
          </a:p>
        </p:txBody>
      </p:sp>
      <p:sp>
        <p:nvSpPr>
          <p:cNvPr id="13" name="TextBox 12"/>
          <p:cNvSpPr txBox="1"/>
          <p:nvPr/>
        </p:nvSpPr>
        <p:spPr>
          <a:xfrm>
            <a:off x="905256" y="1417320"/>
            <a:ext cx="10378440" cy="31718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97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1. 抖动是机械问题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1816798"/>
            <a:ext cx="10378440" cy="30861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触点闭合的几毫秒内会反复通断，不是芯片的错；CPU 一毫秒能读几百次，全都读到了。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" y="2225992"/>
            <a:ext cx="10378440" cy="31718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97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2. 延时消抖：20ms 后再确认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2625471"/>
            <a:ext cx="10378440" cy="30861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读到按下后等 20 毫秒再读一次，两次都是按下才认账。简单有效，但 Delay 会挡住别的事。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" y="3034665"/>
            <a:ext cx="10378440" cy="31718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97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3. 状态机消抖：不阻塞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434143"/>
            <a:ext cx="10378440" cy="30861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用时间戳和状态变量判断，不等不卡；等第 9 周定时器到位，这才是工程里的标准写法。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" y="3843337"/>
            <a:ext cx="10378440" cy="204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uint8_t now = ReadKey();</a:t>
            </a:r>
          </a:p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if (now == 0 &amp;&amp; last == 1) {</a:t>
            </a:r>
          </a:p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HAL_Delay(20);</a:t>
            </a:r>
          </a:p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if (ReadKey() == 0) { // 再确认一次</a:t>
            </a:r>
          </a:p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HAL_GPIO_TogglePin(GPIOC, GPIO_PIN_13);</a:t>
            </a:r>
          </a:p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last = now;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6036881"/>
            <a:ext cx="10378440" cy="29146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29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抖动的本质是「一次按下被读成很多次」；消抖就是让这很多次只算一次。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88552" y="704088"/>
            <a:ext cx="2304288" cy="301752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ts val="1721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275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哈理工 A.I.R. 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03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26464" y="402336"/>
            <a:ext cx="7004304" cy="54864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ts val="324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40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四种消抖方案，怎么选？</a:t>
            </a:r>
            <a:endParaRPr lang="en-US" sz="1100"/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905256" y="1417320"/>
          <a:ext cx="10378438" cy="3070382"/>
        </p:xfrm>
        <a:graphic>
          <a:graphicData uri="http://schemas.openxmlformats.org/drawingml/2006/table">
            <a:tbl>
              <a:tblPr firstRow="1" bandRow="0"/>
              <a:tblGrid>
                <a:gridCol w="2294817"/>
                <a:gridCol w="3252428"/>
                <a:gridCol w="2294817"/>
                <a:gridCol w="2536376"/>
              </a:tblGrid>
              <a:tr h="475202">
                <a:tc>
                  <a:txBody>
                    <a:bodyPr wrap="square"/>
                    <a:lstStyle/>
                    <a:p>
                      <a:pPr>
                        <a:lnSpc>
                          <a:spcPts val="27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方案</a:t>
                      </a: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84A9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7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怎么判断</a:t>
                      </a: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84A9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7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代价</a:t>
                      </a: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84A9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7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用在哪</a:t>
                      </a: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84A91"/>
                    </a:solidFill>
                  </a:tcPr>
                </a:tc>
              </a:tr>
              <a:tr h="475202">
                <a:tc>
                  <a:txBody>
                    <a:bodyPr wrap="square"/>
                    <a:lstStyle/>
                    <a:p>
                      <a:pPr>
                        <a:lnSpc>
                          <a:spcPts val="27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721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延时消抖</a:t>
                      </a: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7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721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等 20ms 再读一次确认</a:t>
                      </a: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7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721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主循环停 20ms</a:t>
                      </a: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7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721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作业、单个按键</a:t>
                      </a: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202">
                <a:tc>
                  <a:txBody>
                    <a:bodyPr wrap="square"/>
                    <a:lstStyle/>
                    <a:p>
                      <a:pPr>
                        <a:lnSpc>
                          <a:spcPts val="27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721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计数消抖</a:t>
                      </a: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7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721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连续 N 次读到相同才认</a:t>
                      </a: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7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721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次数不好定</a:t>
                      </a: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7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721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循环稳定的简单场合</a:t>
                      </a: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2388">
                <a:tc>
                  <a:txBody>
                    <a:bodyPr wrap="square"/>
                    <a:lstStyle/>
                    <a:p>
                      <a:pPr>
                        <a:lnSpc>
                          <a:spcPts val="27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721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状态机消抖</a:t>
                      </a: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7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721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用时间戳判稳定时长</a:t>
                      </a: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7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721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代码稍长，要有时间基准</a:t>
                      </a: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7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721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工程里的标准做法</a:t>
                      </a: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2388">
                <a:tc>
                  <a:txBody>
                    <a:bodyPr wrap="square"/>
                    <a:lstStyle/>
                    <a:p>
                      <a:pPr>
                        <a:lnSpc>
                          <a:spcPts val="27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721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硬件消抖</a:t>
                      </a: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7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721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RC 电路或专用芯片先滤</a:t>
                      </a: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7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721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加器件、占板面</a:t>
                      </a: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7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721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按键多、CPU 忙的场合</a:t>
                      </a: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905256" y="5640705"/>
            <a:ext cx="10378440" cy="66865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先问一句：主循环里除了按键还有别的事吗？只有按键，延时消抖就够；还有别的事，必须换成状态机或硬件。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-268369" flipH="false" flipV="false">
            <a:off x="554150" y="863907"/>
            <a:ext cx="154283" cy="113868"/>
          </a:xfrm>
          <a:custGeom>
            <a:avLst/>
            <a:gdLst/>
            <a:ahLst/>
            <a:cxnLst/>
            <a:rect r="r" b="b" t="t" l="l"/>
            <a:pathLst>
              <a:path h="113868" w="154283">
                <a:moveTo>
                  <a:pt x="154137" y="113650"/>
                </a:moveTo>
                <a:lnTo>
                  <a:pt x="154283" y="113868"/>
                </a:lnTo>
                <a:lnTo>
                  <a:pt x="153957" y="113867"/>
                </a:lnTo>
                <a:close/>
                <a:moveTo>
                  <a:pt x="77323" y="0"/>
                </a:moveTo>
                <a:lnTo>
                  <a:pt x="152921" y="113862"/>
                </a:lnTo>
                <a:lnTo>
                  <a:pt x="0" y="11317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7" id="7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-176893" y="1002574"/>
            <a:ext cx="6354536" cy="4599214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Freeform 10" id="10"/>
          <p:cNvSpPr/>
          <p:nvPr/>
        </p:nvSpPr>
        <p:spPr>
          <a:xfrm rot="-7617807" flipH="false" flipV="true">
            <a:off x="6011572" y="-3138352"/>
            <a:ext cx="2098521" cy="10814693"/>
          </a:xfrm>
          <a:custGeom>
            <a:avLst/>
            <a:gdLst/>
            <a:ahLst/>
            <a:cxnLst/>
            <a:rect r="r" b="b" t="t" l="l"/>
            <a:pathLst>
              <a:path h="10814693" w="2098521">
                <a:moveTo>
                  <a:pt x="2098520" y="2788530"/>
                </a:moveTo>
                <a:lnTo>
                  <a:pt x="0" y="0"/>
                </a:lnTo>
                <a:lnTo>
                  <a:pt x="0" y="10814693"/>
                </a:lnTo>
                <a:lnTo>
                  <a:pt x="2098521" y="9073886"/>
                </a:lnTo>
                <a:close/>
              </a:path>
            </a:pathLst>
          </a:custGeom>
          <a:solidFill>
            <a:srgbClr val="00AB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1" id="11"/>
          <p:cNvSpPr/>
          <p:nvPr/>
        </p:nvSpPr>
        <p:spPr>
          <a:xfrm rot="3805419" flipH="false" flipV="false">
            <a:off x="6757538" y="2864877"/>
            <a:ext cx="646538" cy="1118147"/>
          </a:xfrm>
          <a:custGeom>
            <a:avLst/>
            <a:gdLst/>
            <a:ahLst/>
            <a:cxnLst/>
            <a:rect r="r" b="b" t="t" l="l"/>
            <a:pathLst>
              <a:path h="1118147" w="646538">
                <a:moveTo>
                  <a:pt x="441579" y="0"/>
                </a:moveTo>
                <a:lnTo>
                  <a:pt x="646538" y="1118147"/>
                </a:lnTo>
                <a:lnTo>
                  <a:pt x="0" y="111814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2" id="12"/>
          <p:cNvSpPr/>
          <p:nvPr/>
        </p:nvSpPr>
        <p:spPr>
          <a:xfrm rot="3239350" flipH="false" flipV="false">
            <a:off x="3210408" y="3964146"/>
            <a:ext cx="4303213" cy="5920511"/>
          </a:xfrm>
          <a:custGeom>
            <a:avLst/>
            <a:gdLst/>
            <a:ahLst/>
            <a:cxnLst/>
            <a:rect r="r" b="b" t="t" l="l"/>
            <a:pathLst>
              <a:path h="5920511" w="4303213">
                <a:moveTo>
                  <a:pt x="0" y="0"/>
                </a:moveTo>
                <a:lnTo>
                  <a:pt x="4303213" y="1"/>
                </a:lnTo>
                <a:lnTo>
                  <a:pt x="0" y="5920511"/>
                </a:lnTo>
                <a:close/>
              </a:path>
            </a:pathLst>
          </a:custGeom>
          <a:solidFill>
            <a:srgbClr val="0460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3" id="13"/>
          <p:cNvSpPr/>
          <p:nvPr/>
        </p:nvSpPr>
        <p:spPr>
          <a:xfrm rot="-7617807" flipH="false" flipV="true">
            <a:off x="10929458" y="1005823"/>
            <a:ext cx="1025939" cy="5287159"/>
          </a:xfrm>
          <a:custGeom>
            <a:avLst/>
            <a:gdLst/>
            <a:ahLst/>
            <a:cxnLst/>
            <a:rect r="r" b="b" t="t" l="l"/>
            <a:pathLst>
              <a:path h="5287159" w="1025939">
                <a:moveTo>
                  <a:pt x="1025939" y="1363275"/>
                </a:moveTo>
                <a:lnTo>
                  <a:pt x="0" y="0"/>
                </a:lnTo>
                <a:lnTo>
                  <a:pt x="0" y="5287159"/>
                </a:lnTo>
                <a:lnTo>
                  <a:pt x="1025939" y="443610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4" id="14"/>
          <p:cNvSpPr/>
          <p:nvPr/>
        </p:nvSpPr>
        <p:spPr>
          <a:xfrm rot="10800000" flipH="false" flipV="true">
            <a:off x="-4825040" y="53316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-346982" y="5807529"/>
            <a:ext cx="2231571" cy="693964"/>
          </a:xfrm>
          <a:prstGeom prst="flowChartInputOutput">
            <a:avLst/>
          </a:prstGeom>
          <a:solidFill>
            <a:srgbClr val="000000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6" id="16"/>
          <p:cNvSpPr/>
          <p:nvPr/>
        </p:nvSpPr>
        <p:spPr>
          <a:xfrm rot="10800000" flipH="false" flipV="true">
            <a:off x="-4122005" y="4421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10800000" flipH="false" flipV="true">
            <a:off x="122464" y="544286"/>
            <a:ext cx="6939643" cy="340179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000" spc="110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『生无所息，斗无所止』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-2264654" flipH="false" flipV="false">
            <a:off x="4168351" y="1430526"/>
            <a:ext cx="6009640" cy="2462213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6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04</a:t>
            </a: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外部中断 EXTI</a:t>
            </a:r>
            <a:r>
              <a:rPr lang="en-US" b="true" i="true" strike="noStrike" u="none" sz="1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true" i="true" strike="noStrike" u="none" sz="1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/>
            </a:r>
          </a:p>
          <a:p>
            <a:pPr algn="l">
              <a:lnSpc>
                <a:spcPct val="100000"/>
              </a:lnSpc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88552" y="704088"/>
            <a:ext cx="2304288" cy="301752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ts val="1721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275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哈理工 A.I.R. 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04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26464" y="402336"/>
            <a:ext cx="7004304" cy="54864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ts val="324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40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EXTI 怎么配，中断函数写在哪？</a:t>
            </a:r>
            <a:endParaRPr lang="en-US" sz="1100"/>
          </a:p>
        </p:txBody>
      </p:sp>
      <p:sp>
        <p:nvSpPr>
          <p:cNvPr id="13" name="TextBox 12"/>
          <p:cNvSpPr txBox="1"/>
          <p:nvPr/>
        </p:nvSpPr>
        <p:spPr>
          <a:xfrm>
            <a:off x="905256" y="1417320"/>
            <a:ext cx="10378440" cy="31718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97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1. 定触发边沿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1816798"/>
            <a:ext cx="10378440" cy="30861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PB1 在 CubeMX 里选 GPIO_EXTI1，按键接地配下降沿：松手是 1，按下瞬间跳成 0 就触发。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" y="2225992"/>
            <a:ext cx="10378440" cy="31718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97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2. NVIC 里使能中断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2625471"/>
            <a:ext cx="10378440" cy="30861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光配引脚不勾 NVIC，中断永远不会进——报错没有，只是没反应，这个坑非常常见。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" y="3034665"/>
            <a:ext cx="10378440" cy="31718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97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3. 逻辑写进回调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434143"/>
            <a:ext cx="10378440" cy="30861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所有 EXTI 共用一个回调，先用 GPIO_Pin 判断是谁触发的，再决定做什么。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" y="3843337"/>
            <a:ext cx="10378440" cy="179133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// USER CODE 区里自己写</a:t>
            </a:r>
          </a:p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void HAL_GPIO_EXTI_Callback(uint16_t GPIO_Pin)</a:t>
            </a:r>
          </a:p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if (GPIO_Pin == GPIO_PIN_1) {</a:t>
            </a:r>
          </a:p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HAL_GPIO_TogglePin(GPIOC, GPIO_PIN_13);</a:t>
            </a:r>
          </a:p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6017895"/>
            <a:ext cx="10378440" cy="29146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29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配置在 CubeMX 里做完，处理逻辑写进回调——回调里只做最短的事，长活儿交回主循环。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88552" y="704088"/>
            <a:ext cx="2304288" cy="301752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ts val="1721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275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哈理工 A.I.R. 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04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26464" y="402336"/>
            <a:ext cx="7004304" cy="54864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ts val="324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40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中断里什么能做，什么不能做？</a:t>
            </a:r>
            <a:endParaRPr lang="en-US" sz="1100"/>
          </a:p>
        </p:txBody>
      </p:sp>
      <p:sp>
        <p:nvSpPr>
          <p:cNvPr id="13" name="TextBox 12"/>
          <p:cNvSpPr txBox="1"/>
          <p:nvPr/>
        </p:nvSpPr>
        <p:spPr>
          <a:xfrm>
            <a:off x="905256" y="1417320"/>
            <a:ext cx="10378440" cy="31718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97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1. 能做的：几微秒的事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1816798"/>
            <a:ext cx="10378440" cy="30861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翻转一个引脚、把一个标志位置 1、存一个计数——做完立刻退出，这才是中断该干的事。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" y="2225992"/>
            <a:ext cx="10378440" cy="31718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97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2. 不能做的：等待与打印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2625471"/>
            <a:ext cx="10378440" cy="30861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HAL_Delay、长循环、串口打印都要占时间，会让别的中断排队，严重时程序像死机。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" y="3034665"/>
            <a:ext cx="10378440" cy="31718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97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3. 共享变量的坑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434143"/>
            <a:ext cx="10378440" cy="30861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中断和主循环都要读写的变量必须加 volatile，否则编译器可能认为它没变过，把它优化掉。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" y="3843337"/>
            <a:ext cx="10378440" cy="179133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volatile uint8_t key_flag = 0;</a:t>
            </a:r>
          </a:p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void HAL_GPIO_EXTI_Callback(uint16_t pin)</a:t>
            </a:r>
          </a:p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if (pin == GPIO_PIN_1) key_flag = 1; // 只记一笔</a:t>
            </a:r>
          </a:p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// 主循环里慢慢处理</a:t>
            </a:r>
          </a:p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if (key_flag) { key_flag = 0; /* 干重活 */ 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6017895"/>
            <a:ext cx="10378440" cy="29146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29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中断只负责「记一笔」，主循环负责「忙一阵」——分工清楚，程序才不会被一次按键卡住。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88552" y="704088"/>
            <a:ext cx="2304288" cy="301752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ts val="1721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275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哈理工 A.I.R. 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04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26464" y="402336"/>
            <a:ext cx="7004304" cy="54864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ts val="324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40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轮询还是中断，判断标准是什么？</a:t>
            </a:r>
            <a:endParaRPr lang="en-US" sz="1100"/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905256" y="1417320"/>
          <a:ext cx="10378438" cy="2376010"/>
        </p:xfrm>
        <a:graphic>
          <a:graphicData uri="http://schemas.openxmlformats.org/drawingml/2006/table">
            <a:tbl>
              <a:tblPr firstRow="1" bandRow="0"/>
              <a:tblGrid>
                <a:gridCol w="1934085"/>
                <a:gridCol w="3013374"/>
                <a:gridCol w="3255134"/>
                <a:gridCol w="2175845"/>
              </a:tblGrid>
              <a:tr h="475202">
                <a:tc>
                  <a:txBody>
                    <a:bodyPr wrap="square"/>
                    <a:lstStyle/>
                    <a:p>
                      <a:pPr>
                        <a:lnSpc>
                          <a:spcPts val="27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对比项</a:t>
                      </a: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84A9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7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轮询（while 里读）</a:t>
                      </a: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84A9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7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中断（EXTI 通知）</a:t>
                      </a: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84A9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7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结论</a:t>
                      </a: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84A91"/>
                    </a:solidFill>
                  </a:tcPr>
                </a:tc>
              </a:tr>
              <a:tr h="475202">
                <a:tc>
                  <a:txBody>
                    <a:bodyPr wrap="square"/>
                    <a:lstStyle/>
                    <a:p>
                      <a:pPr>
                        <a:lnSpc>
                          <a:spcPts val="27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721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CPU 占用</a:t>
                      </a: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7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721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每一圈都问一遍</a:t>
                      </a: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7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721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只有事件来了才跑</a:t>
                      </a: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7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721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中断省时间</a:t>
                      </a: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202">
                <a:tc>
                  <a:txBody>
                    <a:bodyPr wrap="square"/>
                    <a:lstStyle/>
                    <a:p>
                      <a:pPr>
                        <a:lnSpc>
                          <a:spcPts val="27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721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响应速度</a:t>
                      </a: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7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721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看循环一圈多快</a:t>
                      </a: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7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721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微秒级，立刻进回调</a:t>
                      </a: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7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721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中断更及时</a:t>
                      </a: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202">
                <a:tc>
                  <a:txBody>
                    <a:bodyPr wrap="square"/>
                    <a:lstStyle/>
                    <a:p>
                      <a:pPr>
                        <a:lnSpc>
                          <a:spcPts val="27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721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代码难度</a:t>
                      </a: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7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721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直观，一眼看懂</a:t>
                      </a: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7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721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要配 NVIC、注意共享变量</a:t>
                      </a: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7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721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轮询好写</a:t>
                      </a: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202">
                <a:tc>
                  <a:txBody>
                    <a:bodyPr wrap="square"/>
                    <a:lstStyle/>
                    <a:p>
                      <a:pPr>
                        <a:lnSpc>
                          <a:spcPts val="27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721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适合场景</a:t>
                      </a: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7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721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按键少、主循环空闲</a:t>
                      </a: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7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721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任务多、要省电</a:t>
                      </a: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7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721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按需求选</a:t>
                      </a: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905256" y="5640705"/>
            <a:ext cx="10378440" cy="66865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两个问题定方案：CPU 还有别的事要做吗？这个事件有多急？——答不上来，说明需求还没想清。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88552" y="704088"/>
            <a:ext cx="2304288" cy="301752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ts val="1721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275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哈理工 A.I.R. 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04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26464" y="402336"/>
            <a:ext cx="7004304" cy="54864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ts val="324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40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课后作业 3：从延时到中断</a:t>
            </a:r>
            <a:endParaRPr lang="en-US" sz="1100"/>
          </a:p>
        </p:txBody>
      </p:sp>
      <p:sp>
        <p:nvSpPr>
          <p:cNvPr id="13" name="TextBox 12"/>
          <p:cNvSpPr txBox="1"/>
          <p:nvPr/>
        </p:nvSpPr>
        <p:spPr>
          <a:xfrm>
            <a:off x="905256" y="1417320"/>
            <a:ext cx="10378440" cy="33432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1. 解释现象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1833943"/>
            <a:ext cx="10378440" cy="66865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两个 HAL_Delay(1000) 都保留时，灯 1 秒闪一次；去掉第二个，灯会一直亮。先说清为什么，再动手改一遍验证。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" y="2603182"/>
            <a:ext cx="10378440" cy="33432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2. CubeMX 配置按键控灯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019806"/>
            <a:ext cx="10378440" cy="33432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用 CubeMX 配置一个按键，控制 PC13 上的灯：按下点亮，再按熄灭。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" y="3454717"/>
            <a:ext cx="10378440" cy="33432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3. 用 EXTI 实现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871341"/>
            <a:ext cx="10378440" cy="33432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用 PB1 做外部中断，控制 PA1 上的 LED 亮灭，并在代码里用注释说明整个执行流程。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" y="4306252"/>
            <a:ext cx="10378440" cy="33432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4. 换一根引脚再来一遍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722876"/>
            <a:ext cx="10378440" cy="33432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换成 PA11 做外部中断，同样控制 PA1 上的 LED——换引脚时要改哪些地方，自己总结。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6000750"/>
            <a:ext cx="10378440" cy="30861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四道题正好对应本节四块内容，做完再上传；代码注释必须统一 UTF-8，否则别人打开全是乱码。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88552" y="704088"/>
            <a:ext cx="2304288" cy="301752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ts val="1721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275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哈理工 A.I.R. 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04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26464" y="402336"/>
            <a:ext cx="7004304" cy="54864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ts val="324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40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交作业：比代码更容易丢分的地方</a:t>
            </a:r>
            <a:endParaRPr lang="en-US" sz="1100"/>
          </a:p>
        </p:txBody>
      </p:sp>
      <p:sp>
        <p:nvSpPr>
          <p:cNvPr id="13" name="TextBox 12"/>
          <p:cNvSpPr txBox="1"/>
          <p:nvPr/>
        </p:nvSpPr>
        <p:spPr>
          <a:xfrm>
            <a:off x="905256" y="1417320"/>
            <a:ext cx="10378440" cy="36004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1. 代码注释必须统一 UTF-8；交上来打不开、或者注释是乱码的，按未提交处理。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1877949"/>
            <a:ext cx="10378440" cy="36004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2. 演示视频、代码和其他材料放在同一个压缩包里，不要拆成几个文件分开发。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" y="2338578"/>
            <a:ext cx="10378440" cy="72009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3. 压缩包命名格式：班级+姓名+第几次任务，例如「电气26-5班+李华+第一次任务.zip」。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159252"/>
            <a:ext cx="10378440" cy="72009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4. 发到指定邮箱，邮件主题与压缩包同名，压缩包作为附件上传，不要用网盘链接。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" y="3979926"/>
            <a:ext cx="10378440" cy="72009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5. 不强制每周内完成，但转入梯队考核上传结束时间前必须全部交齐（第 11 周）。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5975032"/>
            <a:ext cx="10378440" cy="33432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五条要求都是硬性的：代码写得对，但包名写错、注释乱码，一样按未提交处理。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-268369" flipH="false" flipV="false">
            <a:off x="554150" y="863907"/>
            <a:ext cx="154283" cy="113868"/>
          </a:xfrm>
          <a:custGeom>
            <a:avLst/>
            <a:gdLst/>
            <a:ahLst/>
            <a:cxnLst/>
            <a:rect r="r" b="b" t="t" l="l"/>
            <a:pathLst>
              <a:path h="113868" w="154283">
                <a:moveTo>
                  <a:pt x="154137" y="113650"/>
                </a:moveTo>
                <a:lnTo>
                  <a:pt x="154283" y="113868"/>
                </a:lnTo>
                <a:lnTo>
                  <a:pt x="153957" y="113867"/>
                </a:lnTo>
                <a:close/>
                <a:moveTo>
                  <a:pt x="77323" y="0"/>
                </a:moveTo>
                <a:lnTo>
                  <a:pt x="152921" y="113862"/>
                </a:lnTo>
                <a:lnTo>
                  <a:pt x="0" y="11317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7" id="7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-111488" y="1002574"/>
            <a:ext cx="6354536" cy="4599214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Freeform 10" id="10"/>
          <p:cNvSpPr/>
          <p:nvPr/>
        </p:nvSpPr>
        <p:spPr>
          <a:xfrm rot="-7617807" flipH="false" flipV="true">
            <a:off x="6011572" y="-3138352"/>
            <a:ext cx="2098521" cy="10814693"/>
          </a:xfrm>
          <a:custGeom>
            <a:avLst/>
            <a:gdLst/>
            <a:ahLst/>
            <a:cxnLst/>
            <a:rect r="r" b="b" t="t" l="l"/>
            <a:pathLst>
              <a:path h="10814693" w="2098521">
                <a:moveTo>
                  <a:pt x="2098520" y="2788530"/>
                </a:moveTo>
                <a:lnTo>
                  <a:pt x="0" y="0"/>
                </a:lnTo>
                <a:lnTo>
                  <a:pt x="0" y="10814693"/>
                </a:lnTo>
                <a:lnTo>
                  <a:pt x="2098521" y="9073886"/>
                </a:lnTo>
                <a:close/>
              </a:path>
            </a:pathLst>
          </a:custGeom>
          <a:solidFill>
            <a:srgbClr val="00AB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1" id="11"/>
          <p:cNvSpPr/>
          <p:nvPr/>
        </p:nvSpPr>
        <p:spPr>
          <a:xfrm rot="3805419" flipH="false" flipV="false">
            <a:off x="6757538" y="2864877"/>
            <a:ext cx="646538" cy="1118147"/>
          </a:xfrm>
          <a:custGeom>
            <a:avLst/>
            <a:gdLst/>
            <a:ahLst/>
            <a:cxnLst/>
            <a:rect r="r" b="b" t="t" l="l"/>
            <a:pathLst>
              <a:path h="1118147" w="646538">
                <a:moveTo>
                  <a:pt x="441579" y="0"/>
                </a:moveTo>
                <a:lnTo>
                  <a:pt x="646538" y="1118147"/>
                </a:lnTo>
                <a:lnTo>
                  <a:pt x="0" y="111814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2" id="12"/>
          <p:cNvSpPr/>
          <p:nvPr/>
        </p:nvSpPr>
        <p:spPr>
          <a:xfrm rot="3239350" flipH="false" flipV="false">
            <a:off x="3210408" y="3964146"/>
            <a:ext cx="4303213" cy="5920511"/>
          </a:xfrm>
          <a:custGeom>
            <a:avLst/>
            <a:gdLst/>
            <a:ahLst/>
            <a:cxnLst/>
            <a:rect r="r" b="b" t="t" l="l"/>
            <a:pathLst>
              <a:path h="5920511" w="4303213">
                <a:moveTo>
                  <a:pt x="0" y="0"/>
                </a:moveTo>
                <a:lnTo>
                  <a:pt x="4303213" y="1"/>
                </a:lnTo>
                <a:lnTo>
                  <a:pt x="0" y="5920511"/>
                </a:lnTo>
                <a:close/>
              </a:path>
            </a:pathLst>
          </a:custGeom>
          <a:solidFill>
            <a:srgbClr val="0460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3" id="13"/>
          <p:cNvSpPr/>
          <p:nvPr/>
        </p:nvSpPr>
        <p:spPr>
          <a:xfrm rot="-7617807" flipH="false" flipV="true">
            <a:off x="10929458" y="1005823"/>
            <a:ext cx="1025939" cy="5287159"/>
          </a:xfrm>
          <a:custGeom>
            <a:avLst/>
            <a:gdLst/>
            <a:ahLst/>
            <a:cxnLst/>
            <a:rect r="r" b="b" t="t" l="l"/>
            <a:pathLst>
              <a:path h="5287159" w="1025939">
                <a:moveTo>
                  <a:pt x="1025939" y="1363275"/>
                </a:moveTo>
                <a:lnTo>
                  <a:pt x="0" y="0"/>
                </a:lnTo>
                <a:lnTo>
                  <a:pt x="0" y="5287159"/>
                </a:lnTo>
                <a:lnTo>
                  <a:pt x="1025939" y="443610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4" id="14"/>
          <p:cNvSpPr/>
          <p:nvPr/>
        </p:nvSpPr>
        <p:spPr>
          <a:xfrm rot="10800000" flipH="false" flipV="true">
            <a:off x="-4825040" y="53316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-346982" y="5807529"/>
            <a:ext cx="2231571" cy="693964"/>
          </a:xfrm>
          <a:prstGeom prst="flowChartInputOutput">
            <a:avLst/>
          </a:prstGeom>
          <a:solidFill>
            <a:srgbClr val="000000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6" id="16"/>
          <p:cNvSpPr/>
          <p:nvPr/>
        </p:nvSpPr>
        <p:spPr>
          <a:xfrm rot="10800000" flipH="false" flipV="true">
            <a:off x="-4122005" y="4421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10800000" flipH="false" flipV="true">
            <a:off x="122464" y="544286"/>
            <a:ext cx="6939643" cy="340179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000" spc="110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『生无所息，斗无所止』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-2264654" flipH="false" flipV="false">
            <a:off x="4859935" y="1322839"/>
            <a:ext cx="5038663" cy="76835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44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下课啦！</a:t>
            </a:r>
            <a:endParaRPr lang="en-US" sz="1100"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318250"/>
            <a:ext cx="1524000" cy="5397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自定义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