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3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  <p:sldMasterId id="2147483661" r:id="rId9"/>
  </p:sldMasterIdLst>
  <p:notesMasterIdLst>
    <p:notesMasterId r:id="rId6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1.xml" Type="http://schemas.openxmlformats.org/officeDocument/2006/relationships/slide"/><Relationship Id="rId11" Target="slides/slide2.xml" Type="http://schemas.openxmlformats.org/officeDocument/2006/relationships/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slides/slide6.xml" Type="http://schemas.openxmlformats.org/officeDocument/2006/relationships/slide"/><Relationship Id="rId16" Target="slides/slide7.xml" Type="http://schemas.openxmlformats.org/officeDocument/2006/relationships/slide"/><Relationship Id="rId17" Target="slides/slide8.xml" Type="http://schemas.openxmlformats.org/officeDocument/2006/relationships/slide"/><Relationship Id="rId18" Target="slides/slide9.xml" Type="http://schemas.openxmlformats.org/officeDocument/2006/relationships/slide"/><Relationship Id="rId19" Target="slides/slide10.xml" Type="http://schemas.openxmlformats.org/officeDocument/2006/relationships/slide"/><Relationship Id="rId2" Target="viewProps.xml" Type="http://schemas.openxmlformats.org/officeDocument/2006/relationships/viewProps"/><Relationship Id="rId20" Target="slides/slide11.xml" Type="http://schemas.openxmlformats.org/officeDocument/2006/relationships/slide"/><Relationship Id="rId21" Target="slides/slide12.xml" Type="http://schemas.openxmlformats.org/officeDocument/2006/relationships/slide"/><Relationship Id="rId22" Target="slides/slide13.xml" Type="http://schemas.openxmlformats.org/officeDocument/2006/relationships/slide"/><Relationship Id="rId23" Target="slides/slide14.xml" Type="http://schemas.openxmlformats.org/officeDocument/2006/relationships/slide"/><Relationship Id="rId24" Target="slides/slide15.xml" Type="http://schemas.openxmlformats.org/officeDocument/2006/relationships/slide"/><Relationship Id="rId25" Target="slides/slide16.xml" Type="http://schemas.openxmlformats.org/officeDocument/2006/relationships/slide"/><Relationship Id="rId26" Target="slides/slide17.xml" Type="http://schemas.openxmlformats.org/officeDocument/2006/relationships/slide"/><Relationship Id="rId27" Target="slides/slide18.xml" Type="http://schemas.openxmlformats.org/officeDocument/2006/relationships/slide"/><Relationship Id="rId28" Target="slides/slide19.xml" Type="http://schemas.openxmlformats.org/officeDocument/2006/relationships/slide"/><Relationship Id="rId29" Target="slides/slide20.xml" Type="http://schemas.openxmlformats.org/officeDocument/2006/relationships/slide"/><Relationship Id="rId3" Target="presProps.xml" Type="http://schemas.openxmlformats.org/officeDocument/2006/relationships/presProps"/><Relationship Id="rId30" Target="notesSlides/notesSlide1.xml" Type="http://schemas.openxmlformats.org/officeDocument/2006/relationships/notesSlide"/><Relationship Id="rId31" Target="notesSlides/notesSlide2.xml" Type="http://schemas.openxmlformats.org/officeDocument/2006/relationships/notesSlide"/><Relationship Id="rId32" Target="notesSlides/notesSlide3.xml" Type="http://schemas.openxmlformats.org/officeDocument/2006/relationships/notesSlide"/><Relationship Id="rId33" Target="notesSlides/notesSlide4.xml" Type="http://schemas.openxmlformats.org/officeDocument/2006/relationships/notesSlide"/><Relationship Id="rId34" Target="notesSlides/notesSlide5.xml" Type="http://schemas.openxmlformats.org/officeDocument/2006/relationships/notesSlide"/><Relationship Id="rId35" Target="notesSlides/notesSlide6.xml" Type="http://schemas.openxmlformats.org/officeDocument/2006/relationships/notesSlide"/><Relationship Id="rId36" Target="notesSlides/notesSlide7.xml" Type="http://schemas.openxmlformats.org/officeDocument/2006/relationships/notesSlide"/><Relationship Id="rId37" Target="notesSlides/notesSlide8.xml" Type="http://schemas.openxmlformats.org/officeDocument/2006/relationships/notesSlide"/><Relationship Id="rId38" Target="notesSlides/notesSlide9.xml" Type="http://schemas.openxmlformats.org/officeDocument/2006/relationships/notesSlide"/><Relationship Id="rId39" Target="notesSlides/notesSlide10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1.xml" Type="http://schemas.openxmlformats.org/officeDocument/2006/relationships/notesSlide"/><Relationship Id="rId41" Target="notesSlides/notesSlide12.xml" Type="http://schemas.openxmlformats.org/officeDocument/2006/relationships/notesSlide"/><Relationship Id="rId42" Target="notesSlides/notesSlide13.xml" Type="http://schemas.openxmlformats.org/officeDocument/2006/relationships/notesSlide"/><Relationship Id="rId43" Target="notesSlides/notesSlide14.xml" Type="http://schemas.openxmlformats.org/officeDocument/2006/relationships/notesSlide"/><Relationship Id="rId44" Target="notesSlides/notesSlide15.xml" Type="http://schemas.openxmlformats.org/officeDocument/2006/relationships/notesSlide"/><Relationship Id="rId45" Target="notesSlides/notesSlide16.xml" Type="http://schemas.openxmlformats.org/officeDocument/2006/relationships/notesSlide"/><Relationship Id="rId46" Target="notesSlides/notesSlide17.xml" Type="http://schemas.openxmlformats.org/officeDocument/2006/relationships/notesSlide"/><Relationship Id="rId47" Target="notesSlides/notesSlide18.xml" Type="http://schemas.openxmlformats.org/officeDocument/2006/relationships/notesSlide"/><Relationship Id="rId48" Target="notesSlides/notesSlide19.xml" Type="http://schemas.openxmlformats.org/officeDocument/2006/relationships/notesSlide"/><Relationship Id="rId49" Target="notesSlides/notesSlide20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Masters/slideMaster3.xml" Type="http://schemas.openxmlformats.org/officeDocument/2006/relationships/slideMaster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第四讲是定时器与 PWM。前面两讲我们一直在用 HAL_Delay 等时间，等的时候 CPU 什么也干不了；这一讲的定时器可以让时间自己走，PWM 还能连续调亮度、控舵机角度。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开始之前把时间安排过一遍。第九周我们自己动手做题，第十周的任务就是定时器与 PWM，做完这一讲就能让灯呼吸、让舵机转角度。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这一讲四块内容：先用定时器把时间管起来，再讲定时器周期怎么算、中断里怎么闪灯，然后是 PWM 的频率和占空比，最后用 PWM 驱动 SG90 舵机。作业的三题分别对应定时器中断、呼吸灯和舵机。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第一部分先讲时间是怎么自己走的。SysTick 是内核自带的一个定时器，HAL 库靠它数毫秒；我们用的是外设定时器 TIM2，它有自己的时钟和计数器，数满一次就触发一次中断。这一节要弄清楚三件事：时钟从哪来、怎么变成一秒、中断里做什么。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先分清两种定时器。SysTick 在芯片内核里，每 1 毫秒跳一次，HAL_Delay 就是数它的次数，属于系统的基础设施，我们不直接改它的周期。TIM2、TIM3 这些是外设定时器，它有自己的时钟源、预分频器和计数器，你可以指定它多久溢出一次，溢出就触发更新中断，HAL 库在中断里叫我们的回调函数。为什么这个比 HAL_Delay 好？因为数数是硬件在干，CPU 可以去做别的事，到点了才回来处理。这就是这一讲所有内容的基础。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定时时间只由两个寄存器决定，弄懂它俩，所有定时需求都会算。Prescaler 是预分频，把 72 兆的时钟除一下，比如写 7199 就是除以 7200，计数速度变成 10 千赫兹，也就是每个数 0.1 毫秒。Period 是自动重装值，计数器从 0 数到它就算一轮，顺便触发中断。两个一乘就是一轮的时间。举个考试里常出的题：同样 72 兆，PSC 写 71、ARR 写 999，一轮就是 1 毫秒，1 秒要 1000 个 1 毫秒，所以中断里再数 1000 次就行。注意 Period 寄存器是 16 位的，单轮最多 65535 个数，30 秒以上的长定时要么靠中断累加，要么再加大分频。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有了上一页的算法，这一页就是把定时器用到工程里。第一个坑：很多人以为 CubeMX 配完定时器就会自己跑，其实 MX_TIM2_Init 只是把寄存器写好，还需要调用 HAL_TIM_Base_Start_IT 打开计数和中断，这句要自己写进 main，一般放在 MX_TIM2_Init 后面。第二个坑：NVIC 里没勾 TIM2 global interrupt，程序一样不报错，就是不进回调。第三个坑：回调不判断 htim-&gt;Instance，如果有两个定时器，翻转灯的代码会同时被两边调用，闪的频率就不对了。作业第一题就是定时器 2 定时 5 秒控制 LED，把这三个点做对就完成了。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第二部分解决一个具体问题：不用 HAL_Delay，灯怎么做到一秒一闪？HAL_Delay 是原地等，等的时候 CPU 什么也做不了；定时器中断是到点了通知你一声，中间的时间可以干别的。这就是阻塞和非阻塞的区别。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这一页给的是最常用的写法：时间戳法。HAL_GetTick 返回的是系统开机到现在经过的毫秒数，是 SysTick 在后台累加的。我们只在变量里存下上次动作的时刻，每次循环比较一下差值，够 1000 毫秒就动作并更新时间戳，不够就什么都不做。这样灯还是一秒一闪，但 CPU 一秒里跑了几万次循环，中间可以读按键、刷屏、算 PID。注意两点：一是变量要初始化，二是比较用减法而不是加法，因为毫秒计数会溢出，减法的写法天然能处理回绕。作业第二题就是用它做呼吸灯的基础。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HAL_Delay 不是坏的，只是它占着 CPU。刚上手的时候用它验证接线、验证灯能不能亮，完全没问题。但只要你需要同时做两件事，它就成了障碍：主循环里放两个 HAL_Delay，两个任务的周期会互相影响。时间戳法和定时器中断都能解决这个问题，前者写在主循环，逻辑直观；后者靠中断置标志，周期最稳。判断方法就一句话：这段时间里 CPU 有没有别的事要做？有，就不能用 Delay。作业第二题写呼吸灯，如果你用 Delay 调占空比，按键就会失灵，一试就明白了。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第三部分讲 PWM。同一个引脚，用方波一秒钟开关几百次，灯看起来就是半亮；改变开的时间占多少，亮度就跟着变。频率决定闪不闪，占空比决定亮度，这两件事分清，呼吸灯和电机调速就都会了。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PWM 的全称是脉冲宽度调制，名字听着复杂，本质就一句话：让引脚一直开关，用开的时间占多少来控制效果。为什么灯会变暗而不是狂闪？因为开关太快了，一秒钟几百次，人眼有视觉暂留，看到的是平均亮度。所以调灯要选几百赫兹以上的频率；而舵机不一样，它要的是 50 赫兹的慢方波，靠脉宽的长短告诉它转多少度。这里最容易混的是频率和占空比：频率说的是一个周期多长，占空比说的是周期里高电平占多少。两者独立，能自由配。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这一页把上一页的三个概念落到寄存器上。PSC 和 ARR 决定周期，也就是频率；CCR 决定高电平的长度，也就是占空比。运行时我们只改 CCR，用宏 __HAL_TIM_SET_COMPARE 就能改。为什么先分频到 1 兆？因为这样每个计数就是 1 微秒，算脉宽特别直观：要 500 微秒就写 500，要 1.5 毫秒就写 1500。舵机那一节会用到这个技巧。还有一个必须注意的：PWM 必须在 CubeMX 里把通道配成 PWM Generation，并调用 HAL_TIM_PWM_Start，跟前面定时器中断一样，少一句就是没波形。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这段代码就是作业第二题的骨架。要点三个：第一，启动 PWM 的语句要写在初始化之后；第二，CCR 用有符号的 int16_t，因为中间过程可能暂时小于 0，用无符号变量会借位变成很大的数，灯会突然全亮；第三，边界要提前判断方向，到 999 就往下、到 0 就往上。这里的 HAL_Delay(10) 是让变化慢下来，一秒钟变一百步左右，看着就比较顺。等我们后面学了定时器，可以把这段换成用时间戳或中断来触发，主循环就完全空出来了。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最后一部分把 PWM 用到舵机上。SG90 要的是 50 赫兹的方波，脉宽 0.5 毫秒对应 0 度、2.5 毫秒对应 180 度。算好这三个数，写两行代码设置比较值，舵机就能转到指定角度。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SG90 是位置舵机，它内部有控制和反馈电路，你给它一路 50 赫兹的方波，它自己会转到脉宽对应的角度。0.5 毫秒到 2.5 毫秒对应 0 到 180 度，这是一条直线，所以每次算角度只要用比例：脉宽等于 500 加角度乘以 2000 除以 180。注意这个 50 赫兹是硬要求，如果频率给成 1 千赫兹，舵机收到的就是一个 20 微秒周期的信号，表现就是抖或者乱转。这也是新手最容易犯的错：把呼吸灯的定时器参数直接拿来驱动舵机。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这一页是作业第三题的做法。函数里做了两件事：先把角度限制在 0 到 180 之间防止算错，再用比例公式换成脉宽写进 CCR。注意除法顺序，先乘后除能保留精度，整数运算里先除会丢小数。接线提醒一句：SG90 转动时会瞬间吃几百毫安电流，从板子的 3.3V 取电很容易把单片机拉复位，务必用单独的电源，并且把地线接在一起。第六周的考核有舵机角度控制这一项，所以这一页要动手跑通，不要只看代码。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作业三题，正好是这一讲的三块内容。第一题练定时器中断，重点是把 PSC 和 ARR 算对，算完最好在纸上验算一遍。第二题呼吸灯，注意两点：比较值要用有符号变量，边界判断要在写入之前。第三题驱动舵机，如果你把呼吸灯的 1 千赫兹参数直接拿来用，舵机会抖得很厉害，这就是我们课上强调 50 赫兹的原因。三道题都不要求一次成功，但都要录一小段演示视频，代码注释记得统一 UTF-8。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作业要求和上一讲一样，五条都是硬性的。第四讲的三道题：定时器 2 定时 5 秒中断控制 LED，定时器 1 通道 2 输出 PWM 做呼吸灯，课余那题用 PWM 驱动 SG90 舵机。第九周之内交齐，注释记得 UTF-8。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这一讲我们把时间交给了定时器，把亮度交给了 PWM。作业三题：定时器 2 定时 5 秒闪灯、定时器 1 通道 2 输出 PWM 做呼吸灯，课余那题驱动 SG90 舵机。下周讲串口和 OLED，上完那节，你的系统就能自己报状态了。下课。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19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0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1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2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3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_rels/slideLayout24.xml.rels><?xml version="1.0" encoding="UTF-8" standalone="yes"?><Relationships xmlns="http://schemas.openxmlformats.org/package/2006/relationships"><Relationship Id="rId1" Target="../slideMasters/slideMaster3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-7315198" y="-5753098"/>
            <a:ext cx="27050999" cy="20192999"/>
          </a:xfrm>
          <a:custGeom>
            <a:avLst/>
            <a:gdLst/>
            <a:ahLst/>
            <a:cxnLst/>
            <a:rect r="r" b="b" t="t" l="l"/>
            <a:pathLst>
              <a:path h="20192999" w="27050999">
                <a:moveTo>
                  <a:pt x="7467599" y="5905499"/>
                </a:moveTo>
                <a:lnTo>
                  <a:pt x="7467599" y="12763499"/>
                </a:lnTo>
                <a:lnTo>
                  <a:pt x="19659599" y="12763499"/>
                </a:lnTo>
                <a:lnTo>
                  <a:pt x="19659599" y="5905499"/>
                </a:lnTo>
                <a:close/>
                <a:moveTo>
                  <a:pt x="0" y="0"/>
                </a:moveTo>
                <a:lnTo>
                  <a:pt x="27050999" y="0"/>
                </a:lnTo>
                <a:lnTo>
                  <a:pt x="27050999" y="20192999"/>
                </a:lnTo>
                <a:lnTo>
                  <a:pt x="0" y="20192999"/>
                </a:lnTo>
                <a:close/>
              </a:path>
            </a:pathLst>
          </a:custGeom>
          <a:solidFill>
            <a:srgbClr val="E6E6E6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0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" type="pic" sz="quarter"/>
          </p:nvPr>
        </p:nvSpPr>
        <p:spPr>
          <a:xfrm rot="0" flipH="false" flipV="false">
            <a:off x="910379" y="1873354"/>
            <a:ext cx="1944937" cy="1944936"/>
          </a:xfrm>
          <a:prstGeom prst="rect">
            <a:avLst/>
          </a:prstGeom>
          <a:solidFill>
            <a:srgbClr val="F0F0F0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" type="pic" sz="quarter"/>
          </p:nvPr>
        </p:nvSpPr>
        <p:spPr>
          <a:xfrm rot="0" flipH="false" flipV="false">
            <a:off x="2938349" y="1873353"/>
            <a:ext cx="1944937" cy="1944936"/>
          </a:xfrm>
          <a:prstGeom prst="rect">
            <a:avLst/>
          </a:prstGeom>
          <a:solidFill>
            <a:srgbClr val="F0F0F0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3" type="pic" sz="quarter"/>
          </p:nvPr>
        </p:nvSpPr>
        <p:spPr>
          <a:xfrm rot="0" flipH="false" flipV="false">
            <a:off x="910378" y="3886331"/>
            <a:ext cx="1944937" cy="1944936"/>
          </a:xfrm>
          <a:prstGeom prst="rect">
            <a:avLst/>
          </a:prstGeom>
          <a:solidFill>
            <a:srgbClr val="F0F0F0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" type="pic" sz="quarter"/>
          </p:nvPr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2_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pic" sz="quarter"/>
          </p:nvPr>
        </p:nvSpPr>
        <p:spPr>
          <a:xfrm rot="0" flipH="false" flipV="false">
            <a:off x="5635724" y="0"/>
            <a:ext cx="4732259" cy="6858000"/>
          </a:xfrm>
          <a:prstGeom prst="roundRect">
            <a:avLst>
              <a:gd name="adj" fmla="val 14725504"/>
            </a:avLst>
          </a:prstGeom>
          <a:solidFill>
            <a:srgbClr val="F2F2F2">
              <a:alpha val="100000"/>
            </a:srgbClr>
          </a:solidFill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3436373"/>
          </a:xfrm>
          <a:prstGeom prst="rect">
            <a:avLst/>
          </a:prstGeom>
          <a:gradFill rotWithShape="true">
            <a:gsLst>
              <a:gs pos="0">
                <a:srgbClr val="0460C7">
                  <a:alpha val="100000"/>
                </a:srgbClr>
              </a:gs>
              <a:gs pos="100000">
                <a:srgbClr val="034895">
                  <a:alpha val="100000"/>
                </a:srgbClr>
              </a:gs>
            </a:gsLst>
            <a:path path="circle">
              <a:fillToRect l="0" r="100000" t="0" b="100000"/>
            </a:path>
            <a:tileRect t="-100000" b="0" l="-100000" r="0"/>
          </a:grad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>
            <p:ph idx="6" type="pic" sz="quarter"/>
          </p:nvPr>
        </p:nvSpPr>
        <p:spPr>
          <a:xfrm rot="0" flipH="false" flipV="false">
            <a:off x="7030064" y="559769"/>
            <a:ext cx="4552336" cy="2685548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2700000" dist="152400" blurRad="317500" algn="tl" rotWithShape="false">
              <a:srgbClr val="000000">
                <a:alpha val="24000"/>
              </a:srgbClr>
            </a:outerShdw>
          </a:effectLst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7" type="pic" sz="quarter"/>
          </p:nvPr>
        </p:nvSpPr>
        <p:spPr>
          <a:xfrm rot="0" flipH="false" flipV="false">
            <a:off x="622006" y="3615026"/>
            <a:ext cx="4552336" cy="2685548"/>
          </a:xfrm>
          <a:prstGeom prst="rect">
            <a:avLst/>
          </a:prstGeom>
          <a:noFill/>
          <a:ln w="12700">
            <a:noFill/>
            <a:prstDash val="solid"/>
          </a:ln>
          <a:effectLst>
            <a:outerShdw dir="2700000" dist="152400" blurRad="317500" algn="tl" rotWithShape="false">
              <a:srgbClr val="000000">
                <a:alpha val="24000"/>
              </a:srgbClr>
            </a:outerShdw>
          </a:effectLst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Gene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_rels/slideMaster3.xml.rels><?xml version="1.0" encoding="UTF-8" standalone="yes"?><Relationships xmlns="http://schemas.openxmlformats.org/package/2006/relationships"><Relationship Id="rId1" Target="../theme/theme4.xml" Type="http://schemas.openxmlformats.org/officeDocument/2006/relationships/theme"/><Relationship Id="rId10" Target="../slideLayouts/slideLayout21.xml" Type="http://schemas.openxmlformats.org/officeDocument/2006/relationships/slideLayout"/><Relationship Id="rId11" Target="../slideLayouts/slideLayout22.xml" Type="http://schemas.openxmlformats.org/officeDocument/2006/relationships/slideLayout"/><Relationship Id="rId12" Target="../slideLayouts/slideLayout23.xml" Type="http://schemas.openxmlformats.org/officeDocument/2006/relationships/slideLayout"/><Relationship Id="rId13" Target="../slideLayouts/slideLayout24.xml" Type="http://schemas.openxmlformats.org/officeDocument/2006/relationships/slideLayout"/><Relationship Id="rId2" Target="../slideLayouts/slideLayout13.xml" Type="http://schemas.openxmlformats.org/officeDocument/2006/relationships/slideLayout"/><Relationship Id="rId3" Target="../slideLayouts/slideLayout14.xml" Type="http://schemas.openxmlformats.org/officeDocument/2006/relationships/slideLayout"/><Relationship Id="rId4" Target="../slideLayouts/slideLayout15.xml" Type="http://schemas.openxmlformats.org/officeDocument/2006/relationships/slideLayout"/><Relationship Id="rId5" Target="../slideLayouts/slideLayout16.xml" Type="http://schemas.openxmlformats.org/officeDocument/2006/relationships/slideLayout"/><Relationship Id="rId6" Target="../slideLayouts/slideLayout17.xml" Type="http://schemas.openxmlformats.org/officeDocument/2006/relationships/slideLayout"/><Relationship Id="rId7" Target="../slideLayouts/slideLayout18.xml" Type="http://schemas.openxmlformats.org/officeDocument/2006/relationships/slideLayout"/><Relationship Id="rId8" Target="../slideLayouts/slideLayout19.xml" Type="http://schemas.openxmlformats.org/officeDocument/2006/relationships/slideLayout"/><Relationship Id="rId9" Target="../slideLayouts/slideLayout20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自定义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Office Theme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1" id="1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2" id="2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12700" cap="flat">
            <a:noFill/>
            <a:prstDash val="solid"/>
          </a:ln>
        </p:spPr>
        <p:txBody>
          <a:bodyPr anchor="ctr" rtlCol="false" vert="horz" wrap="square" lIns="91440" rIns="91440" tIns="45720" bIns="4572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思源黑体"/>
                <a:ea typeface="思源黑体"/>
                <a:cs typeface="思源黑体"/>
                <a:sym typeface="思源黑体"/>
              </a:rPr>
              <a:t> </a:t>
            </a:r>
            <a:endParaRPr lang="en-US" sz="11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57483700" r:id="rId2"/>
    <p:sldLayoutId id="2157483701" r:id="rId3"/>
    <p:sldLayoutId id="2157483702" r:id="rId4"/>
    <p:sldLayoutId id="2157483703" r:id="rId5"/>
    <p:sldLayoutId id="2157483704" r:id="rId6"/>
    <p:sldLayoutId id="2157483705" r:id="rId7"/>
    <p:sldLayoutId id="2157483706" r:id="rId8"/>
    <p:sldLayoutId id="2157483707" r:id="rId9"/>
    <p:sldLayoutId id="2157483708" r:id="rId10"/>
    <p:sldLayoutId id="2157483709" r:id="rId11"/>
    <p:sldLayoutId id="2157483710" r:id="rId12"/>
    <p:sldLayoutId id="215748371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20.xml" Type="http://schemas.openxmlformats.org/officeDocument/2006/relationships/notesSlide"/><Relationship Id="rId4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90500" y="1360714"/>
            <a:ext cx="6408964" cy="4640036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10800000" flipH="false" flipV="false">
            <a:off x="-4121880" y="1823357"/>
            <a:ext cx="8390917" cy="766246"/>
          </a:xfrm>
          <a:custGeom>
            <a:avLst/>
            <a:gdLst/>
            <a:ahLst/>
            <a:cxnLst/>
            <a:rect r="r" b="b" t="t" l="l"/>
            <a:pathLst>
              <a:path h="766246" w="8390917">
                <a:moveTo>
                  <a:pt x="8365092" y="0"/>
                </a:moveTo>
                <a:lnTo>
                  <a:pt x="8390917" y="0"/>
                </a:lnTo>
                <a:lnTo>
                  <a:pt x="8390917" y="766246"/>
                </a:lnTo>
                <a:lnTo>
                  <a:pt x="0" y="766246"/>
                </a:lnTo>
                <a:lnTo>
                  <a:pt x="336178" y="192623"/>
                </a:lnTo>
                <a:lnTo>
                  <a:pt x="8365092" y="192623"/>
                </a:lnTo>
                <a:close/>
              </a:path>
            </a:pathLst>
          </a:custGeom>
          <a:solidFill>
            <a:srgbClr val="F0F0F0">
              <a:alpha val="6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2977103" flipH="false" flipV="false">
            <a:off x="8466446" y="2089651"/>
            <a:ext cx="3245258" cy="3776827"/>
          </a:xfrm>
          <a:prstGeom prst="parallelogram">
            <a:avLst>
              <a:gd name="adj" fmla="val 25000"/>
            </a:avLst>
          </a:prstGeom>
          <a:solidFill>
            <a:srgbClr val="0000B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2803763" y="2064282"/>
            <a:ext cx="9818733" cy="2317218"/>
          </a:xfrm>
          <a:custGeom>
            <a:avLst/>
            <a:gdLst/>
            <a:ahLst/>
            <a:cxnLst/>
            <a:rect r="r" b="b" t="t" l="l"/>
            <a:pathLst>
              <a:path h="2317218" w="9818733">
                <a:moveTo>
                  <a:pt x="1358028" y="0"/>
                </a:moveTo>
                <a:lnTo>
                  <a:pt x="9818733" y="0"/>
                </a:lnTo>
                <a:lnTo>
                  <a:pt x="9818733" y="2317218"/>
                </a:lnTo>
                <a:lnTo>
                  <a:pt x="0" y="2317218"/>
                </a:lnTo>
                <a:close/>
              </a:path>
            </a:pathLst>
          </a:cu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false">
            <a:off x="-2695316" y="5619146"/>
            <a:ext cx="6289317" cy="574331"/>
          </a:xfrm>
          <a:custGeom>
            <a:avLst/>
            <a:gdLst/>
            <a:ahLst/>
            <a:cxnLst/>
            <a:rect r="r" b="b" t="t" l="l"/>
            <a:pathLst>
              <a:path h="574331" w="6289317">
                <a:moveTo>
                  <a:pt x="6269961" y="0"/>
                </a:moveTo>
                <a:lnTo>
                  <a:pt x="6289317" y="0"/>
                </a:lnTo>
                <a:lnTo>
                  <a:pt x="6289317" y="574331"/>
                </a:lnTo>
                <a:lnTo>
                  <a:pt x="0" y="574331"/>
                </a:lnTo>
                <a:lnTo>
                  <a:pt x="251978" y="144379"/>
                </a:lnTo>
                <a:lnTo>
                  <a:pt x="6269961" y="144379"/>
                </a:lnTo>
                <a:close/>
              </a:path>
            </a:pathLst>
          </a:custGeom>
          <a:solidFill>
            <a:srgbClr val="D9D9D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5" id="15"/>
          <p:cNvSpPr/>
          <p:nvPr/>
        </p:nvSpPr>
        <p:spPr>
          <a:xfrm rot="10800000" flipH="false" flipV="false">
            <a:off x="-383223" y="6193477"/>
            <a:ext cx="5180980" cy="473119"/>
          </a:xfrm>
          <a:custGeom>
            <a:avLst/>
            <a:gdLst/>
            <a:ahLst/>
            <a:cxnLst/>
            <a:rect r="r" b="b" t="t" l="l"/>
            <a:pathLst>
              <a:path h="473119" w="5180980">
                <a:moveTo>
                  <a:pt x="5165034" y="0"/>
                </a:moveTo>
                <a:lnTo>
                  <a:pt x="5180980" y="0"/>
                </a:lnTo>
                <a:lnTo>
                  <a:pt x="5180980" y="473119"/>
                </a:lnTo>
                <a:lnTo>
                  <a:pt x="0" y="473119"/>
                </a:lnTo>
                <a:lnTo>
                  <a:pt x="207574" y="118936"/>
                </a:lnTo>
                <a:lnTo>
                  <a:pt x="5165034" y="118936"/>
                </a:lnTo>
                <a:close/>
              </a:path>
            </a:pathLst>
          </a:custGeom>
          <a:solidFill>
            <a:srgbClr val="D9D9D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-3659522" flipH="false" flipV="false">
            <a:off x="9248546" y="3449847"/>
            <a:ext cx="2824243" cy="4476772"/>
          </a:xfrm>
          <a:custGeom>
            <a:avLst/>
            <a:gdLst/>
            <a:ahLst/>
            <a:cxnLst/>
            <a:rect r="r" b="b" t="t" l="l"/>
            <a:pathLst>
              <a:path h="4476772" w="2824243">
                <a:moveTo>
                  <a:pt x="0" y="2594027"/>
                </a:moveTo>
                <a:lnTo>
                  <a:pt x="942392" y="0"/>
                </a:lnTo>
                <a:lnTo>
                  <a:pt x="2824243" y="4476772"/>
                </a:lnTo>
                <a:lnTo>
                  <a:pt x="0" y="2594027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530263" y="1342006"/>
            <a:ext cx="1131474" cy="482453"/>
          </a:xfrm>
          <a:prstGeom prst="parallelogram">
            <a:avLst>
              <a:gd name="adj" fmla="val 62784"/>
            </a:avLst>
          </a:pr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067064" y="1107039"/>
            <a:ext cx="606981" cy="258813"/>
          </a:xfrm>
          <a:prstGeom prst="parallelogram">
            <a:avLst>
              <a:gd name="adj" fmla="val 62784"/>
            </a:avLst>
          </a:pr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797757" y="6133027"/>
            <a:ext cx="4716356" cy="338554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565656"/>
                </a:solidFill>
                <a:latin typeface="Noto Sans SC"/>
                <a:ea typeface="Noto Sans SC"/>
                <a:cs typeface="Noto Sans SC"/>
                <a:sym typeface="Noto Sans SC"/>
              </a:rPr>
              <a:t>培训时间：第9周 10.31　主讲人：＿＿＿＿＿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4269037" y="2765633"/>
            <a:ext cx="8900796" cy="1547812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false" i="true" strike="noStrike" u="none" sz="5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电控组第四讲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00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5056505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关于时间安排: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408014" y="1109242"/>
            <a:ext cx="7645310" cy="487602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9" id="9"/>
          <p:cNvSpPr/>
          <p:nvPr/>
        </p:nvSpPr>
        <p:spPr>
          <a:xfrm rot="2380623" flipH="false" flipV="false">
            <a:off x="11528781" y="-382476"/>
            <a:ext cx="687161" cy="5225545"/>
          </a:xfrm>
          <a:custGeom>
            <a:avLst/>
            <a:gdLst/>
            <a:ahLst/>
            <a:cxnLst/>
            <a:rect r="r" b="b" t="t" l="l"/>
            <a:pathLst>
              <a:path h="5225545" w="687161">
                <a:moveTo>
                  <a:pt x="0" y="570027"/>
                </a:moveTo>
                <a:lnTo>
                  <a:pt x="687161" y="0"/>
                </a:lnTo>
                <a:lnTo>
                  <a:pt x="687161" y="4655515"/>
                </a:lnTo>
                <a:lnTo>
                  <a:pt x="0" y="5225545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2380623" flipH="false" flipV="false">
            <a:off x="-511296" y="-1203550"/>
            <a:ext cx="2174008" cy="4424167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2380623" flipH="false" flipV="false">
            <a:off x="1452010" y="-2589138"/>
            <a:ext cx="981375" cy="8713877"/>
          </a:xfrm>
          <a:prstGeom prst="roundRect">
            <a:avLst>
              <a:gd name="adj" fmla="val 0"/>
            </a:avLst>
          </a:pr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8785094" flipH="false" flipV="false">
            <a:off x="-476482" y="-332819"/>
            <a:ext cx="808317" cy="3628428"/>
          </a:xfrm>
          <a:custGeom>
            <a:avLst/>
            <a:gdLst/>
            <a:ahLst/>
            <a:cxnLst/>
            <a:rect r="r" b="b" t="t" l="l"/>
            <a:pathLst>
              <a:path h="3628428" w="808317">
                <a:moveTo>
                  <a:pt x="0" y="3628428"/>
                </a:moveTo>
                <a:lnTo>
                  <a:pt x="0" y="243140"/>
                </a:lnTo>
                <a:lnTo>
                  <a:pt x="808317" y="0"/>
                </a:lnTo>
                <a:lnTo>
                  <a:pt x="808317" y="3628428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65171" y="2821044"/>
            <a:ext cx="532402" cy="392937"/>
          </a:xfrm>
          <a:custGeom>
            <a:avLst/>
            <a:gdLst/>
            <a:ahLst/>
            <a:cxnLst/>
            <a:rect r="r" b="b" t="t" l="l"/>
            <a:pathLst>
              <a:path h="392937" w="532402">
                <a:moveTo>
                  <a:pt x="531894" y="392184"/>
                </a:moveTo>
                <a:lnTo>
                  <a:pt x="532402" y="392937"/>
                </a:lnTo>
                <a:lnTo>
                  <a:pt x="531273" y="392932"/>
                </a:lnTo>
                <a:close/>
                <a:moveTo>
                  <a:pt x="266823" y="0"/>
                </a:moveTo>
                <a:lnTo>
                  <a:pt x="527696" y="392916"/>
                </a:lnTo>
                <a:lnTo>
                  <a:pt x="0" y="390555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8785094" flipH="false" flipV="false">
            <a:off x="55920" y="-982343"/>
            <a:ext cx="808317" cy="3628428"/>
          </a:xfrm>
          <a:custGeom>
            <a:avLst/>
            <a:gdLst/>
            <a:ahLst/>
            <a:cxnLst/>
            <a:rect r="r" b="b" t="t" l="l"/>
            <a:pathLst>
              <a:path h="3628428" w="808317">
                <a:moveTo>
                  <a:pt x="0" y="3628428"/>
                </a:moveTo>
                <a:lnTo>
                  <a:pt x="0" y="243140"/>
                </a:lnTo>
                <a:lnTo>
                  <a:pt x="808317" y="0"/>
                </a:lnTo>
                <a:lnTo>
                  <a:pt x="808317" y="3628428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5" id="15"/>
          <p:cNvSpPr/>
          <p:nvPr/>
        </p:nvSpPr>
        <p:spPr>
          <a:xfrm rot="2380623" flipH="false" flipV="false">
            <a:off x="1588692" y="1005717"/>
            <a:ext cx="687161" cy="5225545"/>
          </a:xfrm>
          <a:custGeom>
            <a:avLst/>
            <a:gdLst/>
            <a:ahLst/>
            <a:cxnLst/>
            <a:rect r="r" b="b" t="t" l="l"/>
            <a:pathLst>
              <a:path h="5225545" w="687161">
                <a:moveTo>
                  <a:pt x="0" y="570027"/>
                </a:moveTo>
                <a:lnTo>
                  <a:pt x="687161" y="0"/>
                </a:lnTo>
                <a:lnTo>
                  <a:pt x="687161" y="4655515"/>
                </a:lnTo>
                <a:lnTo>
                  <a:pt x="0" y="5225545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996097" y="2113157"/>
            <a:ext cx="1203960" cy="706755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000">
                <a:solidFill>
                  <a:srgbClr val="0460C7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030470" y="2906310"/>
            <a:ext cx="683260" cy="68326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5906299" y="2944410"/>
            <a:ext cx="5301615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dir="2700000" dist="38100" blurRad="127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定时器周期与计算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024755" y="3948762"/>
            <a:ext cx="683260" cy="68326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5883275" y="3938602"/>
            <a:ext cx="5301615" cy="646331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dir="2700000" dist="38100" blurRad="127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PWM 频率与占空比</a:t>
            </a:r>
            <a:endParaRPr lang="en-US" sz="1100"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3" id="23"/>
          <p:cNvSpPr txBox="true"/>
          <p:nvPr/>
        </p:nvSpPr>
        <p:spPr>
          <a:xfrm rot="0" flipH="false" flipV="false">
            <a:off x="8961317" y="691994"/>
            <a:ext cx="6962834" cy="27381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5013325" y="1856626"/>
            <a:ext cx="683260" cy="68326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5883275" y="1894726"/>
            <a:ext cx="5741166" cy="646331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3600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dir="2700000" dist="38100" blurRad="127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定时器与中断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5013325" y="5001374"/>
            <a:ext cx="683260" cy="683260"/>
          </a:xfrm>
          <a:prstGeom prst="roundRect">
            <a:avLst>
              <a:gd name="adj" fmla="val 0"/>
            </a:avLst>
          </a:prstGeom>
          <a:noFill/>
          <a:ln w="12700" cmpd="sng" cap="flat">
            <a:solidFill>
              <a:srgbClr val="000000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8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27" id="27"/>
          <p:cNvSpPr txBox="true"/>
          <p:nvPr/>
        </p:nvSpPr>
        <p:spPr>
          <a:xfrm rot="0" flipH="false" flipV="false">
            <a:off x="5871845" y="4991214"/>
            <a:ext cx="5301615" cy="646331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ln w="9525">
                  <a:solidFill>
                    <a:srgbClr val="FFFFFF">
                      <a:alpha val="100000"/>
                    </a:srgbClr>
                  </a:solidFill>
                </a:ln>
                <a:solidFill>
                  <a:srgbClr val="000077"/>
                </a:solidFill>
                <a:effectLst>
                  <a:outerShdw dir="2700000" dist="38100" blurRad="12700" algn="tl">
                    <a:srgbClr val="1414FF">
                      <a:alpha val="100000"/>
                    </a:srgbClr>
                  </a:outerShdw>
                </a:effectLst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SG90 舵机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76893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168351" y="1430526"/>
            <a:ext cx="6009640" cy="246221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6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定时器与中断</a:t>
            </a: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定时器是什么：时间怎么自己走？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92734" y="1574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① SysTick：内核自带的节拍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HAL_Delay 和 HAL_GetTick 都靠它，1 毫秒跳一次。它给系统用，周期不好自己改。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92734" y="2463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② TIM2 这类外设定时器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自带预分频器、计数器和自动重装值，数满一轮就触发一次更新中断，周期随你设。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92734" y="3352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③ 到点了谁来处理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时间一到进 HAL_TIM_PeriodElapsedCallback，主循环不用守着，时间自己会走。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629400" y="1524000"/>
            <a:ext cx="4495800" cy="2692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TIM2：72MHz，一秒钟中断一次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PSC=7199，ARR=9999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void HAL_TIM_PeriodElapsedCallback(TIM_HandleTypeDef *htim)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if (htim-&gt;Instance == TIM2) {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HAL_GPIO_TogglePin(GPIOC, GPIO_PIN_13);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定时器是硬件在替我们数数，CPU 只在到点那一刻出手一次。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定时时间怎么算：两个数就够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92734" y="1574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① 预分频 PSC：先降速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计数时钟 = 定时器时钟 ÷ (PSC+1)。72MHz 配 PSC=7199，计数器变成 10kHz，一个数 0.1 毫秒。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92734" y="2463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② 自动重装 ARR：数多少个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从 0 数到 ARR 算一轮。10kHz 下要 1 秒，就数 10000 个数，ARR 写 9999。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92734" y="3352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③ 合起来：定时时间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定时 = (PSC+1)×(ARR+1) ÷ 时钟。要 5 秒，让 ARR 从 9999 变成 49999 就行。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629400" y="1524000"/>
            <a:ext cx="4495800" cy="2692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72MHz 想要 5 秒一次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第一步：分频到 10kHz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htim2.Init.Prescaler = 7200 - 1;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第二步：数 50000 个 0.1ms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htim2.Init.Period = 50000 - 1;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30.5 秒以内都能这么算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算定时三步：先分频成好算的时钟、再决定数几个数、最后乘一下。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定时器中断闪灯：代码放哪几行？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92734" y="1574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① CubeMX 里配 TIM2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时钟源选内部时钟，PSC 与 ARR 按算好的填，NVIC 里把 TIM2 global interrupt 勾上。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92734" y="2463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② 启动要单独调一句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MX_TIM2_Init() 只是配置，还得在 main 里调 HAL_TIM_Base_Start_IT(&amp;htim2) 才会跑。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92734" y="3352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③ 回调里先判断是谁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所有定时器共用一个回调，写 if (htim-&gt;Instance == TIM2) 再干活，和中断那节一个道理。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629400" y="1524000"/>
            <a:ext cx="4495800" cy="2692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main 里，初始化之后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HAL_TIM_Base_Start_IT(&amp;htim2);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while (1) {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主循环空着也能闪灯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时间由 TIM2 在后台数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配置在 CubeMX、启动在 main、逻辑在回调——三段分清楚，定时器就不会没反应。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76893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168351" y="1430526"/>
            <a:ext cx="6009640" cy="246221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6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定时器周期与非阻塞</a:t>
            </a: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不写 Delay，怎么让灯一秒一闪？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92734" y="1574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① 记时间戳，不记「等多久」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用 HAL_GetTick() 记住上一次动作的时刻，主循环里只需要判断过去了多久。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92734" y="2463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② 到点才动，其余时间自由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没到时间就跳过，主循环可以同时读按键、发串口、算控制，互不耽误。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92734" y="3352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③ 多个周期怎么办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每个任务各存一个时间戳，各判各的；也可以用定时器中断，到点置标志，主循环只管干活。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629400" y="1524000"/>
            <a:ext cx="4495800" cy="2692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uint32_t last = 0;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while (1) {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if (HAL_GetTick() - last &gt;= 1000) {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last = HAL_GetTick();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HAL_GPIO_TogglePin(GPIOC, GPIO_PIN_13);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这里还能干别的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把「等一个时间」换成「看时间到了没」，主循环就空出来了。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等时间还是看时间：两种做法怎么选？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92734" y="1498600"/>
            <a:ext cx="10515600" cy="4064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939800" y="15113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对比项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2844800" y="15113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HAL_Delay 等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5892800" y="1511300"/>
            <a:ext cx="317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时间戳 / 定时器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9194800" y="15113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结论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2734" y="1981200"/>
            <a:ext cx="10515600" cy="50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92734" y="3098800"/>
            <a:ext cx="10515600" cy="50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939800" y="1993900"/>
            <a:ext cx="1778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CPU 在干什么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2844800" y="1993900"/>
            <a:ext cx="2921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原地打转，什么也不做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5892800" y="1993900"/>
            <a:ext cx="3175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继续跑主循环别的事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9194800" y="1993900"/>
            <a:ext cx="2032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差别最大的一条</a:t>
            </a:r>
            <a:endParaRPr lang="en-US" sz="1100"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939800" y="2552700"/>
            <a:ext cx="1778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时间精度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2844800" y="2552700"/>
            <a:ext cx="2921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毫秒，会累积误差</a:t>
            </a:r>
            <a:endParaRPr lang="en-US" sz="1100"/>
          </a:p>
        </p:txBody>
      </p:sp>
      <p:sp>
        <p:nvSpPr>
          <p:cNvPr name="AutoShape 26" id="26"/>
          <p:cNvSpPr txBox="true"/>
          <p:nvPr/>
        </p:nvSpPr>
        <p:spPr>
          <a:xfrm rot="0" flipH="false" flipV="false">
            <a:off x="5892800" y="2552700"/>
            <a:ext cx="3175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毫秒甚至微秒，周期稳</a:t>
            </a:r>
            <a:endParaRPr lang="en-US" sz="1100"/>
          </a:p>
        </p:txBody>
      </p:sp>
      <p:sp>
        <p:nvSpPr>
          <p:cNvPr name="AutoShape 27" id="27"/>
          <p:cNvSpPr txBox="true"/>
          <p:nvPr/>
        </p:nvSpPr>
        <p:spPr>
          <a:xfrm rot="0" flipH="false" flipV="false">
            <a:off x="9194800" y="2552700"/>
            <a:ext cx="2032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周期任务选后者</a:t>
            </a:r>
            <a:endParaRPr lang="en-US" sz="1100"/>
          </a:p>
        </p:txBody>
      </p:sp>
      <p:sp>
        <p:nvSpPr>
          <p:cNvPr name="AutoShape 28" id="28"/>
          <p:cNvSpPr txBox="true"/>
          <p:nvPr/>
        </p:nvSpPr>
        <p:spPr>
          <a:xfrm rot="0" flipH="false" flipV="false">
            <a:off x="939800" y="3111500"/>
            <a:ext cx="1778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代码难度</a:t>
            </a:r>
            <a:endParaRPr lang="en-US" sz="1100"/>
          </a:p>
        </p:txBody>
      </p:sp>
      <p:sp>
        <p:nvSpPr>
          <p:cNvPr name="AutoShape 29" id="29"/>
          <p:cNvSpPr txBox="true"/>
          <p:nvPr/>
        </p:nvSpPr>
        <p:spPr>
          <a:xfrm rot="0" flipH="false" flipV="false">
            <a:off x="2844800" y="3111500"/>
            <a:ext cx="2921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一行，最省事</a:t>
            </a:r>
            <a:endParaRPr lang="en-US" sz="1100"/>
          </a:p>
        </p:txBody>
      </p:sp>
      <p:sp>
        <p:nvSpPr>
          <p:cNvPr name="AutoShape 30" id="30"/>
          <p:cNvSpPr txBox="true"/>
          <p:nvPr/>
        </p:nvSpPr>
        <p:spPr>
          <a:xfrm rot="0" flipH="false" flipV="false">
            <a:off x="5892800" y="3111500"/>
            <a:ext cx="3175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多一个变量或一个中断</a:t>
            </a:r>
            <a:endParaRPr lang="en-US" sz="1100"/>
          </a:p>
        </p:txBody>
      </p:sp>
      <p:sp>
        <p:nvSpPr>
          <p:cNvPr name="AutoShape 31" id="31"/>
          <p:cNvSpPr txBox="true"/>
          <p:nvPr/>
        </p:nvSpPr>
        <p:spPr>
          <a:xfrm rot="0" flipH="false" flipV="false">
            <a:off x="9194800" y="3111500"/>
            <a:ext cx="2032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多写三行换自由</a:t>
            </a:r>
            <a:endParaRPr lang="en-US" sz="1100"/>
          </a:p>
        </p:txBody>
      </p:sp>
      <p:sp>
        <p:nvSpPr>
          <p:cNvPr name="AutoShape 32" id="32"/>
          <p:cNvSpPr txBox="true"/>
          <p:nvPr/>
        </p:nvSpPr>
        <p:spPr>
          <a:xfrm rot="0" flipH="false" flipV="false">
            <a:off x="939800" y="3670300"/>
            <a:ext cx="1778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用在哪</a:t>
            </a:r>
            <a:endParaRPr lang="en-US" sz="1100"/>
          </a:p>
        </p:txBody>
      </p:sp>
      <p:sp>
        <p:nvSpPr>
          <p:cNvPr name="AutoShape 33" id="33"/>
          <p:cNvSpPr txBox="true"/>
          <p:nvPr/>
        </p:nvSpPr>
        <p:spPr>
          <a:xfrm rot="0" flipH="false" flipV="false">
            <a:off x="2844800" y="3670300"/>
            <a:ext cx="2921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上手验证、一次性等待</a:t>
            </a:r>
            <a:endParaRPr lang="en-US" sz="1100"/>
          </a:p>
        </p:txBody>
      </p:sp>
      <p:sp>
        <p:nvSpPr>
          <p:cNvPr name="AutoShape 34" id="34"/>
          <p:cNvSpPr txBox="true"/>
          <p:nvPr/>
        </p:nvSpPr>
        <p:spPr>
          <a:xfrm rot="0" flipH="false" flipV="false">
            <a:off x="5892800" y="3670300"/>
            <a:ext cx="3175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闪灯、采样、控制周期</a:t>
            </a:r>
            <a:endParaRPr lang="en-US" sz="1100"/>
          </a:p>
        </p:txBody>
      </p:sp>
      <p:sp>
        <p:nvSpPr>
          <p:cNvPr name="AutoShape 35" id="35"/>
          <p:cNvSpPr txBox="true"/>
          <p:nvPr/>
        </p:nvSpPr>
        <p:spPr>
          <a:xfrm rot="0" flipH="false" flipV="false">
            <a:off x="9194800" y="3670300"/>
            <a:ext cx="2032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正式代码少用 Delay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判断标准只有一句：这段时间里，CPU 有没有别的事要做？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76893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168351" y="1430526"/>
            <a:ext cx="6009640" cy="246221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6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PWM 频率与占空比</a:t>
            </a: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PWM 是什么：引脚一直在开关？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92734" y="1574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① 方波：开关周期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引脚在高、低电平之间反复跳，一个「高 + 低」就是一个周期。开得够快，人眼就看不到闪。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92734" y="2463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② 频率：一秒钟几次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调灯要几百赫兹以上，不然看得出闪；舵机固定 50Hz。频率定整个周期的长短。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92734" y="3352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③ 占空比：高电平占多少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高电平时间 ÷ 周期。占空比 50% 就是半亮，10% 很暗，90% 接近全亮。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629400" y="1524000"/>
            <a:ext cx="4495800" cy="2692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周期 1ms（频率 1kHz）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高 0.5ms + 低 0.5ms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// 占空比 50% → 半亮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高 0.1ms + 低 0.9ms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// 占空比 10% → 很暗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引脚变了吗？没变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变的只是「开多久」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PWM 把「开和关」换成了「开多久、关多久」：频率决定闪不闪，占空比决定亮多少。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频率和占空比，谁管谁？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92734" y="1574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① 周期由 ARR 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频率 = 计数时钟 ÷ (ARR+1)。PSC 配 71 得到 1MHz，ARR 填 999 就是一个周期 1 毫秒，即 1kHz。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92734" y="2463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② 高电平由 CCR 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比较值 CCR 是「数到几翻转」，也就是高电平持续多久。这就是我们运行时唯一要改的数。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92734" y="3352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③ 占空比 = CCR ÷ (ARR+1)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1MHz 下 CCR 写 500，就是高 500 微秒、占空比 50%；写 100 就是 10%，灯很暗。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629400" y="1524000"/>
            <a:ext cx="4495800" cy="2692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72MHz → 1MHz，1 个数 = 1us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htim1.Init.Prescaler = 72 - 1;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htim1.Init.Period = 1000 - 1;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周期 1000us → 1kHz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__HAL_TIM_SET_COMPARE(&amp;htim1, TIM_CHANNEL_2, 500);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高 500us → 占空比 50%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周期看 ARR、宽度看 CCR、占空比是两者的比——三个数就能描述一路 PWM。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呼吸灯：占空比怎么动起来？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92734" y="1574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① 先启动 PWM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通道配成 PWM Generation 后，main 里必须调 HAL_TIM_PWM_Start 才会出波形。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92734" y="2463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② 用小步长改 CCR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每次只改一点点，比如 ±10，眼睛看到的就是平滑变亮变暗，而不是一跳一跳。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92734" y="3352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③ 到顶要掉头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CCR 到 0 或到 ARR 就反向，用一个方向变量控制，这就是最朴素的呼吸灯。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629400" y="1524000"/>
            <a:ext cx="4495800" cy="2692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HAL_TIM_PWM_Start(&amp;htim1, TIM_CHANNEL_2);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int16_t ccr = 0, dir = 1;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while (1) {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ccr += 10 * dir;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if (ccr &gt;= 999) dir = -1;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if (ccr &lt;= 0) dir = 1;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__HAL_TIM_SET_COMPARE(&amp;htim1, TIM_CHANNEL_2, ccr);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HAL_Delay(10);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呼吸灯只做一件事：让 CCR 从小变到大、再变回小——变化慢一点，看着就顺了。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76893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168351" y="1430526"/>
            <a:ext cx="6009640" cy="2462213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6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SG90 舵机</a:t>
            </a: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true" strike="noStrike" u="none" sz="1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/>
            </a:r>
          </a:p>
          <a:p>
            <a:pPr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SG90 怎么转角度：脉宽说了算？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92734" y="1574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① 周期固定 20 毫秒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SG90 收的是一路 50Hz 方波，20 毫秒一个周期，这个数不能改，改了就乱转。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92734" y="2463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② 脉宽决定角度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0.5 毫秒对应 0 度，1.5 毫秒对应 90 度，2.5 毫秒对应 180 度，中间线性对应。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92734" y="3352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③ 参数怎么配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分频到 1MHz（一个数 1 微秒），ARR 填 19999 得 20 毫秒，CCR 就是脉宽微秒数。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629400" y="1524000"/>
            <a:ext cx="4495800" cy="2692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50Hz：1MHz 的时钟要数 20000 个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htim.Init.Prescaler = 72 - 1;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htim.Init.Period = 20000 - 1;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CCR 就是脉宽，单位微秒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// 0 度 → 500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// 90 度 → 1500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// 180 度 → 2500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舵机不看占空比，只看脉宽：0.5 到 2.5 毫秒，对应 0 到 180 度。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写个函数，让舵机转到指定角度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792734" y="1574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① 接线与供电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信号线接定时器通道对应的引脚，舵机的电源要单独供，别从板子的 3.3V 上取电。</a:t>
            </a:r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792734" y="2463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② 角度换算封装成函数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把「角度换成脉宽」写进一个函数里，主程序里就只看得到角度，代码好读也好改。</a:t>
            </a:r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792734" y="3352800"/>
            <a:ext cx="5461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③ 上电先回中位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程序开头先给 90 度，再按需要转，避免上电瞬间猛地冲到限位撞坏齿轮。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1422400"/>
            <a:ext cx="4800600" cy="2921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6629400" y="1524000"/>
            <a:ext cx="4495800" cy="2692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void servo_set_angle(uint16_t angle)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if (angle &gt; 180) angle = 180;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uint16_t ccr = 500 + angle * 2000 / 180;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8C46BE"/>
                </a:solidFill>
                <a:latin typeface="Consolas"/>
                <a:ea typeface="Consolas"/>
                <a:cs typeface="Consolas"/>
                <a:sym typeface="Consolas"/>
              </a:rPr>
              <a:t>__HAL_TIM_SET_COMPARE(&amp;htim1, TIM_CHANNEL_1, ccr);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en-US" b="false" i="false" strike="noStrike" u="none" sz="1500">
                <a:solidFill>
                  <a:srgbClr val="1F2329"/>
                </a:solidFill>
                <a:latin typeface="Consolas"/>
                <a:ea typeface="Consolas"/>
                <a:cs typeface="Consolas"/>
                <a:sym typeface="Consolas"/>
              </a:rPr>
              <a:t/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565656"/>
                </a:solidFill>
                <a:latin typeface="Consolas"/>
                <a:ea typeface="Consolas"/>
                <a:cs typeface="Consolas"/>
                <a:sym typeface="Consolas"/>
              </a:rPr>
              <a:t>// 用法：servo_set_angle(90);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把角度换算写成函数，用舵机就和写 servo_set_angle(90) 一样简单。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课后作业 4：定时器、PWM、舵机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92734" y="1676400"/>
            <a:ext cx="711200" cy="50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574800" y="1676400"/>
            <a:ext cx="95504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定时器 2 定时 5 秒，中断控制 LED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先算出 PSC 与 ARR，再在回调里翻转灯；别忘了在 main 里启动定时器中断。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92734" y="2692400"/>
            <a:ext cx="711200" cy="50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574800" y="2692400"/>
            <a:ext cx="95504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定时器 1 通道 2 输出 PWM，做呼吸灯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占空比从 0 慢慢加到 100% 再降回来；注意比较值用有符号变量，到边界要反向。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92734" y="3708400"/>
            <a:ext cx="711200" cy="5080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574800" y="3708400"/>
            <a:ext cx="95504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课余：用 PWM 驱动 SG90 舵机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固定 50Hz，脉宽 0.5 到 2.5 毫秒对应 0 到 180 度，写一个按角度转的函数。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92734" y="50292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三题分别练定时器中断、PWM 输出和舵机控制；第 11 周考核里这三样都要用到。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-1000932" flipH="false" flipV="false">
            <a:off x="11743027" y="781838"/>
            <a:ext cx="276444" cy="238314"/>
          </a:xfrm>
          <a:prstGeom prst="triangle">
            <a:avLst>
              <a:gd name="adj" fmla="val 50000"/>
            </a:avLst>
          </a:prstGeom>
          <a:solidFill>
            <a:srgbClr val="0000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8557107" y="548565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11308339" y="548564"/>
            <a:ext cx="560678" cy="560678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8961317" y="691994"/>
            <a:ext cx="2032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non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true" strike="noStrike" u="none" sz="1400" spc="11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哈理工A.I.R.创新实验室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22340" y="200268"/>
            <a:ext cx="850218" cy="64516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36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1408014" y="420402"/>
            <a:ext cx="7112000" cy="460375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400">
                <a:solidFill>
                  <a:srgbClr val="034895"/>
                </a:solidFill>
                <a:latin typeface="Noto Sans SC"/>
                <a:ea typeface="Noto Sans SC"/>
                <a:cs typeface="Noto Sans SC"/>
                <a:sym typeface="Noto Sans SC"/>
              </a:rPr>
              <a:t>交作业：比代码更容易丢分的地方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92734" y="1498600"/>
            <a:ext cx="711200" cy="4826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01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1574800" y="1498600"/>
            <a:ext cx="96266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代码注释必须统一 UTF-8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；交上来打不开、或者注释是乱码的，按未提交处理。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92734" y="2032000"/>
            <a:ext cx="711200" cy="4826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02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574800" y="2032000"/>
            <a:ext cx="96266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演示视频、代码和其他材料放在同一个压缩包里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，不要拆成几个文件分开发。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92734" y="2565400"/>
            <a:ext cx="711200" cy="4826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03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574800" y="2565400"/>
            <a:ext cx="96266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压缩包命名格式：</a:t>
            </a:r>
            <a:r>
              <a:rPr lang="en-US" b="tru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班级+姓名+第几次任务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，例如「电气26-5班+李华+第一次任务.zip」。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92734" y="3098800"/>
            <a:ext cx="711200" cy="4826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04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1574800" y="3098800"/>
            <a:ext cx="96266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发到指定邮箱，</a:t>
            </a:r>
            <a:r>
              <a:rPr lang="en-US" b="tru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邮件主题与压缩包同名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，压缩包作为附件上传，不要用网盘链接。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92734" y="3632200"/>
            <a:ext cx="711200" cy="482600"/>
          </a:xfrm>
          <a:prstGeom prst="roundRect">
            <a:avLst>
              <a:gd name="adj" fmla="val 0"/>
            </a:avLst>
          </a:prstGeom>
          <a:solidFill>
            <a:srgbClr val="F0F0F0">
              <a:alpha val="100000"/>
            </a:srgbClr>
          </a:solidFill>
          <a:ln w="12700" cmpd="sng" cap="flat">
            <a:solidFill>
              <a:srgbClr val="034895">
                <a:alpha val="100000"/>
              </a:srgbClr>
            </a:solidFill>
            <a:prstDash val="solid"/>
            <a:miter lim="1000000"/>
          </a:ln>
        </p:spPr>
        <p:txBody>
          <a:bodyPr anchor="ctr" rtlCol="false" anchorCtr="false" vert="horz" wrap="squar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true" strike="noStrike" u="none" sz="2800">
                <a:solidFill>
                  <a:srgbClr val="034895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05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1574800" y="3632200"/>
            <a:ext cx="96266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不强制每周内完成，但</a:t>
            </a:r>
            <a:r>
              <a:rPr lang="en-US" b="tru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转入梯队考核上传结束时间前必须全部交齐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（第 11 周）。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92734" y="4724400"/>
            <a:ext cx="10383266" cy="431800"/>
          </a:xfrm>
          <a:prstGeom prst="roundRect">
            <a:avLst>
              <a:gd name="adj" fmla="val 0"/>
            </a:avLst>
          </a:pr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177800" rIns="17780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五条要求都是硬性的：代码写得对，但包名写错、注释乱码，一样按未提交处理。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rot="0" flipH="false" flipV="false">
            <a:off x="0" y="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3" id="3"/>
          <p:cNvSpPr/>
          <p:nvPr/>
        </p:nvSpPr>
        <p:spPr>
          <a:xfrm rot="8516724" flipH="false" flipV="false">
            <a:off x="362826" y="-39565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-268369" flipH="false" flipV="false">
            <a:off x="554150" y="863907"/>
            <a:ext cx="154283" cy="113868"/>
          </a:xfrm>
          <a:custGeom>
            <a:avLst/>
            <a:gdLst/>
            <a:ahLst/>
            <a:cxnLst/>
            <a:rect r="r" b="b" t="t" l="l"/>
            <a:pathLst>
              <a:path h="113868" w="154283">
                <a:moveTo>
                  <a:pt x="154137" y="113650"/>
                </a:moveTo>
                <a:lnTo>
                  <a:pt x="154283" y="113868"/>
                </a:lnTo>
                <a:lnTo>
                  <a:pt x="153957" y="113867"/>
                </a:lnTo>
                <a:close/>
                <a:moveTo>
                  <a:pt x="77323" y="0"/>
                </a:moveTo>
                <a:lnTo>
                  <a:pt x="152921" y="113862"/>
                </a:lnTo>
                <a:lnTo>
                  <a:pt x="0" y="11317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5" id="5"/>
          <p:cNvSpPr/>
          <p:nvPr/>
        </p:nvSpPr>
        <p:spPr>
          <a:xfrm rot="8516724" flipH="false" flipV="false">
            <a:off x="501961" y="-239247"/>
            <a:ext cx="234240" cy="1051474"/>
          </a:xfrm>
          <a:custGeom>
            <a:avLst/>
            <a:gdLst/>
            <a:ahLst/>
            <a:cxnLst/>
            <a:rect r="r" b="b" t="t" l="l"/>
            <a:pathLst>
              <a:path h="1051474" w="234240">
                <a:moveTo>
                  <a:pt x="0" y="1051474"/>
                </a:moveTo>
                <a:lnTo>
                  <a:pt x="0" y="70460"/>
                </a:lnTo>
                <a:lnTo>
                  <a:pt x="234240" y="0"/>
                </a:lnTo>
                <a:lnTo>
                  <a:pt x="234240" y="1051474"/>
                </a:lnTo>
                <a:close/>
              </a:path>
            </a:pathLst>
          </a:custGeom>
          <a:solidFill>
            <a:srgbClr val="0000EE">
              <a:alpha val="57999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-5400000" flipH="false" flipV="true">
            <a:off x="10553720" y="5219720"/>
            <a:ext cx="1792479" cy="1484081"/>
          </a:xfrm>
          <a:custGeom>
            <a:avLst/>
            <a:gdLst/>
            <a:ahLst/>
            <a:cxnLst/>
            <a:rect r="r" b="b" t="t" l="l"/>
            <a:pathLst>
              <a:path h="1484081" w="1792479">
                <a:moveTo>
                  <a:pt x="0" y="0"/>
                </a:moveTo>
                <a:lnTo>
                  <a:pt x="1792479" y="0"/>
                </a:lnTo>
                <a:lnTo>
                  <a:pt x="0" y="148408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7" id="7"/>
          <p:cNvSpPr/>
          <p:nvPr/>
        </p:nvSpPr>
        <p:spPr>
          <a:xfrm rot="-8474539" flipH="false" flipV="true">
            <a:off x="11302288" y="3064740"/>
            <a:ext cx="800384" cy="2560872"/>
          </a:xfrm>
          <a:custGeom>
            <a:avLst/>
            <a:gdLst/>
            <a:ahLst/>
            <a:cxnLst/>
            <a:rect r="r" b="b" t="t" l="l"/>
            <a:pathLst>
              <a:path h="2560872" w="800384">
                <a:moveTo>
                  <a:pt x="800383" y="0"/>
                </a:moveTo>
                <a:lnTo>
                  <a:pt x="0" y="996983"/>
                </a:lnTo>
                <a:lnTo>
                  <a:pt x="0" y="2560872"/>
                </a:lnTo>
                <a:lnTo>
                  <a:pt x="800384" y="1896923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-111488" y="1002574"/>
            <a:ext cx="6354536" cy="4599214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Freeform 10" id="10"/>
          <p:cNvSpPr/>
          <p:nvPr/>
        </p:nvSpPr>
        <p:spPr>
          <a:xfrm rot="-7617807" flipH="false" flipV="true">
            <a:off x="6011572" y="-3138352"/>
            <a:ext cx="2098521" cy="10814693"/>
          </a:xfrm>
          <a:custGeom>
            <a:avLst/>
            <a:gdLst/>
            <a:ahLst/>
            <a:cxnLst/>
            <a:rect r="r" b="b" t="t" l="l"/>
            <a:pathLst>
              <a:path h="10814693" w="2098521">
                <a:moveTo>
                  <a:pt x="2098520" y="2788530"/>
                </a:moveTo>
                <a:lnTo>
                  <a:pt x="0" y="0"/>
                </a:lnTo>
                <a:lnTo>
                  <a:pt x="0" y="10814693"/>
                </a:lnTo>
                <a:lnTo>
                  <a:pt x="2098521" y="9073886"/>
                </a:lnTo>
                <a:close/>
              </a:path>
            </a:pathLst>
          </a:custGeom>
          <a:solidFill>
            <a:srgbClr val="00AB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3805419" flipH="false" flipV="false">
            <a:off x="6757538" y="2864877"/>
            <a:ext cx="646538" cy="1118147"/>
          </a:xfrm>
          <a:custGeom>
            <a:avLst/>
            <a:gdLst/>
            <a:ahLst/>
            <a:cxnLst/>
            <a:rect r="r" b="b" t="t" l="l"/>
            <a:pathLst>
              <a:path h="1118147" w="646538">
                <a:moveTo>
                  <a:pt x="441579" y="0"/>
                </a:moveTo>
                <a:lnTo>
                  <a:pt x="646538" y="1118147"/>
                </a:lnTo>
                <a:lnTo>
                  <a:pt x="0" y="1118147"/>
                </a:lnTo>
                <a:close/>
              </a:path>
            </a:pathLst>
          </a:custGeom>
          <a:solidFill>
            <a:srgbClr val="03489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3239350" flipH="false" flipV="false">
            <a:off x="3210408" y="3964146"/>
            <a:ext cx="4303213" cy="5920511"/>
          </a:xfrm>
          <a:custGeom>
            <a:avLst/>
            <a:gdLst/>
            <a:ahLst/>
            <a:cxnLst/>
            <a:rect r="r" b="b" t="t" l="l"/>
            <a:pathLst>
              <a:path h="5920511" w="4303213">
                <a:moveTo>
                  <a:pt x="0" y="0"/>
                </a:moveTo>
                <a:lnTo>
                  <a:pt x="4303213" y="1"/>
                </a:lnTo>
                <a:lnTo>
                  <a:pt x="0" y="5920511"/>
                </a:lnTo>
                <a:close/>
              </a:path>
            </a:pathLst>
          </a:custGeom>
          <a:solidFill>
            <a:srgbClr val="0460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-7617807" flipH="false" flipV="true">
            <a:off x="10929458" y="1005823"/>
            <a:ext cx="1025939" cy="5287159"/>
          </a:xfrm>
          <a:custGeom>
            <a:avLst/>
            <a:gdLst/>
            <a:ahLst/>
            <a:cxnLst/>
            <a:rect r="r" b="b" t="t" l="l"/>
            <a:pathLst>
              <a:path h="5287159" w="1025939">
                <a:moveTo>
                  <a:pt x="1025939" y="1363275"/>
                </a:moveTo>
                <a:lnTo>
                  <a:pt x="0" y="0"/>
                </a:lnTo>
                <a:lnTo>
                  <a:pt x="0" y="5287159"/>
                </a:lnTo>
                <a:lnTo>
                  <a:pt x="1025939" y="4436101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10800000" flipH="false" flipV="true">
            <a:off x="-4825040" y="53316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-346982" y="5807529"/>
            <a:ext cx="2231571" cy="693964"/>
          </a:xfrm>
          <a:prstGeom prst="flowChartInputOutput">
            <a:avLst/>
          </a:prstGeom>
          <a:solidFill>
            <a:srgbClr val="000000">
              <a:alpha val="100000"/>
            </a:srgbClr>
          </a:solidFill>
          <a:ln w="12700" cmpd="sng" cap="flat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10800000" flipH="false" flipV="true">
            <a:off x="-4122005" y="442190"/>
            <a:ext cx="7940760" cy="560678"/>
          </a:xfrm>
          <a:custGeom>
            <a:avLst/>
            <a:gdLst/>
            <a:ahLst/>
            <a:cxnLst/>
            <a:rect r="r" b="b" t="t" l="l"/>
            <a:pathLst>
              <a:path h="560678" w="7940760">
                <a:moveTo>
                  <a:pt x="424975" y="0"/>
                </a:moveTo>
                <a:lnTo>
                  <a:pt x="7940760" y="0"/>
                </a:lnTo>
                <a:lnTo>
                  <a:pt x="7940760" y="560678"/>
                </a:lnTo>
                <a:lnTo>
                  <a:pt x="0" y="560678"/>
                </a:lnTo>
                <a:close/>
              </a:path>
            </a:pathLst>
          </a:custGeom>
          <a:solidFill>
            <a:srgbClr val="F0F0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 txBox="true"/>
          <p:nvPr/>
        </p:nvSpPr>
        <p:spPr>
          <a:xfrm rot="10800000" flipH="false" flipV="true">
            <a:off x="122464" y="544286"/>
            <a:ext cx="6939643" cy="340179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2000" spc="110">
                <a:solidFill>
                  <a:srgbClr val="000000"/>
                </a:solidFill>
                <a:latin typeface="SimHei"/>
                <a:ea typeface="SimHei"/>
                <a:cs typeface="SimHei"/>
                <a:sym typeface="SimHei"/>
              </a:rPr>
              <a:t>『生无所息，斗无所止』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-2264654" flipH="false" flipV="false">
            <a:off x="4859935" y="1322839"/>
            <a:ext cx="5038663" cy="76835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true" strike="noStrike" u="none" sz="4400">
                <a:solidFill>
                  <a:srgbClr val="FFFFFF"/>
                </a:solidFill>
                <a:latin typeface="锐字真言体免费商用"/>
                <a:ea typeface="锐字真言体免费商用"/>
                <a:cs typeface="锐字真言体免费商用"/>
                <a:sym typeface="锐字真言体免费商用"/>
              </a:rPr>
              <a:t>下课啦！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{"Label":"1","ContentProducer":"001191110102MACQD9K64010000","ProduceID":"7694208952661380058","ReservedCode1":"","ContentPropagator":"","PropagateID":"","ReservedCode2":""}</vt:lpwstr>
  </property>
</Properties>
</file>