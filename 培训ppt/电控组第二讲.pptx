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4" r:id="rId13"/>
    <p:sldId id="265" r:id="rId14"/>
    <p:sldId id="263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一讲我们把环境配好、把变量和输入输出跑通了。这一讲要解决的是「程序怎么按我们的想法做判断、重复做事、把功能拆开」。学完这一讲，你写出的程序就不再是一条直线，而是能分支、能循环、能复用。封面上的培训时间和主讲人先留空，正式开课前由主讲人自己填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整张培训计划表就在这里。每周六 10:00-12:00 上课，西区在实训楼三楼，南区地点待定。军训培训那次讲的是 C 语言基础语法；之后每周一讲，依次是 C 语言进阶、STM32 的 GPIO 与中断、定时器与 PWM、串口与 OLED，第 11 周是正式考核。每讲课后都有一次任务，不强制当周交，但转梯队考核前必须全部交齐。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一讲分四条线走。第一条是程序流程：让程序会判断、会选路。第二条是循环：让程序把一件事重复做够次数。第三条是函数：把一段功能打包成一个名字，以后反复调用。第四条最重，是数组、字符串、结构体和指针——它们决定了你后面能不能写出 STM32 里那种「一份系统状态结构体到处用」的代码。四条线里前三条是骨架，第四条是这一讲的硬骨头。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进入第一章。程序默认是按顺序一条一条往下走的，但真实需求里更多是「满足条件才做」「在几个方案里挑一个」。这一章讲 if、switch 这些分支语句怎么把程序走出岔路，也讲清楚条件为真为假是怎么回事。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先别急着讲语法。问大家一个问题：让一个 LED 闪十次，按现在会的东西怎么写？答案是把「点亮、延时、熄灭、延时」抄十遍，改一个延时，十处都要改。右边三段代码先看个眼熟：顺序写就是一条直线；加上 if，程序才会在条件不同的时候走不同的路；加上 for，同一段代码才会重复执行。记住底下一句就够了：分支决定走哪条路，循环决定走多少遍。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先纠正一个最容易搞错的地方：C 里没有「真」和「假」这两个值，if 后面括号里算出来是 0 就按假处理，不是 0 就按真处理。所以 if (flag) 就是 if (flag != 0)。第二种写法可能有人没见过，感叹号是「取反」，if (!flag) 就是 flag 等于 0 的时候成立。再看 else if 这条梯子：程序从上往下一个个判断，谁先成立就进去执行，执行完直接跳到整条梯子外面，后面的 else if 连算都不算。最后说大括号：只有一条语句时 C 允许不写，但等你哪天想在这条语句前后再加一行，不写大括号的两行就会分开处理。所以我们的规范是：一律写上。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switch 和 if 不是谁替代谁，是分工。if 能把区间和复杂条件写清楚，比如 score 大于等于 90；switch 只能按一个具体的值分岔，但它把「多个固定选项」写得比一长串 else if 干净得多。三条纪律：第一，case 后面必须是整数或字符常量，想比较字符串得用 strcmp 加 if；第二，每个 case 后面都要有 break，不写就会一路往下穿透，上面第二个例子就是发 'A' 结果把灯关掉的 bug；第三，default 别省，串口命令解析里它负责「收到不认识的命令」这一路，没有它你就不知道是自己解析错了还是对方发错了。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for 后面括号里用两个分号隔开三样东西：初始化、判断、更新。很多人学了半天还是搞不清执行顺序，记一句话就行——初始化只做一次，然后就是「判断、循环体、更新」这三步来回转，判断不成立就退出。上面这段代码不会闪 5 次灯吗？会的，i 取 0 到 4 一共 5 次判断成立。还有个小细节：int i 写在 for 里面，i 出了这个循环就不存在了，在循环外面引用它会报错，这不是 bug，是作用域规则，下一页会专门讲。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这张表不用背，记判断顺序就行。先问自己一句：这个循环跑几次我心里有数吗？有数就用 for。没数，只知道「条件不满足就该停」，那就用 while，比如等按键按下、等标志位置位。还有一种情况：不管条件成不成立，这段代码都得先跑一遍——比如开机先把菜单画出来，再等用户按键，这时候用 do-while，因为它的判断在循环体后面。考试和面试喜欢问的差别就是这一条：for 和 while 都是先判断后执行，do-while 是先执行后判断，所以 do-while 的循环体至少跑一次。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进入第二章。上一章解决了「走哪条路」，这一章解决「同一段路走多少遍」。闪灯、按键扫描、遍历数组背后都是循环。这一章的重点不是背 for 的语法，而是搞清楚三种循环什么时候用哪个，以及为什么你的程序会卡死在里面出不来。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break 和 continue 长得很像，作用完全不同。break 是「我不干了」，直接跳出这一整个循环，后面的轮次都不走了；continue 是「这一轮算了」，跳过本轮剩下的语句，直接进下一轮。典型用法：在一堆数里找目标值，找到就 break；把数组里的负数过滤掉，遇到负数就 continue。最后说死循环：单片机程序写死循环基本就废了，按键没反应、灯也不闪。三个最常见的原因——for 里忘了写 i++、while 的条件永远为真（比如 while(1) 里没写退出条件）、还有在循环体里改掉了用来判断的变量。查这种 bug，第一步永远是先看循环变量有没有按你想的在变。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进入第三章。程序能分支、能循环以后，main 函数会越写越长，几百行堆在一起，改一个地方要翻半天。这一章讲怎么把一段功能切出来做成函数：怎么定义、怎么调用、参数是怎么传进去的，以及为什么你改了函数里的形参，外面的变量却没变。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什么时候该写函数？一个很实用的信号：同一段代码你写了第二遍，就该切出来了。函数的三件事——要什么参数、做什么处理、返回什么结果，写函数之前先用一句话说清楚，说不清楚说明还没想明白。定义和声明的区别也常被问：定义是完整的实现，编译时占一份空间；声明只是「有这么一个函数，参数和返回值是这样」，放在文件开头，方便编译器提前知道，也方便别人调用。最后提醒一下，一个函数只能 return 一个值，想同时带回最大值和最小值，就得用指针了，下一页专门讲。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这一页讲的是这一讲最容易踩的坑。C 语言传参默认是值传递：函数收到的是实参的一份拷贝，你在函数里把 x 和 y 换来换去，改的是拷贝，外面那两个变量一点没动，这就是上面第一个 badSwap 换不动的原因。想真的改到外面，得把变量的地址传进去——调用时写 &amp;a、&amp;b，函数参数写成 int *x，函数体里用 *x 去访问那块内存。所以以后看到函数参数是 int * 这种写法，你要立刻意识到：它打算改我传进去的东西。作业第三题就是让大家手写这个 swap，一定要用指针版本。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作用域说的是「在哪儿能用」，生命周期说的是「什么时候活着」。局部变量两样都很短：在函数里定义，函数返回就回收；在大括号里定义，出了大括号就不能用。所以你在 for 里定义的 i，循环外面是访问不到的。全局变量在文件开头定义，哪个函数都能用，写小项目图方便可以，但它意味着任何一处代码都能悄悄改它，出问题时很难查，能不用就不用。static 是个特例：写在函数里的 static 变量，函数退出后不会被销毁，下次进来还是上次那个值，而且初始化语句只执行一次。学定时器、按键状态机的时候它会很有用。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进入第四章，也是这一讲的重点。前面我们一次只处理一个变量，可传感器一帧就是一组数，一个日期有年月日三样，串口来的是一条字符串。这一章讲怎么把一组数据放在一起——数组、字符串、结构体，以及贯穿 C 语言的核心概念：指针。学完这一章，你就能看懂 HAL 库里那些带 * 的参数是怎么回事了。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数组的用处马上就来了：ADC 采样、串口收数据、PID 的历史误差，都是「一组同类型的数」。写法就是在类型后面加方括号写个数：int adc[8] 表示开 8 个 int 的格子。三个必须记住的点：第一，下标从 0 开始，第 8 个元素是 adc[7]，写 adc[8] 就跑到数组外面去了；第二，C 编译器不会检查下标越界，adc[8] = 300 这行代码能编译能运行，但它改了不属于你的内存，程序可能过一会儿才莫名其妙地出错；第三，数组自己不知道有几个元素，需要个数就用 sizeof(adc) / sizeof(adc[0]) 算，或者干脆 #define 一个常量。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C 语言里没有专门的字符串类型，字符串就是用 '\0' 结尾的 char 数组。'\0' 的 ASCII 值是 0，是个看不见的字符，所有字符串函数都靠它判断「到结尾了」。所以如果你手动往数组里塞字符，忘了在最后补一个 '\0'，printf 就会一直往外读，直到内存里随机碰到一个 0 才停，打印出一堆乱码——这个现象叫「字符串没有结尾」。strlen 和 sizeof 的区别也是常见考题：strlen 从开头数到 '\0'，返回可见字符数；sizeof 是编译期算的，返回整个数组的字节数，char buf[16] 永远是 16。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什么要有结构体？因为一个真实的对象往往不是单个数字：一个日期有年月日，一块电池有电压、电流、温度、状态。如果分开写成一堆变量，参数会越传越多，函数签名能写两行。结构体把它们捆成一个整体，起个名字，以后就能当一个类型用。三个要点：第一，typedef 加 struct 是标准写法，写完之后 Date 就是一个类型名，跟 int 一个地位；第二，访问成员，结构体变量用点 d.month，结构体指针用箭头 p-&gt;month，记不住就记住 p-&gt;month 等于 (*p).month；第三，结构体数组很常用，作业第一题写的日期、后面 STM32 里存的传感器数据，都会用到这个组合。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指针是 C 语言的分水岭，其实一句话就能说清：指针就是一个装地址的变量。普通变量装的是数，指针装的是「数在哪儿」。两个符号要分清：&amp; 是取地址，写 &amp;a 得到 a 的地址；* 是解引用，写 *p 表示「到 p 指的地方去」，既可以读也可以写。所以 *p = 20 这行代码，改的就是外面那个 a。第三点是指针的类型：int * 往前挪一步跨 4 个字节，char * 跨 1 个字节，这解释了为什么指针要有类型。顺带一个知识点，数组名本身就可以当指针用，int *q = arr 是合法的，因为数组名就是首元素的地址。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这页就是把交换函数完整走一遍，也是作业第三题的原型。交换两个数需要三步：先把其中一个存到临时变量 t，再把另一个写过去，最后把 t 写回来——顺序错了就会两个变一样。区别只在一个地方：值传递版本里操作的是副本 x 和 y，所以外面没变；指针版本里 *x 和 *y 指的是外面真实的变量，所以写回去就是真的改掉了。写这种函数时心里要清楚：这里面没有 return，它是靠参数把结果「带出去」的。以后看到 HAL_UART_Transmit(&amp;huart1, buf, len, 100) 这种写法，你就明白那个 &amp; 是在传地址了。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这一讲的作业一共四道题，正好把今天讲的东西都用一遍。第一题用结构体装日期，然后累加前面几个月的天数，别忘了闰年二月是 29 天——判断闰年的条件是：能被 4 整除且不能被 100 整除，或者能被 400 整除。第二题就是刚才讲的 swap，一定要写成指针版本，在主函数里交换两个变量并打印出来验证。第三题练数组和循环，注意输入 n 之后再循环读 n 个数，求平均值时要用 float 或 double，保留两位小数用 %.2f。第四题是函数指针，写一个 int add(int a, int b)，然后用 int (*fp)(int, int) = add; 来调用它，这一题是为后面回调函数和 STM32 的中断服务函数打基础。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作业的提交要求统一按这个来。第一，注释编码必须统一 UTF-8——Keil 默认的编码和 UTF-8 不一样，中文注释会变成乱码，写之前先把编码设置改好。第二，代码一定要能编译、能跑出结果再交，别把报错的工程打包。第三，演示视频、代码和其他材料放在同一个压缩包里。第四，压缩包命名是「班级+姓名+第几次任务」，比如「电气26-5班+李华+第一次任务.zip」，邮件主题写一样的名字，压缩包当附件。第五，不强制每周内交，但转入梯队考核上传结束时间之前必须全部交齐。另外提醒一句：这一讲的内容是后面 STM32 的基础，指针没搞明白，HAL 库里的那些 &amp; 你会看得很痛苦，所以作业别拖。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今天这一讲的内容到这里。回顾一下：程序流程（顺序、分支、循环）、函数（定义、调用、传参、作用域），还有第四章的四样东西——数组、字符串、结构体、指针。这四样是后面所有内容的基础，尤其是指针，看不懂指针就会看不懂 HAL 库。课后作业 2 一共四道题，先自己写，编译过了再交，注释记得用 UTF-8。有卡住的地方在群里问，或者下周六上课前提前来。下周六同一时间，我们开始 STM32，第一件事就是把 GPIO 点灯跑起来。下课。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-7315198" y="-5753098"/>
            <a:ext cx="27050999" cy="20192999"/>
          </a:xfrm>
          <a:custGeom>
            <a:avLst/>
            <a:gdLst/>
            <a:ahLst/>
            <a:cxnLst/>
            <a:rect l="l" t="t" r="r" b="b"/>
            <a:pathLst>
              <a:path w="27050999" h="20192999">
                <a:moveTo>
                  <a:pt x="7467599" y="5905499"/>
                </a:moveTo>
                <a:lnTo>
                  <a:pt x="7467599" y="12763499"/>
                </a:lnTo>
                <a:lnTo>
                  <a:pt x="19659599" y="12763499"/>
                </a:lnTo>
                <a:lnTo>
                  <a:pt x="19659599" y="5905499"/>
                </a:lnTo>
                <a:close/>
                <a:moveTo>
                  <a:pt x="0" y="0"/>
                </a:moveTo>
                <a:lnTo>
                  <a:pt x="27050999" y="0"/>
                </a:lnTo>
                <a:lnTo>
                  <a:pt x="27050999" y="20192999"/>
                </a:lnTo>
                <a:lnTo>
                  <a:pt x="0" y="20192999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0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pic" sz="quarter" idx="1"/>
          </p:nvPr>
        </p:nvSpPr>
        <p:spPr>
          <a:xfrm>
            <a:off x="910379" y="1873354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/>
          <p:nvPr>
            <p:ph type="pic" sz="quarter" idx="2"/>
          </p:nvPr>
        </p:nvSpPr>
        <p:spPr>
          <a:xfrm>
            <a:off x="2938349" y="1873353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pic" sz="quarter" idx="3"/>
          </p:nvPr>
        </p:nvSpPr>
        <p:spPr>
          <a:xfrm>
            <a:off x="910378" y="3886331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pic" sz="quarter" idx="4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pic" sz="quarter" idx="5"/>
          </p:nvPr>
        </p:nvSpPr>
        <p:spPr>
          <a:xfrm>
            <a:off x="5635724" y="0"/>
            <a:ext cx="4732259" cy="6858000"/>
          </a:xfrm>
          <a:prstGeom prst="roundRect">
            <a:avLst>
              <a:gd name="adj" fmla="val 14725504"/>
            </a:avLst>
          </a:prstGeom>
          <a:solidFill>
            <a:srgbClr val="F2F2F2">
              <a:alpha val="100000"/>
            </a:srgbClr>
          </a:solidFill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3436373"/>
          </a:xfrm>
          <a:prstGeom prst="rect">
            <a:avLst/>
          </a:prstGeom>
          <a:gradFill rotWithShape="1">
            <a:gsLst>
              <a:gs pos="0">
                <a:srgbClr val="0460C7">
                  <a:alpha val="100000"/>
                </a:srgbClr>
              </a:gs>
              <a:gs pos="100000">
                <a:srgbClr val="034895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>
            <p:ph type="pic" sz="quarter" idx="6"/>
          </p:nvPr>
        </p:nvSpPr>
        <p:spPr>
          <a:xfrm>
            <a:off x="7030064" y="559769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317500" dist="152400" dir="2700000" algn="tl" rotWithShape="0">
              <a:srgbClr val="000000">
                <a:alpha val="24000"/>
              </a:srgbClr>
            </a:outerShdw>
          </a:effectLst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pic" sz="quarter" idx="7"/>
          </p:nvPr>
        </p:nvSpPr>
        <p:spPr>
          <a:xfrm>
            <a:off x="622006" y="3615026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317500" dist="152400" dir="2700000" algn="tl" rotWithShape="0">
              <a:srgbClr val="000000">
                <a:alpha val="24000"/>
              </a:srgbClr>
            </a:outerShdw>
          </a:effectLst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Freeform 1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90500" y="1360714"/>
            <a:ext cx="6408964" cy="4640036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Freeform 10"/>
          <p:cNvSpPr/>
          <p:nvPr/>
        </p:nvSpPr>
        <p:spPr>
          <a:xfrm rot="10800000">
            <a:off x="-4121880" y="1823357"/>
            <a:ext cx="8390917" cy="766246"/>
          </a:xfrm>
          <a:custGeom>
            <a:avLst/>
            <a:gdLst/>
            <a:ahLst/>
            <a:cxnLst/>
            <a:rect l="l" t="t" r="r" b="b"/>
            <a:pathLst>
              <a:path w="8390917" h="766246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rgbClr val="F0F0F0">
              <a:alpha val="6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 rot="2977103">
            <a:off x="8466446" y="2089651"/>
            <a:ext cx="3245258" cy="3776827"/>
          </a:xfrm>
          <a:prstGeom prst="parallelogram">
            <a:avLst>
              <a:gd name="adj" fmla="val 25000"/>
            </a:avLst>
          </a:prstGeom>
          <a:solidFill>
            <a:srgbClr val="0000B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2803763" y="2064282"/>
            <a:ext cx="9818733" cy="2317218"/>
          </a:xfrm>
          <a:custGeom>
            <a:avLst/>
            <a:gdLst/>
            <a:ahLst/>
            <a:cxnLst/>
            <a:rect l="l" t="t" r="r" b="b"/>
            <a:pathLst>
              <a:path w="9818733" h="2317218">
                <a:moveTo>
                  <a:pt x="1358028" y="0"/>
                </a:moveTo>
                <a:lnTo>
                  <a:pt x="9818733" y="0"/>
                </a:lnTo>
                <a:lnTo>
                  <a:pt x="9818733" y="2317218"/>
                </a:lnTo>
                <a:lnTo>
                  <a:pt x="0" y="2317218"/>
                </a:lnTo>
                <a:close/>
              </a:path>
            </a:pathLst>
          </a:cu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 rot="10800000" flipV="1">
            <a:off x="-4122005" y="4421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 rot="10800000">
            <a:off x="-2695316" y="5619146"/>
            <a:ext cx="6289317" cy="574331"/>
          </a:xfrm>
          <a:custGeom>
            <a:avLst/>
            <a:gdLst/>
            <a:ahLst/>
            <a:cxnLst/>
            <a:rect l="l" t="t" r="r" b="b"/>
            <a:pathLst>
              <a:path w="6289317" h="574331">
                <a:moveTo>
                  <a:pt x="6269961" y="0"/>
                </a:moveTo>
                <a:lnTo>
                  <a:pt x="6289317" y="0"/>
                </a:lnTo>
                <a:lnTo>
                  <a:pt x="6289317" y="574331"/>
                </a:lnTo>
                <a:lnTo>
                  <a:pt x="0" y="574331"/>
                </a:lnTo>
                <a:lnTo>
                  <a:pt x="251978" y="144379"/>
                </a:lnTo>
                <a:lnTo>
                  <a:pt x="6269961" y="144379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 rot="10800000">
            <a:off x="-383223" y="6193477"/>
            <a:ext cx="5180980" cy="473119"/>
          </a:xfrm>
          <a:custGeom>
            <a:avLst/>
            <a:gdLst/>
            <a:ahLst/>
            <a:cxnLst/>
            <a:rect l="l" t="t" r="r" b="b"/>
            <a:pathLst>
              <a:path w="5180980" h="473119">
                <a:moveTo>
                  <a:pt x="5165034" y="0"/>
                </a:moveTo>
                <a:lnTo>
                  <a:pt x="5180980" y="0"/>
                </a:lnTo>
                <a:lnTo>
                  <a:pt x="5180980" y="473119"/>
                </a:lnTo>
                <a:lnTo>
                  <a:pt x="0" y="473119"/>
                </a:lnTo>
                <a:lnTo>
                  <a:pt x="207574" y="118936"/>
                </a:lnTo>
                <a:lnTo>
                  <a:pt x="5165034" y="118936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 rot="-3659522">
            <a:off x="9248546" y="3449847"/>
            <a:ext cx="2824243" cy="4476772"/>
          </a:xfrm>
          <a:custGeom>
            <a:avLst/>
            <a:gdLst/>
            <a:ahLst/>
            <a:cxnLst/>
            <a:rect l="l" t="t" r="r" b="b"/>
            <a:pathLst>
              <a:path w="2824243" h="4476772">
                <a:moveTo>
                  <a:pt x="0" y="2594027"/>
                </a:moveTo>
                <a:lnTo>
                  <a:pt x="942392" y="0"/>
                </a:lnTo>
                <a:lnTo>
                  <a:pt x="2824243" y="4476772"/>
                </a:lnTo>
                <a:lnTo>
                  <a:pt x="0" y="2594027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530263" y="1342006"/>
            <a:ext cx="1131474" cy="48245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067064" y="1107039"/>
            <a:ext cx="606981" cy="25881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797757" y="6133027"/>
            <a:ext cx="4716356" cy="33855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6565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培训时间：第7周 10.17　主讲人：＿＿＿＿＿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4269037" y="2765633"/>
            <a:ext cx="8900796" cy="154781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5400" b="0" i="1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电控组第二讲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 rot="10800000" flipV="1">
            <a:off x="122464" y="544286"/>
            <a:ext cx="6939643" cy="3401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1" u="none" strike="noStrike" spc="11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『生无所息，斗无所止』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1408014" y="420402"/>
            <a:ext cx="5056505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关于时间安排: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994629" y="806806"/>
            <a:ext cx="3570339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00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08014" y="1109242"/>
            <a:ext cx="7645310" cy="487602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 rot="2380623">
            <a:off x="11528781" y="-382476"/>
            <a:ext cx="687161" cy="5225545"/>
          </a:xfrm>
          <a:custGeom>
            <a:avLst/>
            <a:gdLst/>
            <a:ahLst/>
            <a:cxnLst/>
            <a:rect l="l" t="t" r="r" b="b"/>
            <a:pathLst>
              <a:path w="687161" h="5225545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2380623">
            <a:off x="-511296" y="-1203550"/>
            <a:ext cx="2174008" cy="4424167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 rot="2380623">
            <a:off x="1452010" y="-2589138"/>
            <a:ext cx="981375" cy="8713877"/>
          </a:xfrm>
          <a:prstGeom prst="roundRect">
            <a:avLst>
              <a:gd name="adj" fmla="val 0"/>
            </a:avLst>
          </a:prstGeom>
          <a:solidFill>
            <a:srgbClr val="00A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 rot="8785094">
            <a:off x="-476482" y="-332819"/>
            <a:ext cx="808317" cy="3628428"/>
          </a:xfrm>
          <a:custGeom>
            <a:avLst/>
            <a:gdLst/>
            <a:ahLst/>
            <a:cxnLst/>
            <a:rect l="l" t="t" r="r" b="b"/>
            <a:pathLst>
              <a:path w="808317" h="3628428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65171" y="2821044"/>
            <a:ext cx="532402" cy="392937"/>
          </a:xfrm>
          <a:custGeom>
            <a:avLst/>
            <a:gdLst/>
            <a:ahLst/>
            <a:cxnLst/>
            <a:rect l="l" t="t" r="r" b="b"/>
            <a:pathLst>
              <a:path w="532402" h="392937">
                <a:moveTo>
                  <a:pt x="531894" y="392184"/>
                </a:moveTo>
                <a:lnTo>
                  <a:pt x="532402" y="392937"/>
                </a:lnTo>
                <a:lnTo>
                  <a:pt x="531273" y="392932"/>
                </a:lnTo>
                <a:close/>
                <a:moveTo>
                  <a:pt x="266823" y="0"/>
                </a:moveTo>
                <a:lnTo>
                  <a:pt x="527696" y="392916"/>
                </a:lnTo>
                <a:lnTo>
                  <a:pt x="0" y="390555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 rot="8785094">
            <a:off x="55920" y="-982343"/>
            <a:ext cx="808317" cy="3628428"/>
          </a:xfrm>
          <a:custGeom>
            <a:avLst/>
            <a:gdLst/>
            <a:ahLst/>
            <a:cxnLst/>
            <a:rect l="l" t="t" r="r" b="b"/>
            <a:pathLst>
              <a:path w="808317" h="3628428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 rot="2380623">
            <a:off x="1588692" y="1005717"/>
            <a:ext cx="687161" cy="5225545"/>
          </a:xfrm>
          <a:custGeom>
            <a:avLst/>
            <a:gdLst/>
            <a:ahLst/>
            <a:cxnLst/>
            <a:rect l="l" t="t" r="r" b="b"/>
            <a:pathLst>
              <a:path w="687161" h="5225545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996097" y="2113157"/>
            <a:ext cx="1203960" cy="70675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460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30470" y="2906310"/>
            <a:ext cx="683260" cy="68326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5906299" y="2944410"/>
            <a:ext cx="5301615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blurRad="12700" dist="38100" dir="27000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循环语句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24755" y="3948762"/>
            <a:ext cx="683260" cy="68326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5883275" y="3938602"/>
            <a:ext cx="5301615" cy="6463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blurRad="12700" dist="38100" dir="27000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函数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013325" y="1856626"/>
            <a:ext cx="683260" cy="68326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5883275" y="1894726"/>
            <a:ext cx="5741166" cy="6463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0" i="1" u="none" strike="noStrike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blurRad="12700" dist="38100" dir="2700000" algn="tl">
                    <a:srgbClr val="1414FF">
                      <a:alpha val="1000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程序流程与分支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013325" y="5001374"/>
            <a:ext cx="683260" cy="68326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5871845" y="4991214"/>
            <a:ext cx="6223000" cy="6463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blurRad="12700" dist="38100" dir="27000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数组、字符串、结构体与指针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76893" y="1002574"/>
            <a:ext cx="6354536" cy="459921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Freeform 10"/>
          <p:cNvSpPr/>
          <p:nvPr/>
        </p:nvSpPr>
        <p:spPr>
          <a:xfrm rot="-7617807" flipV="1">
            <a:off x="6011572" y="-3138352"/>
            <a:ext cx="2098521" cy="10814693"/>
          </a:xfrm>
          <a:custGeom>
            <a:avLst/>
            <a:gdLst/>
            <a:ahLst/>
            <a:cxnLst/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 rot="3805419">
            <a:off x="6757538" y="2864877"/>
            <a:ext cx="646538" cy="1118147"/>
          </a:xfrm>
          <a:custGeom>
            <a:avLst/>
            <a:gdLst/>
            <a:ahLst/>
            <a:cxnLst/>
            <a:rect l="l" t="t" r="r" b="b"/>
            <a:pathLst>
              <a:path w="646538" h="1118147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 rot="3239350">
            <a:off x="3210408" y="3964146"/>
            <a:ext cx="4303213" cy="5920511"/>
          </a:xfrm>
          <a:custGeom>
            <a:avLst/>
            <a:gdLst/>
            <a:ahLst/>
            <a:cxnLst/>
            <a:rect l="l" t="t" r="r" b="b"/>
            <a:pathLst>
              <a:path w="4303213" h="5920511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 rot="-7617807" flipV="1">
            <a:off x="10929458" y="1005823"/>
            <a:ext cx="1025939" cy="5287159"/>
          </a:xfrm>
          <a:custGeom>
            <a:avLst/>
            <a:gdLst/>
            <a:ahLst/>
            <a:cxnLst/>
            <a:rect l="l" t="t" r="r" b="b"/>
            <a:pathLst>
              <a:path w="1025939" h="528715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 rot="10800000" flipV="1">
            <a:off x="-4825040" y="53316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 rot="10800000" flipV="1">
            <a:off x="-4122005" y="4421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 rot="10800000" flipV="1">
            <a:off x="122464" y="544286"/>
            <a:ext cx="6939643" cy="3401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1" u="none" strike="noStrike" spc="11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『生无所息，斗无所止』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 rot="-2264654">
            <a:off x="4168351" y="1430526"/>
            <a:ext cx="6009640" cy="24622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程序流程与分支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一条直线写不出会判断、要重复的活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2"/>
            </p:custDataLst>
          </p:nvPr>
        </p:nvSpPr>
        <p:spPr>
          <a:xfrm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endParaRPr lang="en-US" sz="1100"/>
          </a:p>
        </p:txBody>
      </p:sp>
      <p:sp>
        <p:nvSpPr>
          <p:cNvPr id="14" name="AutoShape 14"/>
          <p:cNvSpPr txBox="1"/>
          <p:nvPr>
            <p:custDataLst>
              <p:tags r:id="rId3"/>
            </p:custDataLst>
          </p:nvPr>
        </p:nvSpPr>
        <p:spPr>
          <a:xfrm>
            <a:off x="1148334" y="1574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问题：重复的代码只能靠手抄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要让一个 LED 闪十次，按顺序写就得抄十遍。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4"/>
            </p:custDataLst>
          </p:nvPr>
        </p:nvSpPr>
        <p:spPr>
          <a:xfrm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endParaRPr lang="en-US" sz="1100"/>
          </a:p>
        </p:txBody>
      </p:sp>
      <p:sp>
        <p:nvSpPr>
          <p:cNvPr id="16" name="AutoShape 16"/>
          <p:cNvSpPr txBox="1"/>
          <p:nvPr>
            <p:custDataLst>
              <p:tags r:id="rId5"/>
            </p:custDataLst>
          </p:nvPr>
        </p:nvSpPr>
        <p:spPr>
          <a:xfrm>
            <a:off x="1148334" y="2463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分支：条件不同，走不同的路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引脚读到低电平，才去消抖并把状态翻过来。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6"/>
            </p:custDataLst>
          </p:nvPr>
        </p:nvSpPr>
        <p:spPr>
          <a:xfrm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endParaRPr lang="en-US" sz="1100"/>
          </a:p>
        </p:txBody>
      </p:sp>
      <p:sp>
        <p:nvSpPr>
          <p:cNvPr id="18" name="AutoShape 18"/>
          <p:cNvSpPr txBox="1"/>
          <p:nvPr>
            <p:custDataLst>
              <p:tags r:id="rId7"/>
            </p:custDataLst>
          </p:nvPr>
        </p:nvSpPr>
        <p:spPr>
          <a:xfrm>
            <a:off x="1148334" y="3352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循环：同一段代码重复执行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重复到条件不成立为止，闪灯、扫描、遍历都靠它。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8"/>
            </p:custDataLst>
          </p:nvPr>
        </p:nvSpPr>
        <p:spPr>
          <a:xfrm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>
            <p:custDataLst>
              <p:tags r:id="rId9"/>
            </p:custDataLst>
          </p:nvPr>
        </p:nvSpPr>
        <p:spPr>
          <a:xfrm>
            <a:off x="6629400" y="1574800"/>
            <a:ext cx="4495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顺序：一条直线 */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 = 3; b = 4; c = a + b;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21" name="AutoShape 21"/>
          <p:cNvSpPr txBox="1"/>
          <p:nvPr>
            <p:custDataLst>
              <p:tags r:id="rId10"/>
            </p:custDataLst>
          </p:nvPr>
        </p:nvSpPr>
        <p:spPr>
          <a:xfrm>
            <a:off x="6629400" y="2463800"/>
            <a:ext cx="4495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分支：满足条件才走 */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(a &gt; b) c = a;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22" name="AutoShape 22"/>
          <p:cNvSpPr txBox="1"/>
          <p:nvPr>
            <p:custDataLst>
              <p:tags r:id="rId11"/>
            </p:custDataLst>
          </p:nvPr>
        </p:nvSpPr>
        <p:spPr>
          <a:xfrm>
            <a:off x="6629400" y="3352800"/>
            <a:ext cx="4495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循环：重复到条件不成立 */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(i = 0; i &lt; 3; i++) c = c + i;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程序怎么判断一件事成不成立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148334" y="1574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条件真假：0 为假，其他都为真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 判断的是「括号里表达式的值是不是 0」。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148334" y="2463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else if 梯：命中一个就停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从上往下依次判断，第一个成立的执行完就结束。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148334" y="3352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一条语句也别省大括号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省掉以后补一行，逻辑就悄悄变了，统一写上。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6629400" y="1524000"/>
            <a:ext cx="4495800" cy="284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条件真假：0 为假，非 0 为真 */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(flag) { ... } /* flag != 0 */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(!flag) { ... } /* flag == 0 */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else if 梯：命中一个就跳出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(score &gt;= 90) grade =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'A'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else if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(score &gt;= 60) grade =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'P'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else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grade =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'F'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选项变多以后，if 链就该让位了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148334" y="1574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switch 只认整数和字符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case 后面必须是常量，不能写区间、不能比字符串。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148334" y="2463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break 是每个分支的出口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忘了写就会穿透，接着执行下面那个 case。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148334" y="3352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default 兜住没命中的情况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命令解析里，它就是「不认识这条命令」那一路。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6629400" y="1524000"/>
            <a:ext cx="4495800" cy="284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switch：按值选一条路走 */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switch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(cmd) {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case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'A'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LED_ON(); 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break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case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'B'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LED_OFF(); 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break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default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break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忘了 break：会一路穿透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case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'A'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LED_ON();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case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'B'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LED_OFF();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发 A 也关灯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for 把重复次数直接写在了条件里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148334" y="1574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三段式的分工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初始化只做一次；判断不成立就退出；更新在每轮之后。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148334" y="2463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最适合「次数已知」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闪十次、取数组前 n 个，写成 for 一眼看出次数。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148334" y="3352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循环变量只在循环里活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for 里定义 i，出了循环就不能再引用它。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6629400" y="1524000"/>
            <a:ext cx="4495800" cy="284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三段式：初始化 ; 判断 ; 更新 */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 = 0; i &lt; 5; i++) {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LED_Toggle();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Delay(200);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实际执行顺序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初始化 → 判断 → 循环体 → 更新 → 回判断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i 取 0,1,2,3,4 时成立，循环体共 5 次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三种循环的差别只在「什么时候判断」</a:t>
            </a:r>
            <a:endParaRPr lang="en-US" sz="110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792734" y="1422400"/>
          <a:ext cx="10515600" cy="3098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98600"/>
                <a:gridCol w="2108200"/>
                <a:gridCol w="4521200"/>
                <a:gridCol w="2387600"/>
              </a:tblGrid>
              <a:tr h="5080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循环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判断时机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适合的场景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至少跑一次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</a:tr>
              <a:tr h="863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3489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for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每轮开始之前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次数已知：闪十次、取数组前 n 个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否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63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3489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while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每轮开始之前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次数未知、靠条件停：等待按键按下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否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63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3489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do-while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每轮结束之后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必须先做一次再判断：菜单至少显示一次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AutoShape 14"/>
          <p:cNvSpPr txBox="1"/>
          <p:nvPr/>
        </p:nvSpPr>
        <p:spPr>
          <a:xfrm>
            <a:off x="792734" y="4572000"/>
            <a:ext cx="7874000" cy="279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语法</a:t>
            </a:r>
            <a:r>
              <a:rPr lang="en-US" sz="1400" b="0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for (初始化; 判断; 更新)　｜　while (判断)　｜　do { 循环体 } while (判断)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76893" y="1002574"/>
            <a:ext cx="6354536" cy="459921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Freeform 10"/>
          <p:cNvSpPr/>
          <p:nvPr/>
        </p:nvSpPr>
        <p:spPr>
          <a:xfrm rot="-7617807" flipV="1">
            <a:off x="6011572" y="-3138352"/>
            <a:ext cx="2098521" cy="10814693"/>
          </a:xfrm>
          <a:custGeom>
            <a:avLst/>
            <a:gdLst/>
            <a:ahLst/>
            <a:cxnLst/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 rot="3805419">
            <a:off x="6757538" y="2864877"/>
            <a:ext cx="646538" cy="1118147"/>
          </a:xfrm>
          <a:custGeom>
            <a:avLst/>
            <a:gdLst/>
            <a:ahLst/>
            <a:cxnLst/>
            <a:rect l="l" t="t" r="r" b="b"/>
            <a:pathLst>
              <a:path w="646538" h="1118147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 rot="3239350">
            <a:off x="3210408" y="3964146"/>
            <a:ext cx="4303213" cy="5920511"/>
          </a:xfrm>
          <a:custGeom>
            <a:avLst/>
            <a:gdLst/>
            <a:ahLst/>
            <a:cxnLst/>
            <a:rect l="l" t="t" r="r" b="b"/>
            <a:pathLst>
              <a:path w="4303213" h="5920511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 rot="-7617807" flipV="1">
            <a:off x="10929458" y="1005823"/>
            <a:ext cx="1025939" cy="5287159"/>
          </a:xfrm>
          <a:custGeom>
            <a:avLst/>
            <a:gdLst/>
            <a:ahLst/>
            <a:cxnLst/>
            <a:rect l="l" t="t" r="r" b="b"/>
            <a:pathLst>
              <a:path w="1025939" h="528715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 rot="10800000" flipV="1">
            <a:off x="-4825040" y="53316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 rot="10800000" flipV="1">
            <a:off x="-4122005" y="4421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 rot="10800000" flipV="1">
            <a:off x="122464" y="544286"/>
            <a:ext cx="6939643" cy="3401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1" u="none" strike="noStrike" spc="11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『生无所息，斗无所止』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 rot="-2264654">
            <a:off x="4168351" y="1430526"/>
            <a:ext cx="6009640" cy="24622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循环语句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break 跳出整个循环，continue 只跳过这一轮</a:t>
            </a:r>
            <a:endParaRPr lang="en-US" sz="110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792734" y="1422400"/>
          <a:ext cx="10515600" cy="2387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3454400"/>
                <a:gridCol w="3759200"/>
                <a:gridCol w="2032000"/>
              </a:tblGrid>
              <a:tr h="5080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写法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做了什么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用在哪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别搞混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</a:tr>
              <a:tr h="9398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34895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break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立刻跳出整个循环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找到目标值就提前收工，不再往下找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双层循环只跳一层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398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34895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continue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跳过本轮剩下的语句，进入下一轮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过滤掉不满足条件的项，继续处理后面的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它不结束循环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AutoShape 14"/>
          <p:cNvSpPr/>
          <p:nvPr/>
        </p:nvSpPr>
        <p:spPr>
          <a:xfrm>
            <a:off x="792734" y="3962400"/>
            <a:ext cx="10515600" cy="787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945134" y="4013200"/>
            <a:ext cx="102108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死循环三因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循环变量忘了更新 · 判断条件永远为真 · 循环体里改掉了判断用的变量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76893" y="1002574"/>
            <a:ext cx="6354536" cy="459921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Freeform 10"/>
          <p:cNvSpPr/>
          <p:nvPr/>
        </p:nvSpPr>
        <p:spPr>
          <a:xfrm rot="-7617807" flipV="1">
            <a:off x="6011572" y="-3138352"/>
            <a:ext cx="2098521" cy="10814693"/>
          </a:xfrm>
          <a:custGeom>
            <a:avLst/>
            <a:gdLst/>
            <a:ahLst/>
            <a:cxnLst/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 rot="3805419">
            <a:off x="6757538" y="2864877"/>
            <a:ext cx="646538" cy="1118147"/>
          </a:xfrm>
          <a:custGeom>
            <a:avLst/>
            <a:gdLst/>
            <a:ahLst/>
            <a:cxnLst/>
            <a:rect l="l" t="t" r="r" b="b"/>
            <a:pathLst>
              <a:path w="646538" h="1118147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 rot="3239350">
            <a:off x="3210408" y="3964146"/>
            <a:ext cx="4303213" cy="5920511"/>
          </a:xfrm>
          <a:custGeom>
            <a:avLst/>
            <a:gdLst/>
            <a:ahLst/>
            <a:cxnLst/>
            <a:rect l="l" t="t" r="r" b="b"/>
            <a:pathLst>
              <a:path w="4303213" h="5920511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 rot="-7617807" flipV="1">
            <a:off x="10929458" y="1005823"/>
            <a:ext cx="1025939" cy="5287159"/>
          </a:xfrm>
          <a:custGeom>
            <a:avLst/>
            <a:gdLst/>
            <a:ahLst/>
            <a:cxnLst/>
            <a:rect l="l" t="t" r="r" b="b"/>
            <a:pathLst>
              <a:path w="1025939" h="528715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 rot="10800000" flipV="1">
            <a:off x="-4825040" y="53316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 rot="10800000" flipV="1">
            <a:off x="-4122005" y="4421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 rot="10800000" flipV="1">
            <a:off x="122464" y="544286"/>
            <a:ext cx="6939643" cy="3401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1" u="none" strike="noStrike" spc="11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『生无所息，斗无所止』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 rot="-2264654">
            <a:off x="4168351" y="1430526"/>
            <a:ext cx="6009640" cy="24622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函数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把重复的活切出来，给它起个名字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148334" y="1574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 = 输入 + 处理 + 返回值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名字要说明它干什么，Add 比 f1 有用得多。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148334" y="2463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定义和声明是两件事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声明先告诉编译器「有这个函数」，定义才写实现。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148334" y="3352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返回值只能带回一个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要一次带回多个结果，得靠指针，下一页讲。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6629400" y="1524000"/>
            <a:ext cx="4495800" cy="284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定义：返回类型 函数名(参数表) */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6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Add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a, 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b) {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 + b;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交给调用者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调用：传实参，接返回值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s = </a:t>
            </a:r>
            <a:r>
              <a:rPr lang="en-US" sz="16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Add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(3, 5);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s = 8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t = </a:t>
            </a:r>
            <a:r>
              <a:rPr lang="en-US" sz="16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Add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(s, 10);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结果还能再用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传进函数的，是一份复印件还是原文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148334" y="1574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值传递只改副本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函数里怎么改形参，外面的实参都不会动。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148334" y="2463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指针传递传的是地址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想改外面，就传地址，函数里用 * 解引用改它。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148334" y="3352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数组是那个例外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数组名传参就退化成指针，函数里改外面会跟着变。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6629400" y="1524000"/>
            <a:ext cx="4495800" cy="284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值传递：拿到的是副本 */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6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badSwap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x, 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y) {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t = x; x = y; y = t;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白换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指针传递：传地址，改原变量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6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swap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*x, 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*y) {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t = *x; *x = *y; *y = t;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badSwap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(a, b);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a=1 b=2 没换成功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swap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(&amp;a, &amp;b);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a=2 b=1 换成了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变量在哪里出生，能活多久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148334" y="1574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局部变量出了大括号就没了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在哪个大括号里定义，就只能在那里用。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148334" y="2463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全局变量哪里都能碰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传状态很方便，但也哪里都能被改错，慎用。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148334" y="3352800"/>
            <a:ext cx="510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0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static 让它活得久一点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函数里的 static 只初始化一次，退出函数值还在。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6629400" y="1524000"/>
            <a:ext cx="4495800" cy="284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g_cnt;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全局：都能用 */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6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{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static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n = 0;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只初始化一次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n++;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退出也不销毁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tmp = n;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局部：出函数就没了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printf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"n = %d\n"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n);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tmp 出了函数就不能再用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76893" y="1002574"/>
            <a:ext cx="6354536" cy="459921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Freeform 10"/>
          <p:cNvSpPr/>
          <p:nvPr/>
        </p:nvSpPr>
        <p:spPr>
          <a:xfrm rot="-7617807" flipV="1">
            <a:off x="6011572" y="-3138352"/>
            <a:ext cx="2098521" cy="10814693"/>
          </a:xfrm>
          <a:custGeom>
            <a:avLst/>
            <a:gdLst/>
            <a:ahLst/>
            <a:cxnLst/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 rot="3805419">
            <a:off x="6757538" y="2864877"/>
            <a:ext cx="646538" cy="1118147"/>
          </a:xfrm>
          <a:custGeom>
            <a:avLst/>
            <a:gdLst/>
            <a:ahLst/>
            <a:cxnLst/>
            <a:rect l="l" t="t" r="r" b="b"/>
            <a:pathLst>
              <a:path w="646538" h="1118147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 rot="3239350">
            <a:off x="3210408" y="3964146"/>
            <a:ext cx="4303213" cy="5920511"/>
          </a:xfrm>
          <a:custGeom>
            <a:avLst/>
            <a:gdLst/>
            <a:ahLst/>
            <a:cxnLst/>
            <a:rect l="l" t="t" r="r" b="b"/>
            <a:pathLst>
              <a:path w="4303213" h="5920511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 rot="-7617807" flipV="1">
            <a:off x="10929458" y="1005823"/>
            <a:ext cx="1025939" cy="5287159"/>
          </a:xfrm>
          <a:custGeom>
            <a:avLst/>
            <a:gdLst/>
            <a:ahLst/>
            <a:cxnLst/>
            <a:rect l="l" t="t" r="r" b="b"/>
            <a:pathLst>
              <a:path w="1025939" h="528715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 rot="10800000" flipV="1">
            <a:off x="-4825040" y="53316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 rot="10800000" flipV="1">
            <a:off x="-4122005" y="4421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 rot="10800000" flipV="1">
            <a:off x="122464" y="544286"/>
            <a:ext cx="6939643" cy="3401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1" u="none" strike="noStrike" spc="11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『生无所息，斗无所止』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 rot="-2264654">
            <a:off x="4168351" y="1430526"/>
            <a:ext cx="6009640" cy="24622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数组、字符串、结构体与指针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一组同类型的数据，用一个名字装起来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6534" y="12700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792734" y="12700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625600" y="1270000"/>
            <a:ext cx="955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 = 一排同类型的格子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一次能装一组数，比如连续采 8 个电压值，就开 8 个格子。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16534" y="19812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792734" y="19812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625600" y="1981200"/>
            <a:ext cx="955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下标从 0 开始，到 n-1 结束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1 个元素是 adc[0]，第 8 个是 adc[7]，没有 adc[8]。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16534" y="26924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792734" y="26924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625600" y="2692400"/>
            <a:ext cx="955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越界不报错，但会改坏内存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这是最难查的一类 bug；元素个数用 sizeof 算，别用手数。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92734" y="3454400"/>
            <a:ext cx="10383266" cy="1422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792734" y="3505200"/>
            <a:ext cx="10383266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" tIns="12700" rIns="1270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adc[8];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8 个 int，连续排在内存里 */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adc[0] =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100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第 1 个：下标从 0 起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adc[7] =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200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第 8 个：最后一个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adc[8] =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300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越界！不报错，但改坏了别人的内存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字符串的尾巴上藏着一个 '\0'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6534" y="12700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792734" y="12700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625600" y="1270000"/>
            <a:ext cx="955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字符串 = char 数组 + 结尾的 '\0'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"AIR" 一共占 4 个字节：'A'、'I'、'R' 和收尾的 '\0'。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16534" y="19812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792734" y="19812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625600" y="1981200"/>
            <a:ext cx="955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strlen 一路数到 '\0' 为止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返回的是可见字符个数，不算结尾那个 '\0'。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16534" y="26924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792734" y="26924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625600" y="2692400"/>
            <a:ext cx="955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sizeof 量的是整个数组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char buf[16] 的 sizeof 永远是 16，哪怕只装了 3 个字。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92734" y="3454400"/>
            <a:ext cx="10383266" cy="1422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792734" y="3505200"/>
            <a:ext cx="10383266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" tIns="12700" rIns="1270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char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name[16] =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"AIR"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3 个字符 + 结尾 '\0' */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strlen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(name) -&gt;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3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数到 '\0' 为止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sizeof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(name) -&gt;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16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数组多大就多大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char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*p =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"AIR"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指针指向常量区，不能改 p[0]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把一堆相关的数据捆成一个整体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6534" y="12700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792734" y="12700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625600" y="1270000"/>
            <a:ext cx="955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结构体 = 自己定义的数据类型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 year、month、day 打包成 Date，之后就能像 int 一样用它。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16534" y="19812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792734" y="19812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625600" y="1981200"/>
            <a:ext cx="955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变量用点，指针用箭头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d.month 是变量访问；p-&gt;month 等价于 (*p).month。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16534" y="26924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792734" y="26924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625600" y="2692400"/>
            <a:ext cx="955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它经常和数组一起出现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Battery pack[4] 就是 4 组电池的数据，一行装一类信息。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92734" y="3454400"/>
            <a:ext cx="10383266" cy="1422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792734" y="3505200"/>
            <a:ext cx="10383266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" tIns="12700" rIns="1270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typedef struct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{ 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y; 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m; 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d; } Date;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定义新类型 */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Date d = {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2026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10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17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};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定义变量并初始化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d.m =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12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用点取成员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Date *p = &amp;d; p-&gt;y =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2027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指针用箭头取成员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指针就是一个装地址的变量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6534" y="12700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792734" y="12700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625600" y="1270000"/>
            <a:ext cx="955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指针里装的是地址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*p = &amp;a; 里，p 装的是 a 的内存位置，不是 10。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16534" y="19812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792734" y="19812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625600" y="1981200"/>
            <a:ext cx="955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&amp; 取地址，* 去取东西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 的意思是「到 p 指的那个地址去」，可以读，也可以写。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16534" y="26924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792734" y="26924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625600" y="2692400"/>
            <a:ext cx="955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指针的类型决定走多大一步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* 走一步 4 字节，char * 走一步 1 字节；数组名就是首元素地址。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92734" y="3454400"/>
            <a:ext cx="10383266" cy="1422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792734" y="3505200"/>
            <a:ext cx="10383266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" tIns="12700" rIns="1270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 =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10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*p = &amp;a;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p 里装的是 a 的地址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 =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20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解引用：改的就是 a 本身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*q = arr;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数组名 arr 就是首元素地址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想让函数把结果带出来，就传地址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133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792734" y="15748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需求：一次换掉两个变量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return 只能带回一个值，两个都换就得靠指针写回去。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133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792734" y="24638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值传递版本为什么白换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形参 x、y 是副本，函数里换的是副本，外面 a、b 没动。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133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792734" y="33528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8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指针版本就三步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存一份副本、写过去、写回来，交换就完成了。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6629400" y="1524000"/>
            <a:ext cx="4495800" cy="284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指针版 swap：真的能换 */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6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swap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*x, </a:t>
            </a: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*y) {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t = *x;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存一份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x = *y;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写过去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y = t;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写回来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1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 =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b = </a:t>
            </a:r>
            <a:r>
              <a:rPr lang="en-US" sz="1600" b="0" i="0" u="none" strike="noStrike">
                <a:solidFill>
                  <a:srgbClr val="0460C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2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1600" b="0" i="0" u="none" strike="noStrike">
              <a:solidFill>
                <a:srgbClr val="1F23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600" b="0" i="0" u="none" strike="noStrike">
                <a:solidFill>
                  <a:srgbClr val="8C46B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swap</a:t>
            </a:r>
            <a:r>
              <a:rPr lang="en-US" sz="16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(&amp;a, &amp;b); </a:t>
            </a:r>
            <a:r>
              <a:rPr lang="en-US" sz="1600" b="0" i="0" u="none" strike="noStrike">
                <a:solidFill>
                  <a:srgbClr val="56565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/* a=2 b=1 */</a:t>
            </a:r>
            <a:endParaRPr lang="en-US" sz="1600" b="0" i="0" u="none" strike="noStrike">
              <a:solidFill>
                <a:srgbClr val="56565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课后作业 2：四道题，动手写才有用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6534" y="14986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792734" y="14986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574800" y="1498600"/>
            <a:ext cx="96266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计算日期是当年的第几天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定义一个结构体 Date，包含年、月、日三个成员。输入一个日期，编程计算该日期是该年中的第几天。提示：考虑闰年情况。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16534" y="23622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792734" y="23622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574800" y="2362200"/>
            <a:ext cx="96266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交换两个变量的值（使用指针）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编写一个函数 swap(int *x, int *y)，使用指针交换两个整数的值，并在主函数中测试。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16534" y="32258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792734" y="32258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574800" y="3225800"/>
            <a:ext cx="96266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求数组元素平均值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先输入需要输入整数的个数 n，再输入 n 个整数（用数组存储），计算并输出这些数的平均值（保留两位小数）。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16534" y="40894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792734" y="40894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574800" y="4089400"/>
            <a:ext cx="96266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函数指针调用演示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编写一个函数 int add(int a, int b) 返回两数之和，在主函数中使用函数指针调用该函数并输出结果。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1000932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8557107" y="548565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8339" y="548564"/>
            <a:ext cx="560678" cy="56067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8961317" y="691994"/>
            <a:ext cx="6962834" cy="2738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1" u="none" strike="noStrike" spc="11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哈理工A.I.R.创新实验室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22340" y="200268"/>
            <a:ext cx="850218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08014" y="420402"/>
            <a:ext cx="711200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交作业之前，先过一遍这五条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6534" y="14986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792734" y="14986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574800" y="1498600"/>
            <a:ext cx="9626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注释统一用 UTF-8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Keil / VSCode 里确认编码设置，中文注释乱码会直接扣分。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16534" y="22860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792734" y="22860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574800" y="2286000"/>
            <a:ext cx="9626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代码能编译、能跑出结果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提交前自己跑一遍，别把编译不过的代码交上来。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16534" y="30734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792734" y="30734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574800" y="3073400"/>
            <a:ext cx="9626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一个压缩包装齐材料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演示视频、代码和其他材料放在同一个压缩包里。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16534" y="38608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792734" y="38608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574800" y="3860800"/>
            <a:ext cx="9626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命名按「班级+姓名+第几次任务」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例如：电气26-5班+李华+第一次任务.zip；以附件形式发送到指定邮箱，邮件主题同名。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16534" y="46482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 txBox="1"/>
          <p:nvPr/>
        </p:nvSpPr>
        <p:spPr>
          <a:xfrm>
            <a:off x="792734" y="46482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1" u="none" strike="noStrike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05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1574800" y="4648200"/>
            <a:ext cx="9626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12700" bIns="127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348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不强制每周交，但考核前必须交齐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转入梯队考核上传结束时间前完成全部上传，逾期不再补收。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 rot="8516724">
            <a:off x="362826" y="-39565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-268369">
            <a:off x="554150" y="863907"/>
            <a:ext cx="154283" cy="113868"/>
          </a:xfrm>
          <a:custGeom>
            <a:avLst/>
            <a:gdLst/>
            <a:ahLst/>
            <a:cxnLst/>
            <a:rect l="l" t="t" r="r" b="b"/>
            <a:pathLst>
              <a:path w="154283" h="113868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 rot="8516724">
            <a:off x="501961" y="-239247"/>
            <a:ext cx="234240" cy="1051474"/>
          </a:xfrm>
          <a:custGeom>
            <a:avLst/>
            <a:gdLst/>
            <a:ahLst/>
            <a:cxnLst/>
            <a:rect l="l" t="t" r="r" b="b"/>
            <a:pathLst>
              <a:path w="234240" h="1051474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 rot="-5400000" flipV="1">
            <a:off x="10553720" y="5219720"/>
            <a:ext cx="1792479" cy="1484081"/>
          </a:xfrm>
          <a:custGeom>
            <a:avLst/>
            <a:gdLst/>
            <a:ahLst/>
            <a:cxnLst/>
            <a:rect l="l" t="t" r="r" b="b"/>
            <a:pathLst>
              <a:path w="1792479" h="1484081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 rot="-8474539" flipV="1">
            <a:off x="11302288" y="3064740"/>
            <a:ext cx="800384" cy="2560872"/>
          </a:xfrm>
          <a:custGeom>
            <a:avLst/>
            <a:gdLst/>
            <a:ahLst/>
            <a:cxnLst/>
            <a:rect l="l" t="t" r="r" b="b"/>
            <a:pathLst>
              <a:path w="800384" h="2560872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11488" y="1002574"/>
            <a:ext cx="6354536" cy="459921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Freeform 10"/>
          <p:cNvSpPr/>
          <p:nvPr/>
        </p:nvSpPr>
        <p:spPr>
          <a:xfrm rot="-7617807" flipV="1">
            <a:off x="6011572" y="-3138352"/>
            <a:ext cx="2098521" cy="10814693"/>
          </a:xfrm>
          <a:custGeom>
            <a:avLst/>
            <a:gdLst/>
            <a:ahLst/>
            <a:cxnLst/>
            <a:rect l="l" t="t" r="r" b="b"/>
            <a:pathLst>
              <a:path w="2098521" h="10814693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 rot="3805419">
            <a:off x="6757538" y="2864877"/>
            <a:ext cx="646538" cy="1118147"/>
          </a:xfrm>
          <a:custGeom>
            <a:avLst/>
            <a:gdLst/>
            <a:ahLst/>
            <a:cxnLst/>
            <a:rect l="l" t="t" r="r" b="b"/>
            <a:pathLst>
              <a:path w="646538" h="1118147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 rot="3239350">
            <a:off x="3210408" y="3964146"/>
            <a:ext cx="4303213" cy="5920511"/>
          </a:xfrm>
          <a:custGeom>
            <a:avLst/>
            <a:gdLst/>
            <a:ahLst/>
            <a:cxnLst/>
            <a:rect l="l" t="t" r="r" b="b"/>
            <a:pathLst>
              <a:path w="4303213" h="5920511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 rot="-7617807" flipV="1">
            <a:off x="10929458" y="1005823"/>
            <a:ext cx="1025939" cy="5287159"/>
          </a:xfrm>
          <a:custGeom>
            <a:avLst/>
            <a:gdLst/>
            <a:ahLst/>
            <a:cxnLst/>
            <a:rect l="l" t="t" r="r" b="b"/>
            <a:pathLst>
              <a:path w="1025939" h="528715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 rot="10800000" flipV="1">
            <a:off x="-4825040" y="53316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 rot="10800000" flipV="1">
            <a:off x="-4122005" y="442190"/>
            <a:ext cx="7940760" cy="560678"/>
          </a:xfrm>
          <a:custGeom>
            <a:avLst/>
            <a:gdLst/>
            <a:ahLst/>
            <a:cxnLst/>
            <a:rect l="l" t="t" r="r" b="b"/>
            <a:pathLst>
              <a:path w="7940760" h="560678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 rot="10800000" flipV="1">
            <a:off x="122464" y="544286"/>
            <a:ext cx="6939643" cy="3401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1" u="none" strike="noStrike" spc="11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『生无所息，斗无所止』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 rot="-2264654">
            <a:off x="4859935" y="1322839"/>
            <a:ext cx="5038663" cy="7683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400" b="1" i="1" u="none" strike="noStrike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下课啦！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0,&quot;left&quot;:62.42,&quot;top&quot;:112,&quot;width&quot;:825.5799999999999}"/>
</p:tagLst>
</file>

<file path=ppt/tags/tag2.xml><?xml version="1.0" encoding="utf-8"?>
<p:tagLst xmlns:p="http://schemas.openxmlformats.org/presentationml/2006/main">
  <p:tag name="KSO_WM_DIAGRAM_VIRTUALLY_FRAME" val="{&quot;height&quot;:230,&quot;left&quot;:62.42,&quot;top&quot;:112,&quot;width&quot;:825.5799999999999}"/>
</p:tagLst>
</file>

<file path=ppt/tags/tag3.xml><?xml version="1.0" encoding="utf-8"?>
<p:tagLst xmlns:p="http://schemas.openxmlformats.org/presentationml/2006/main">
  <p:tag name="KSO_WM_DIAGRAM_VIRTUALLY_FRAME" val="{&quot;height&quot;:230,&quot;left&quot;:62.42,&quot;top&quot;:112,&quot;width&quot;:825.5799999999999}"/>
</p:tagLst>
</file>

<file path=ppt/tags/tag4.xml><?xml version="1.0" encoding="utf-8"?>
<p:tagLst xmlns:p="http://schemas.openxmlformats.org/presentationml/2006/main">
  <p:tag name="KSO_WM_DIAGRAM_VIRTUALLY_FRAME" val="{&quot;height&quot;:230,&quot;left&quot;:62.42,&quot;top&quot;:112,&quot;width&quot;:825.5799999999999}"/>
</p:tagLst>
</file>

<file path=ppt/tags/tag5.xml><?xml version="1.0" encoding="utf-8"?>
<p:tagLst xmlns:p="http://schemas.openxmlformats.org/presentationml/2006/main">
  <p:tag name="KSO_WM_DIAGRAM_VIRTUALLY_FRAME" val="{&quot;height&quot;:230,&quot;left&quot;:62.42,&quot;top&quot;:112,&quot;width&quot;:825.5799999999999}"/>
</p:tagLst>
</file>

<file path=ppt/tags/tag6.xml><?xml version="1.0" encoding="utf-8"?>
<p:tagLst xmlns:p="http://schemas.openxmlformats.org/presentationml/2006/main">
  <p:tag name="KSO_WM_DIAGRAM_VIRTUALLY_FRAME" val="{&quot;height&quot;:230,&quot;left&quot;:62.42,&quot;top&quot;:112,&quot;width&quot;:825.5799999999999}"/>
</p:tagLst>
</file>

<file path=ppt/tags/tag7.xml><?xml version="1.0" encoding="utf-8"?>
<p:tagLst xmlns:p="http://schemas.openxmlformats.org/presentationml/2006/main">
  <p:tag name="KSO_WM_DIAGRAM_VIRTUALLY_FRAME" val="{&quot;height&quot;:230,&quot;left&quot;:62.42,&quot;top&quot;:112,&quot;width&quot;:825.5799999999999}"/>
</p:tagLst>
</file>

<file path=ppt/tags/tag8.xml><?xml version="1.0" encoding="utf-8"?>
<p:tagLst xmlns:p="http://schemas.openxmlformats.org/presentationml/2006/main">
  <p:tag name="KSO_WM_DIAGRAM_VIRTUALLY_FRAME" val="{&quot;height&quot;:230,&quot;left&quot;:62.42,&quot;top&quot;:112,&quot;width&quot;:825.5799999999999}"/>
</p:tagLst>
</file>

<file path=ppt/tags/tag9.xml><?xml version="1.0" encoding="utf-8"?>
<p:tagLst xmlns:p="http://schemas.openxmlformats.org/presentationml/2006/main">
  <p:tag name="KSO_WM_DIAGRAM_VIRTUALLY_FRAME" val="{&quot;height&quot;:230,&quot;left&quot;:62.42,&quot;top&quot;:112,&quot;width&quot;:825.5799999999999}"/>
</p:tagLst>
</file>

<file path=ppt/tags/tag10.xml><?xml version="1.0" encoding="utf-8"?>
<p:tagLst xmlns:p="http://schemas.openxmlformats.org/presentationml/2006/main">
  <p:tag name="KSO_WM_DIAGRAM_VIRTUALLY_FRAME" val="{&quot;height&quot;:230,&quot;left&quot;:62.42,&quot;top&quot;:112,&quot;width&quot;:825.5799999999999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4848</Words>
  <Application>WPS 演示</Application>
  <PresentationFormat/>
  <Paragraphs>540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40" baseType="lpstr">
      <vt:lpstr>Arial</vt:lpstr>
      <vt:lpstr>宋体</vt:lpstr>
      <vt:lpstr>Wingdings</vt:lpstr>
      <vt:lpstr>Arial</vt:lpstr>
      <vt:lpstr>思源黑体</vt:lpstr>
      <vt:lpstr>黑体</vt:lpstr>
      <vt:lpstr>Noto Sans SC</vt:lpstr>
      <vt:lpstr>等线</vt:lpstr>
      <vt:lpstr>锐字真言体免费商用</vt:lpstr>
      <vt:lpstr>Segoe Print</vt:lpstr>
      <vt:lpstr>Consolas</vt:lpstr>
      <vt:lpstr>微软雅黑</vt:lpstr>
      <vt:lpstr>Arial Unicode MS</vt:lpstr>
      <vt:lpstr>Office 主题​​</vt:lpstr>
      <vt:lpstr>自定义主题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访鹤愚者</cp:lastModifiedBy>
  <cp:revision>1</cp:revision>
  <dcterms:created xsi:type="dcterms:W3CDTF">2026-10-08T08:26:07Z</dcterms:created>
  <dcterms:modified xsi:type="dcterms:W3CDTF">2026-10-08T08:26:08Z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{"Label":"1","ContentProducer":"001191110102MACQD9K64010000","ProduceID":"7694208797136571334","ReservedCode1":"","ContentPropagator":"","PropagateID":"","ReservedCode2":""}</vt:lpwstr>
  </property>
  <property fmtid="{D5CDD505-2E9C-101B-9397-08002B2CF9AE}" pid="3" name="ICV">
    <vt:lpwstr>7009492628664B13918426571A189B00_12</vt:lpwstr>
  </property>
  <property fmtid="{D5CDD505-2E9C-101B-9397-08002B2CF9AE}" pid="4" name="KSOProductBuildVer">
    <vt:lpwstr>2052-12.1.0.28505</vt:lpwstr>
  </property>
</Properties>
</file>