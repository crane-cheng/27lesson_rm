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3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  <p:sldMasterId id="2147483661" r:id="rId9"/>
  </p:sldMasterIdLst>
  <p:notesMasterIdLst>
    <p:notesMasterId r:id="rId6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1.xml" Type="http://schemas.openxmlformats.org/officeDocument/2006/relationships/slide"/><Relationship Id="rId11" Target="slides/slide2.xml" Type="http://schemas.openxmlformats.org/officeDocument/2006/relationships/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slides/slide6.xml" Type="http://schemas.openxmlformats.org/officeDocument/2006/relationships/slide"/><Relationship Id="rId16" Target="slides/slide7.xml" Type="http://schemas.openxmlformats.org/officeDocument/2006/relationships/slide"/><Relationship Id="rId17" Target="slides/slide8.xml" Type="http://schemas.openxmlformats.org/officeDocument/2006/relationships/slide"/><Relationship Id="rId18" Target="slides/slide9.xml" Type="http://schemas.openxmlformats.org/officeDocument/2006/relationships/slide"/><Relationship Id="rId19" Target="slides/slide10.xml" Type="http://schemas.openxmlformats.org/officeDocument/2006/relationships/slide"/><Relationship Id="rId2" Target="viewProps.xml" Type="http://schemas.openxmlformats.org/officeDocument/2006/relationships/viewProps"/><Relationship Id="rId20" Target="slides/slide11.xml" Type="http://schemas.openxmlformats.org/officeDocument/2006/relationships/slide"/><Relationship Id="rId21" Target="slides/slide12.xml" Type="http://schemas.openxmlformats.org/officeDocument/2006/relationships/slide"/><Relationship Id="rId22" Target="slides/slide13.xml" Type="http://schemas.openxmlformats.org/officeDocument/2006/relationships/slide"/><Relationship Id="rId23" Target="slides/slide14.xml" Type="http://schemas.openxmlformats.org/officeDocument/2006/relationships/slide"/><Relationship Id="rId24" Target="slides/slide15.xml" Type="http://schemas.openxmlformats.org/officeDocument/2006/relationships/slide"/><Relationship Id="rId25" Target="slides/slide16.xml" Type="http://schemas.openxmlformats.org/officeDocument/2006/relationships/slide"/><Relationship Id="rId26" Target="notesSlides/notesSlide1.xml" Type="http://schemas.openxmlformats.org/officeDocument/2006/relationships/notesSlide"/><Relationship Id="rId27" Target="notesSlides/notesSlide2.xml" Type="http://schemas.openxmlformats.org/officeDocument/2006/relationships/notesSlide"/><Relationship Id="rId28" Target="notesSlides/notesSlide3.xml" Type="http://schemas.openxmlformats.org/officeDocument/2006/relationships/notesSlide"/><Relationship Id="rId29" Target="notesSlides/notesSlide4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5.xml" Type="http://schemas.openxmlformats.org/officeDocument/2006/relationships/notesSlide"/><Relationship Id="rId31" Target="notesSlides/notesSlide6.xml" Type="http://schemas.openxmlformats.org/officeDocument/2006/relationships/notesSlide"/><Relationship Id="rId32" Target="notesSlides/notesSlide7.xml" Type="http://schemas.openxmlformats.org/officeDocument/2006/relationships/notesSlide"/><Relationship Id="rId33" Target="notesSlides/notesSlide8.xml" Type="http://schemas.openxmlformats.org/officeDocument/2006/relationships/notesSlide"/><Relationship Id="rId34" Target="notesSlides/notesSlide9.xml" Type="http://schemas.openxmlformats.org/officeDocument/2006/relationships/notesSlide"/><Relationship Id="rId35" Target="notesSlides/notesSlide10.xml" Type="http://schemas.openxmlformats.org/officeDocument/2006/relationships/notesSlide"/><Relationship Id="rId36" Target="notesSlides/notesSlide11.xml" Type="http://schemas.openxmlformats.org/officeDocument/2006/relationships/notesSlide"/><Relationship Id="rId37" Target="notesSlides/notesSlide12.xml" Type="http://schemas.openxmlformats.org/officeDocument/2006/relationships/notesSlide"/><Relationship Id="rId38" Target="notesSlides/notesSlide13.xml" Type="http://schemas.openxmlformats.org/officeDocument/2006/relationships/notesSlide"/><Relationship Id="rId39" Target="notesSlides/notesSlide14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5.xml" Type="http://schemas.openxmlformats.org/officeDocument/2006/relationships/notesSlide"/><Relationship Id="rId41" Target="notesSlides/notesSlide16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Masters/slideMaster3.xml" Type="http://schemas.openxmlformats.org/officeDocument/2006/relationships/slideMaster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这是本阶段最后一讲：让单片机开口说话。前四讲它一直在自己干活，这一节我们给它加上串口和一块小小的 OLED，之后你就能从电脑上发命令改参数，屏幕上也能看到系统现在什么状态。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时间安排过一遍。第十周的任务是串口与 OLED，做完这一讲，你的系统就能自己报数、自己报状态；第十一周是转入梯队考核，大家在十一月之内把五次作业交齐。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这一讲四块内容：先认识串口的三根线和波特率，再学怎么发、怎么收，然后是把收到的字符变成能用的数字和命令，最后用 OLED 把系统状态显示出来。作业五的四个小题就分布在这四块里。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第一部分先把串口认清楚。串口就三根线，收、发、地，两边约定同一个波特率就能说话。接线要交叉：我方发接对方收。CubeMX 里选好模式、设好波特率，代码里才有可用的串口对象。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串口是最便宜的通信方式：两根信号线加一根地，不需要时钟线，所以两端必须事先约好速度，这就是波特率。115200 意思是每秒 115200 个位，两边不一致时收到的就是乱码。接线口诀是交叉：单片机 PA9 是发送，要接 USB 转串口模块的接收脚。调试时最常见的三个问题：波特率不匹配、线没交叉、忘了共地。另外，用 USB 转串口模块时注意它是 3.3 伏还是 5 伏电平，接错可能损坏引脚。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发送比接收简单得多。HAL_UART_Transmit 的四个参数分别是串口对象、数据地址、字节数、超时时间，数据必须先转成 uint8_t 指针。这里有一个高频错误：直接把一个整数变量的地址传进去、长度写 4，串口助手上就会出现四个奇怪的字符，因为那四个字节是二进制而不是文字。要发数字，先用 sprintf 转成字符串。长度也可以用 strlen 自动算。另外别忘了字符串末尾的\r\n，它是串口助手的换行符，不加的话所有输出会连成一行。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第二部分讲收发。发送一句话很简单，一个 HAL_UART_Transmit 就行；难的是接收，你不知道对方什么时候发、发几个字节。用接收中断一个字一个字收，再自己拼成一句话，这就是作业第二题要练的东西。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接收比发送难，因为发送时机你说了算，接收时机是对方说了算。第一种写法是在主循环里用一个很大的超时去读，缺点是没数据时 CPU 一直等。更好的写法是用接收中断：先调用一次接收函数，告诉 HAL 帮我盯着这一个字节，收到就进回调。回调里做三件事：存字节、判断这一句是否结束、再开下一次接收。第三步最容易漏，漏了就只能收到第一个字节。缓冲区要够大（64 字节足够命令用），并且要做长度保护，防止对方一直发把数组写爆，这也是作业第二题会检查的点。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这一页是串口和之前内容真正连起来的地方。串口上跑的全是字符，你想用它改占空比，就一定要做字符到数字的转换，atoi 是最省事的做法：给它一个字符串的地址，它回头给你一个整数。取参数的时候注意两点：一是从第二个字符开始取，因为第一个字符是命令头；二是要限幅，用户可能在串口助手里敲一个 99999，直接写进比较寄存器就会出问题。这也是考核评分里会看的一条：命令要处理，异常输入也不能让系统跑飞。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第三部分处理收到的东西。串口收到的都是字符，字符没法直接比大小，要先转成数字。然后按命令的格式去判断：发 A 就点灯、发 B 就熄灯，发 P500 就把参数改成 500。这一节把串口和前面学的功能真正连起来。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到这一页，串口就不只是打印调试信息了，它成了你控制整台设备的入口。写命令解析的关键是先把命令表定下来再写代码，边写边改很容易写成一堆 if 嵌套。解析用 switch 判断第一个字符最省事，参数部分用 atoi 转换。这里要注意处理未知命令：如果收到一个没定义的字符，回一个 ERROR，而不是什么都不做，否则上位机不知道是没收到还是命令写错了。作业第一题要「发 A 回 1、发 B 回 0」，回值就是让上位机能确认——这个思路在考核里也会用到，因为考核要检查「有效操作后有反馈」。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最后一部分让系统会说话。OLED 用两根线通信，初始化之后就能在上面写字。把灯的开关状态、当前的频率和占空比显示上去，调试的时候不用再开电脑，看一眼屏幕就知道系统在干什么。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OLED 用的是 I2C，两条信号线加上电源，接线比并口屏简单得多。代码部分通常直接用现成的驱动库，你要做的是三件事：上电初始化一次并清屏、把要显示的数字用 sprintf 转成字符串、再按行列坐标写上去。第 0 行显示灯的开关状态，第 2 行显示占空比，这样调试时不用再开电脑，一眼就知道系统在什么状态。注意 sprintf 的目标数组要有足够空间，显示字符串长度别超过屏幕宽度，一屏一般放得下 16 个字符。第四题是课后自己扩展 OLED 的用法，比如加一行显示舵机角度或者运行时间。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这是本阶段的最后一次作业，四道题有先后关系：第一题先把命令链路跑通，用轮询就够了；第二题再换成中断接收，体会两种做法的差别；第三题加 OLED，把状态显示出来；第四题是课余扩展，DMA 和空闲中断都值得看一眼，考核的时候处理一长串数据会轻松很多。第一题要求的回值（发 A 回 1、发 B 回 0）看起来多余，其实这就是「有反馈」的习惯，考核里也会检查。交作业还是老规矩：代码注释统一 UTF-8，演示视频和代码放同一个压缩包，命名按班级加姓名加第几次任务，十一月之前交齐。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作业要求和前面几讲一样，五条都是硬性的。第五讲四道题：串口点灯、用接收中断重做一遍、OLED 显示小灯状态，最后课余那题自己扩展串口用法。十一月之前交齐，注释统一 UTF-8。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五次讲完，你的系统已经能点灯、读按键、定时、输出 PWM、发串口、显示状态。作业五是串口和 OLED，做完之后我们就不再逐条讲了，直接进梯队考核。十一月之前把作业交齐，考核见。下课。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2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3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4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-7315198" y="-5753098"/>
            <a:ext cx="27050999" cy="20192999"/>
          </a:xfrm>
          <a:custGeom>
            <a:avLst/>
            <a:gdLst/>
            <a:ahLst/>
            <a:cxnLst/>
            <a:rect r="r" b="b" t="t" l="l"/>
            <a:pathLst>
              <a:path h="20192999" w="27050999">
                <a:moveTo>
                  <a:pt x="7467599" y="5905499"/>
                </a:moveTo>
                <a:lnTo>
                  <a:pt x="7467599" y="12763499"/>
                </a:lnTo>
                <a:lnTo>
                  <a:pt x="19659599" y="12763499"/>
                </a:lnTo>
                <a:lnTo>
                  <a:pt x="19659599" y="5905499"/>
                </a:lnTo>
                <a:close/>
                <a:moveTo>
                  <a:pt x="0" y="0"/>
                </a:moveTo>
                <a:lnTo>
                  <a:pt x="27050999" y="0"/>
                </a:lnTo>
                <a:lnTo>
                  <a:pt x="27050999" y="20192999"/>
                </a:lnTo>
                <a:lnTo>
                  <a:pt x="0" y="20192999"/>
                </a:lnTo>
                <a:close/>
              </a:path>
            </a:pathLst>
          </a:custGeom>
          <a:solidFill>
            <a:srgbClr val="E6E6E6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0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" type="pic" sz="quarter"/>
          </p:nvPr>
        </p:nvSpPr>
        <p:spPr>
          <a:xfrm rot="0" flipH="false" flipV="false">
            <a:off x="910379" y="1873354"/>
            <a:ext cx="1944937" cy="1944936"/>
          </a:xfrm>
          <a:prstGeom prst="rect">
            <a:avLst/>
          </a:prstGeom>
          <a:solidFill>
            <a:srgbClr val="F0F0F0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" type="pic" sz="quarter"/>
          </p:nvPr>
        </p:nvSpPr>
        <p:spPr>
          <a:xfrm rot="0" flipH="false" flipV="false">
            <a:off x="2938349" y="1873353"/>
            <a:ext cx="1944937" cy="1944936"/>
          </a:xfrm>
          <a:prstGeom prst="rect">
            <a:avLst/>
          </a:prstGeom>
          <a:solidFill>
            <a:srgbClr val="F0F0F0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3" type="pic" sz="quarter"/>
          </p:nvPr>
        </p:nvSpPr>
        <p:spPr>
          <a:xfrm rot="0" flipH="false" flipV="false">
            <a:off x="910378" y="3886331"/>
            <a:ext cx="1944937" cy="1944936"/>
          </a:xfrm>
          <a:prstGeom prst="rect">
            <a:avLst/>
          </a:prstGeom>
          <a:solidFill>
            <a:srgbClr val="F0F0F0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" type="pic" sz="quarter"/>
          </p:nvPr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2_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pic" sz="quarter"/>
          </p:nvPr>
        </p:nvSpPr>
        <p:spPr>
          <a:xfrm rot="0" flipH="false" flipV="false">
            <a:off x="5635724" y="0"/>
            <a:ext cx="4732259" cy="6858000"/>
          </a:xfrm>
          <a:prstGeom prst="roundRect">
            <a:avLst>
              <a:gd name="adj" fmla="val 14725504"/>
            </a:avLst>
          </a:prstGeom>
          <a:solidFill>
            <a:srgbClr val="F2F2F2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3436373"/>
          </a:xfrm>
          <a:prstGeom prst="rect">
            <a:avLst/>
          </a:prstGeom>
          <a:gradFill rotWithShape="true">
            <a:gsLst>
              <a:gs pos="0">
                <a:srgbClr val="0460C7">
                  <a:alpha val="100000"/>
                </a:srgbClr>
              </a:gs>
              <a:gs pos="100000">
                <a:srgbClr val="034895">
                  <a:alpha val="100000"/>
                </a:srgbClr>
              </a:gs>
            </a:gsLst>
            <a:path path="circle">
              <a:fillToRect l="0" r="100000" t="0" b="100000"/>
            </a:path>
            <a:tileRect t="-100000" b="0" l="-100000" r="0"/>
          </a:gra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>
            <p:ph idx="6" type="pic" sz="quarter"/>
          </p:nvPr>
        </p:nvSpPr>
        <p:spPr>
          <a:xfrm rot="0" flipH="false" flipV="false">
            <a:off x="7030064" y="559769"/>
            <a:ext cx="4552336" cy="2685548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2700000" dist="152400" blurRad="317500" algn="tl" rotWithShape="false">
              <a:srgbClr val="000000">
                <a:alpha val="24000"/>
              </a:srgbClr>
            </a:outerShdw>
          </a:effectLst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7" type="pic" sz="quarter"/>
          </p:nvPr>
        </p:nvSpPr>
        <p:spPr>
          <a:xfrm rot="0" flipH="false" flipV="false">
            <a:off x="622006" y="3615026"/>
            <a:ext cx="4552336" cy="2685548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2700000" dist="152400" blurRad="317500" algn="tl" rotWithShape="false">
              <a:srgbClr val="000000">
                <a:alpha val="24000"/>
              </a:srgbClr>
            </a:outerShdw>
          </a:effectLst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Gene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_rels/slideMaster3.xml.rels><?xml version="1.0" encoding="UTF-8" standalone="yes"?><Relationships xmlns="http://schemas.openxmlformats.org/package/2006/relationships"><Relationship Id="rId1" Target="../theme/theme4.xml" Type="http://schemas.openxmlformats.org/officeDocument/2006/relationships/theme"/><Relationship Id="rId10" Target="../slideLayouts/slideLayout21.xml" Type="http://schemas.openxmlformats.org/officeDocument/2006/relationships/slideLayout"/><Relationship Id="rId11" Target="../slideLayouts/slideLayout22.xml" Type="http://schemas.openxmlformats.org/officeDocument/2006/relationships/slideLayout"/><Relationship Id="rId12" Target="../slideLayouts/slideLayout23.xml" Type="http://schemas.openxmlformats.org/officeDocument/2006/relationships/slideLayout"/><Relationship Id="rId13" Target="../slideLayouts/slideLayout24.xml" Type="http://schemas.openxmlformats.org/officeDocument/2006/relationships/slideLayout"/><Relationship Id="rId2" Target="../slideLayouts/slideLayout13.xml" Type="http://schemas.openxmlformats.org/officeDocument/2006/relationships/slideLayout"/><Relationship Id="rId3" Target="../slideLayouts/slideLayout14.xml" Type="http://schemas.openxmlformats.org/officeDocument/2006/relationships/slideLayout"/><Relationship Id="rId4" Target="../slideLayouts/slideLayout15.xml" Type="http://schemas.openxmlformats.org/officeDocument/2006/relationships/slideLayout"/><Relationship Id="rId5" Target="../slideLayouts/slideLayout16.xml" Type="http://schemas.openxmlformats.org/officeDocument/2006/relationships/slideLayout"/><Relationship Id="rId6" Target="../slideLayouts/slideLayout17.xml" Type="http://schemas.openxmlformats.org/officeDocument/2006/relationships/slideLayout"/><Relationship Id="rId7" Target="../slideLayouts/slideLayout18.xml" Type="http://schemas.openxmlformats.org/officeDocument/2006/relationships/slideLayout"/><Relationship Id="rId8" Target="../slideLayouts/slideLayout19.xml" Type="http://schemas.openxmlformats.org/officeDocument/2006/relationships/slideLayout"/><Relationship Id="rId9" Target="../slideLayouts/slideLayout20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自定义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Office Theme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1" id="1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2" id="2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57483700" r:id="rId2"/>
    <p:sldLayoutId id="2157483701" r:id="rId3"/>
    <p:sldLayoutId id="2157483702" r:id="rId4"/>
    <p:sldLayoutId id="2157483703" r:id="rId5"/>
    <p:sldLayoutId id="2157483704" r:id="rId6"/>
    <p:sldLayoutId id="2157483705" r:id="rId7"/>
    <p:sldLayoutId id="2157483706" r:id="rId8"/>
    <p:sldLayoutId id="2157483707" r:id="rId9"/>
    <p:sldLayoutId id="2157483708" r:id="rId10"/>
    <p:sldLayoutId id="2157483709" r:id="rId11"/>
    <p:sldLayoutId id="2157483710" r:id="rId12"/>
    <p:sldLayoutId id="215748371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6.xml" Type="http://schemas.openxmlformats.org/officeDocument/2006/relationships/notesSlide"/><Relationship Id="rId4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90500" y="1360714"/>
            <a:ext cx="6408964" cy="4640036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10800000" flipH="false" flipV="false">
            <a:off x="-4121880" y="1823357"/>
            <a:ext cx="8390917" cy="766246"/>
          </a:xfrm>
          <a:custGeom>
            <a:avLst/>
            <a:gdLst/>
            <a:ahLst/>
            <a:cxnLst/>
            <a:rect r="r" b="b" t="t" l="l"/>
            <a:pathLst>
              <a:path h="766246" w="8390917">
                <a:moveTo>
                  <a:pt x="8365092" y="0"/>
                </a:moveTo>
                <a:lnTo>
                  <a:pt x="8390917" y="0"/>
                </a:lnTo>
                <a:lnTo>
                  <a:pt x="8390917" y="766246"/>
                </a:lnTo>
                <a:lnTo>
                  <a:pt x="0" y="766246"/>
                </a:lnTo>
                <a:lnTo>
                  <a:pt x="336178" y="192623"/>
                </a:lnTo>
                <a:lnTo>
                  <a:pt x="8365092" y="192623"/>
                </a:lnTo>
                <a:close/>
              </a:path>
            </a:pathLst>
          </a:custGeom>
          <a:solidFill>
            <a:srgbClr val="F0F0F0">
              <a:alpha val="6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2977103" flipH="false" flipV="false">
            <a:off x="8466446" y="2089651"/>
            <a:ext cx="3245258" cy="3776827"/>
          </a:xfrm>
          <a:prstGeom prst="parallelogram">
            <a:avLst>
              <a:gd name="adj" fmla="val 25000"/>
            </a:avLst>
          </a:prstGeom>
          <a:solidFill>
            <a:srgbClr val="0000B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2803763" y="2064282"/>
            <a:ext cx="9818733" cy="2317218"/>
          </a:xfrm>
          <a:custGeom>
            <a:avLst/>
            <a:gdLst/>
            <a:ahLst/>
            <a:cxnLst/>
            <a:rect r="r" b="b" t="t" l="l"/>
            <a:pathLst>
              <a:path h="2317218" w="9818733">
                <a:moveTo>
                  <a:pt x="1358028" y="0"/>
                </a:moveTo>
                <a:lnTo>
                  <a:pt x="9818733" y="0"/>
                </a:lnTo>
                <a:lnTo>
                  <a:pt x="9818733" y="2317218"/>
                </a:lnTo>
                <a:lnTo>
                  <a:pt x="0" y="2317218"/>
                </a:lnTo>
                <a:close/>
              </a:path>
            </a:pathLst>
          </a:cu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false">
            <a:off x="-2695316" y="5619146"/>
            <a:ext cx="6289317" cy="574331"/>
          </a:xfrm>
          <a:custGeom>
            <a:avLst/>
            <a:gdLst/>
            <a:ahLst/>
            <a:cxnLst/>
            <a:rect r="r" b="b" t="t" l="l"/>
            <a:pathLst>
              <a:path h="574331" w="6289317">
                <a:moveTo>
                  <a:pt x="6269961" y="0"/>
                </a:moveTo>
                <a:lnTo>
                  <a:pt x="6289317" y="0"/>
                </a:lnTo>
                <a:lnTo>
                  <a:pt x="6289317" y="574331"/>
                </a:lnTo>
                <a:lnTo>
                  <a:pt x="0" y="574331"/>
                </a:lnTo>
                <a:lnTo>
                  <a:pt x="251978" y="144379"/>
                </a:lnTo>
                <a:lnTo>
                  <a:pt x="6269961" y="144379"/>
                </a:lnTo>
                <a:close/>
              </a:path>
            </a:pathLst>
          </a:custGeom>
          <a:solidFill>
            <a:srgbClr val="D9D9D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10800000" flipH="false" flipV="false">
            <a:off x="-383223" y="6193477"/>
            <a:ext cx="5180980" cy="473119"/>
          </a:xfrm>
          <a:custGeom>
            <a:avLst/>
            <a:gdLst/>
            <a:ahLst/>
            <a:cxnLst/>
            <a:rect r="r" b="b" t="t" l="l"/>
            <a:pathLst>
              <a:path h="473119" w="5180980">
                <a:moveTo>
                  <a:pt x="5165034" y="0"/>
                </a:moveTo>
                <a:lnTo>
                  <a:pt x="5180980" y="0"/>
                </a:lnTo>
                <a:lnTo>
                  <a:pt x="5180980" y="473119"/>
                </a:lnTo>
                <a:lnTo>
                  <a:pt x="0" y="473119"/>
                </a:lnTo>
                <a:lnTo>
                  <a:pt x="207574" y="118936"/>
                </a:lnTo>
                <a:lnTo>
                  <a:pt x="5165034" y="118936"/>
                </a:lnTo>
                <a:close/>
              </a:path>
            </a:pathLst>
          </a:custGeom>
          <a:solidFill>
            <a:srgbClr val="D9D9D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-3659522" flipH="false" flipV="false">
            <a:off x="9248546" y="3449847"/>
            <a:ext cx="2824243" cy="4476772"/>
          </a:xfrm>
          <a:custGeom>
            <a:avLst/>
            <a:gdLst/>
            <a:ahLst/>
            <a:cxnLst/>
            <a:rect r="r" b="b" t="t" l="l"/>
            <a:pathLst>
              <a:path h="4476772" w="2824243">
                <a:moveTo>
                  <a:pt x="0" y="2594027"/>
                </a:moveTo>
                <a:lnTo>
                  <a:pt x="942392" y="0"/>
                </a:lnTo>
                <a:lnTo>
                  <a:pt x="2824243" y="4476772"/>
                </a:lnTo>
                <a:lnTo>
                  <a:pt x="0" y="2594027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530263" y="1342006"/>
            <a:ext cx="1131474" cy="482453"/>
          </a:xfrm>
          <a:prstGeom prst="parallelogram">
            <a:avLst>
              <a:gd name="adj" fmla="val 62784"/>
            </a:avLst>
          </a:pr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067064" y="1107039"/>
            <a:ext cx="606981" cy="258813"/>
          </a:xfrm>
          <a:prstGeom prst="parallelogram">
            <a:avLst>
              <a:gd name="adj" fmla="val 62784"/>
            </a:avLst>
          </a:pr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797757" y="6133027"/>
            <a:ext cx="4716356" cy="338554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565656"/>
                </a:solidFill>
                <a:latin typeface="Noto Sans SC"/>
                <a:ea typeface="Noto Sans SC"/>
                <a:cs typeface="Noto Sans SC"/>
                <a:sym typeface="Noto Sans SC"/>
              </a:rPr>
              <a:t>培训时间：第10周 11.7　主讲人：＿＿＿＿＿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4269037" y="2765633"/>
            <a:ext cx="8900796" cy="154781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false" i="true" strike="noStrike" u="none" sz="5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电控组第五讲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00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5056505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关于时间安排: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408014" y="1109242"/>
            <a:ext cx="7645310" cy="487602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9" id="9"/>
          <p:cNvSpPr/>
          <p:nvPr/>
        </p:nvSpPr>
        <p:spPr>
          <a:xfrm rot="2380623" flipH="false" flipV="false">
            <a:off x="11528781" y="-382476"/>
            <a:ext cx="687161" cy="5225545"/>
          </a:xfrm>
          <a:custGeom>
            <a:avLst/>
            <a:gdLst/>
            <a:ahLst/>
            <a:cxnLst/>
            <a:rect r="r" b="b" t="t" l="l"/>
            <a:pathLst>
              <a:path h="5225545" w="687161">
                <a:moveTo>
                  <a:pt x="0" y="570027"/>
                </a:moveTo>
                <a:lnTo>
                  <a:pt x="687161" y="0"/>
                </a:lnTo>
                <a:lnTo>
                  <a:pt x="687161" y="4655515"/>
                </a:lnTo>
                <a:lnTo>
                  <a:pt x="0" y="5225545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2380623" flipH="false" flipV="false">
            <a:off x="-511296" y="-1203550"/>
            <a:ext cx="2174008" cy="4424167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2380623" flipH="false" flipV="false">
            <a:off x="1452010" y="-2589138"/>
            <a:ext cx="981375" cy="8713877"/>
          </a:xfrm>
          <a:prstGeom prst="roundRect">
            <a:avLst>
              <a:gd name="adj" fmla="val 0"/>
            </a:avLst>
          </a:pr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8785094" flipH="false" flipV="false">
            <a:off x="-476482" y="-332819"/>
            <a:ext cx="808317" cy="3628428"/>
          </a:xfrm>
          <a:custGeom>
            <a:avLst/>
            <a:gdLst/>
            <a:ahLst/>
            <a:cxnLst/>
            <a:rect r="r" b="b" t="t" l="l"/>
            <a:pathLst>
              <a:path h="3628428" w="808317">
                <a:moveTo>
                  <a:pt x="0" y="3628428"/>
                </a:moveTo>
                <a:lnTo>
                  <a:pt x="0" y="243140"/>
                </a:lnTo>
                <a:lnTo>
                  <a:pt x="808317" y="0"/>
                </a:lnTo>
                <a:lnTo>
                  <a:pt x="808317" y="3628428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65171" y="2821044"/>
            <a:ext cx="532402" cy="392937"/>
          </a:xfrm>
          <a:custGeom>
            <a:avLst/>
            <a:gdLst/>
            <a:ahLst/>
            <a:cxnLst/>
            <a:rect r="r" b="b" t="t" l="l"/>
            <a:pathLst>
              <a:path h="392937" w="532402">
                <a:moveTo>
                  <a:pt x="531894" y="392184"/>
                </a:moveTo>
                <a:lnTo>
                  <a:pt x="532402" y="392937"/>
                </a:lnTo>
                <a:lnTo>
                  <a:pt x="531273" y="392932"/>
                </a:lnTo>
                <a:close/>
                <a:moveTo>
                  <a:pt x="266823" y="0"/>
                </a:moveTo>
                <a:lnTo>
                  <a:pt x="527696" y="392916"/>
                </a:lnTo>
                <a:lnTo>
                  <a:pt x="0" y="390555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8785094" flipH="false" flipV="false">
            <a:off x="55920" y="-982343"/>
            <a:ext cx="808317" cy="3628428"/>
          </a:xfrm>
          <a:custGeom>
            <a:avLst/>
            <a:gdLst/>
            <a:ahLst/>
            <a:cxnLst/>
            <a:rect r="r" b="b" t="t" l="l"/>
            <a:pathLst>
              <a:path h="3628428" w="808317">
                <a:moveTo>
                  <a:pt x="0" y="3628428"/>
                </a:moveTo>
                <a:lnTo>
                  <a:pt x="0" y="243140"/>
                </a:lnTo>
                <a:lnTo>
                  <a:pt x="808317" y="0"/>
                </a:lnTo>
                <a:lnTo>
                  <a:pt x="808317" y="3628428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2380623" flipH="false" flipV="false">
            <a:off x="1588692" y="1005717"/>
            <a:ext cx="687161" cy="5225545"/>
          </a:xfrm>
          <a:custGeom>
            <a:avLst/>
            <a:gdLst/>
            <a:ahLst/>
            <a:cxnLst/>
            <a:rect r="r" b="b" t="t" l="l"/>
            <a:pathLst>
              <a:path h="5225545" w="687161">
                <a:moveTo>
                  <a:pt x="0" y="570027"/>
                </a:moveTo>
                <a:lnTo>
                  <a:pt x="687161" y="0"/>
                </a:lnTo>
                <a:lnTo>
                  <a:pt x="687161" y="4655515"/>
                </a:lnTo>
                <a:lnTo>
                  <a:pt x="0" y="5225545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996097" y="2113157"/>
            <a:ext cx="1203960" cy="706755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460C7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030470" y="2906310"/>
            <a:ext cx="683260" cy="68326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5906299" y="2944410"/>
            <a:ext cx="5301615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dir="2700000" dist="38100" blurRad="127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串口收发与中断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024755" y="3948762"/>
            <a:ext cx="683260" cy="68326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5883275" y="3938602"/>
            <a:ext cx="5301615" cy="646331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dir="2700000" dist="38100" blurRad="127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命令解析</a:t>
            </a:r>
            <a:endParaRPr lang="en-US" sz="1100"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3" id="23"/>
          <p:cNvSpPr txBox="true"/>
          <p:nvPr/>
        </p:nvSpPr>
        <p:spPr>
          <a:xfrm rot="0" flipH="false" flipV="false">
            <a:off x="8961317" y="691994"/>
            <a:ext cx="6962834" cy="27381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5013325" y="1856626"/>
            <a:ext cx="683260" cy="68326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5883275" y="1894726"/>
            <a:ext cx="5741166" cy="646331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3600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dir="2700000" dist="38100" blurRad="127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串口基础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5013325" y="5001374"/>
            <a:ext cx="683260" cy="68326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27" id="27"/>
          <p:cNvSpPr txBox="true"/>
          <p:nvPr/>
        </p:nvSpPr>
        <p:spPr>
          <a:xfrm rot="0" flipH="false" flipV="false">
            <a:off x="5871845" y="4991214"/>
            <a:ext cx="5301615" cy="646331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dir="2700000" dist="38100" blurRad="127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OLED 显示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76893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168351" y="1430526"/>
            <a:ext cx="6009640" cy="246221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6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串口基础</a:t>
            </a: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串口是什么：三根线加一个约定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574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① 三根线：TX、RX、GND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我方的发（TX）接对方的收（RX），交叉接线；地线必须共在一起，否则收到的全是乱码。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2463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② 波特率：两边必须一样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常用 115200。串口没有时钟线，全靠两边约定同一个速度，差一点就是满屏乱码。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3352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③ CubeMX 里怎么配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选 Asynchronous 模式，8 位数据、无校验、1 位停止位；引脚会自动分配好。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29400" y="1524000"/>
            <a:ext cx="4495800" cy="269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CubeMX 里 USART1 的配置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Mode : Asynchronous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// Baud Rate : 115200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// Word Length : 8 Bits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// Parity : None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// Stop Bits : 1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引脚自动分配 PA9 / PA10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串口没有时钟线，两边全靠约定：线要交叉、地要共、波特率必须一致。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串口发送：怎么把数字发出去？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574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① 发送就是一句调用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HAL_UART_Transmit 把一段字节发出去，长度和超时要自己写清楚，发完才返回。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2463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② 数字要先变成字符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串口只能发字节，直接发一个 int 会得到乱码。用 sprintf 拼成字符串再发。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3352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③ 换行别忘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字符串结尾加上回车换行，串口助手才一行一行显示，看着才清楚。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29400" y="1524000"/>
            <a:ext cx="4495800" cy="269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char buf[32];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sprintf(buf, "duty=%d\r\n", duty);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HAL_UART_Transmit(&amp;huart1,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(uint8_t *)buf, strlen(buf), 100);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长度用 strlen，别写死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超时 100ms，够用了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发送是主动的、阻塞的：先转成字符，再写清长度，最后记得换行。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76893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168351" y="1430526"/>
            <a:ext cx="6009640" cy="246221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6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串口收发与中断</a:t>
            </a: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接收：怎么把一句话收全？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574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① 别在主循环里等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用接收中断：开一个字节的接收，收到就进回调，主循环完全不用守着串口。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2463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② 一个字节一个字节攒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回调里把字节存进缓冲区，遇到换行就认为一句话结束，再加一个结束符。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3352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③ 收完必须再开一次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回调末尾要重新调用接收函数，不然只收得到第一个字节，后面全部丢失。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29400" y="1524000"/>
            <a:ext cx="4495800" cy="269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uint8_t rb, buf[64], len = 0;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void HAL_UART_RxCpltCallback(UART_HandleTypeDef *h)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buf[len++] = rb;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if (rb == '\n') { buf[len - 1] = 0; len = 0; }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HAL_UART_Receive_IT(&amp;huart1, &amp;rb, 1);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main 里先开一次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接收靠中断：开一个字节、收一个攒一个、遇到换行算一句、收完再开下一次。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收到的是字符，怎么变成数字？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574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① 字符和数字不是一回事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收到的是 '5' 这个字符，它的值是 53。要参与计算，必须先转成真正的数字 5。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2463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② 用 atoi 或 sscanf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atoi("500") 直接得到 500；sscanf 还能按格式一次拆出多个数字。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3352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③ 先看命令头，再取值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命令是「字母 + 数字」的格式，第一个字符决定做什么，后面的部分才是参数。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29400" y="1524000"/>
            <a:ext cx="4495800" cy="269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收到 "P500"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if (buf[0] == 'P') {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int v = atoi((char *)&amp;buf[1]); // 500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if (v &lt;= 999) {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__HAL_TIM_SET_COMPARE(&amp;htim1, TIM_CHANNEL_2, v);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串口里只有字符没有数字：先转换、再限幅，最后才交给硬件用。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76893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168351" y="1430526"/>
            <a:ext cx="6009640" cy="246221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6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命令解析</a:t>
            </a: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命令解析：让串口管起整套系统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574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① 先定一套命令表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写代码前先把命令定下来：A 开灯、B 关灯、P 加数值改占空比、S 查询状态。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2463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② 一次只处理一条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用 switch 认第一个字符就够；处理完立刻清空缓冲区，避免上一条的残留影响下一条。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3352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③ 每条命令都回一句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执行完回一个 OK 或当前状态，上位机才知道命令生效了，调起来省一半时间。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29400" y="1524000"/>
            <a:ext cx="4495800" cy="269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switch (buf[0]) {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case 'A': LED_ON(); break;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case 'B': LED_OFF(); break;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case 'P': duty = atoi((char *)&amp;buf[1]);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PWM_SET(duty); break;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UART_SEND("OK\r\n");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命令表定清楚、解析只认第一个字符、每条都回话——串口就从调试口变成了控制口。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76893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168351" y="1430526"/>
            <a:ext cx="6009640" cy="246221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6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OLED 显示</a:t>
            </a: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OLED：把系统状态搬到屏幕上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574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① 两根线：SCL 和 SDA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OLED 走 I2C，时钟线上拉后接 SCL，数据线接 SDA，供电接 3.3V；CubeMX 里开 I2C1 即可。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2463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② 初始化一次，然后清屏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上电只做一次初始化，接着清屏；之后就能按坐标往指定位置写字。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3352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③ 显示什么：挑最关键的几项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灯的开关、当前占空比、舵机角度；数字先用 sprintf 转成字符串再显示。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29400" y="1524000"/>
            <a:ext cx="4495800" cy="269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OLED_Init();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OLED_Clear();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char line[20];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sprintf(line, "LED:%s", on ? "ON " : "OFF");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OLED_ShowString(0, 0, (uint8_t *)line, 16);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sprintf(line, "duty=%d", duty);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OLED_ShowString(0, 2, (uint8_t *)line, 16);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OLED 是你自己给自己的调试窗口：初始化一次，之后想写哪就写哪。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课后作业 5：串口与 OLED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92734" y="1676400"/>
            <a:ext cx="711200" cy="50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574800" y="1676400"/>
            <a:ext cx="95504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串口点灯：发 A 灯亮回 1，发 B 灯灭回 0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先在 main 里轮询接收，把「收命令 → 执行 → 回值」这条链路跑通。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92734" y="2692400"/>
            <a:ext cx="711200" cy="50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574800" y="2692400"/>
            <a:ext cx="95504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用接收中断重做任务 1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换成中断接收，回调里攒够一句再解析；注意处理缓冲区越界和收完再开。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92734" y="3708400"/>
            <a:ext cx="711200" cy="50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574800" y="3708400"/>
            <a:ext cx="95504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OLED 显示小灯状态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把灯的开关状态显示在屏幕上，命令生效后屏幕要跟着变。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92734" y="4724400"/>
            <a:ext cx="711200" cy="50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1574800" y="4724400"/>
            <a:ext cx="95504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课余：了解 UART 的其他用法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DMA 收发、空闲中断、printf 重定向、多串口；挑一两个试试，下一阶段会用到。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92734" y="57912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四题把串口收发、中断接收和 OLED 串成一套；第 11 周考核里这几样都要用上。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交作业：比代码更容易丢分的地方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92734" y="1498600"/>
            <a:ext cx="711200" cy="4826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574800" y="1498600"/>
            <a:ext cx="96266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代码注释必须统一 UTF-8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；交上来打不开、或者注释是乱码的，按未提交处理。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92734" y="2032000"/>
            <a:ext cx="711200" cy="4826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574800" y="2032000"/>
            <a:ext cx="96266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演示视频、代码和其他材料放在同一个压缩包里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，不要拆成几个文件分开发。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92734" y="2565400"/>
            <a:ext cx="711200" cy="4826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574800" y="2565400"/>
            <a:ext cx="96266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压缩包命名格式：</a:t>
            </a:r>
            <a:r>
              <a:rPr lang="en-US" b="tru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班级+姓名+第几次任务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，例如「电气26-5班+李华+第一次任务.zip」。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92734" y="3098800"/>
            <a:ext cx="711200" cy="4826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1574800" y="3098800"/>
            <a:ext cx="96266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发到指定邮箱，</a:t>
            </a:r>
            <a:r>
              <a:rPr lang="en-US" b="tru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邮件主题与压缩包同名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，压缩包作为附件上传，不要用网盘链接。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92734" y="3632200"/>
            <a:ext cx="711200" cy="4826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05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1574800" y="3632200"/>
            <a:ext cx="96266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不强制每周内完成，但</a:t>
            </a:r>
            <a:r>
              <a:rPr lang="en-US" b="tru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转入梯队考核上传结束时间前必须全部交齐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（第 11 周）。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五条要求都是硬性的：代码写得对，但包名写错、注释乱码，一样按未提交处理。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11488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859935" y="1322839"/>
            <a:ext cx="5038663" cy="76835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44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下课啦！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{"Label":"1","ContentProducer":"001191110102MACQD9K64010000","ProduceID":"7694209133993757675","ReservedCode1":"","ContentPropagator":"","PropagateID":"","ReservedCode2":""}</vt:lpwstr>
  </property>
</Properties>
</file>