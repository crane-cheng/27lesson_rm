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上一讲我们把 C 语言的语法过了一遍：程序流程、函数、数组、字符串、结构体和指针。这一讲换战场，从一片空白的单片机开始，把一块板子变成能听你指挥的控制器。这一讲要解决三个问题：程序怎么烧进芯片、引脚怎么按我们的意思输出和输入、按键为什么不能直接读。学完这一讲，你能独立建工程、点灯、用按键控制灯，并且知道按键抖动用什么办法治。封面上的培训时间和主讲人先留空，正式开课前由主讲人自己填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这是整个 27 赛季电控组的培训时间安排，每周六上午 10:00 到 12:00，地点在西区实训楼三楼，南区教室待定。今天第 8 周，10 月 24 日，讲 STM32 第一部分：工程建立和 GPIO。后面还有第 9 周定时器与 PWM、第 10 周串口与 I2C OLED，第 11 周是转入梯队的正式考核。作业不强制每周内完成，但要求在转入梯队考核上传结束时间之前全部交齐，别拖到最后一周。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这一讲分成四块：先学会用 CubeMX 建一个 STM32 工程，把 GPIO 配成输出，点亮第一颗 LED；然后反过来把 GPIO 配成输入，接按键读电平；接着解决按键抖动这个真实问题；最后学外部中断 EXTI，让 CPU 不用一直守着按键。四块之间是递进的，前一节的代码就是后一节的基础。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第一部分，我们先把 C 换成单片机：用 CubeMX 建一个 STM32 工程，把 GPIO 配成输出，点亮开发板上的 LED。学完这一节，你要能独立建工程、能找到引脚、能改一行代码让灯闪起来。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先问一个问题：我们上学期写的 C 程序，双击就能跑；现在要让一颗芯片动起来，中间多了什么？答案有三层。第一层是启动文件，芯片上电不是直接跳 main，而是先跑 startup 里的汇编，设好栈指针和时钟，才进 main，这部分 CubeMX 会生成，不用改。第二层是 HAL 库，它把我们不想背的寄存器地址和位号包成函数，看右边这段代码，TogglePin 翻转电平，Delay 延时，都是 HAL 提供的。第三层是下载器，代码写对了还要烧进 Flash 才有用，ST-Link 走 SWD 两根线。记住最后这句：C 写逻辑，HAL 出接口，工程是底座。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建工程看着步骤多，其实就五步：选芯片、配时钟、配引脚、配工程设置、生成代码。先看时钟，队伍里最常见的坑就是时钟没配就调串口，波特率一定偏。再看引脚，PC13 是板载 LED，点成输出以后一定要改名字，不然三天后自己都认不出。最后看生成，Toolchain 选 MDK-ARM，生成之后只在 USER CODE BEGIN 和 END 之间写代码，超出了下次重新生成会被覆盖。右边这段 MX_GPIO_Init 就是 CubeMX 替我们生成的，看清 Mode 和 Pull 两个字段，第二章配按键输入时改的就是它们。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点灯只需要认识两个函数。WritePin 三件事：哪个端口、哪根引脚、给高还是给低。注意 PC13 是低电平点亮，所以写 RESET 是亮，写 SET 是灭，这点考试和作业都爱考。TogglePin 更省事，它自己翻转，配一个 Delay 就是闪烁，改 Delay 的数值就改频率。最后留个问题：Delay 是空转等待，CPU 一直在数数，这期间按键按下去也不会理你。第 9 周我们会用定时器把它替掉，第 10 周的作业会直接考这一点。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第二部分反过来：把 GPIO 配成输入，接一个按键。这一节要弄清上拉、下拉到底接在哪，以及为什么按下读到的是 0 而不是 1。学完你要能自己决定用哪种输入模式。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上一节课的灯是被我们主动控制的，现在要反过来听引脚的话。按键只有两种稳定状态，关键在于不按时引脚是什么电平。上拉就是内部接一个电阻到 VCC，平时读高，按下被拉到地，读低，这是最常用的接法，也是我们作业默认的接法。下拉正好相反，判断条件要跟着改，很多同学按下没反应就是因为这里没改。最危险的是浮空输入，引脚没有确定电平，读到的值随机跳，按键必须避开它。右边的代码先看注释那两行，配置在 CubeMX 里完成，代码只写判断。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这张表是本节最该记住的一张。四行里只有两行能用：上拉和下拉。上拉是松手读 1、按下读 0，作业里默认用这个。下拉反过来，代码里的判断条件要跟着反过来，忘了改就会出现按下去没反应。浮空输入不要用于按键，因为没有电阻定电平，引脚读到的值会乱跳。模拟输入留给 ADC 采样用，到时候学传感器再说。看最后一行结论，配错模式最典型的现象就是灯要么不亮、要么长亮。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写按键最常犯的错，是把「按着」当成了「按了一下」。如果只写一句 ReadPin 等于 RESET 就翻转，按住不放的时候灯会一直翻，因为循环每转一圈条件都成立。要按一下动一次，就得记住上一次的电平，找从高到低的那一瞬间，这段代码里的 last 和 now 就是这个意思，注意下一轮循环一定要把 now 存回 last，漏了这一步就会一直触发。右边最后一行是这段代码的命门，很多人写漏了它，然后来找我说按键怎么不好使。再往下区分短按长按就需要计时，第 9 周我们会用定时器做这件事。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第三部分回到一个更细的问题：为什么按一下按键，灯有时候会跳两下？因为机械触点闭合的一瞬间电平并不干净。这一节学会用代码把抖动滤掉，也第一次接触状态机这种写法，它在后面的工程里到处都会用。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先说清楚抖动的来源，它是机械触点的物理特性，弹簧片闭合瞬间会弹几下，这几毫秒里电平在 0 和 1 之间来回跳。芯片跑得太快，每跳一次它都读到了，于是我们以为按了一下，程序却收到好几次。右边是最常用的延时消抖：读到按下，等 20 毫秒让抖动过去，再读一次确认，两次都按下才翻转。为什么是 20 毫秒，因为抖动一般在 10 毫秒以内。这个写法的问题在 Delay，它在等的过程中什么都不干，第 9 周学完定时器，我们会把这段改成不阻塞的状态机，那才是长期做法。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作业里用延时消抖就够了，但工程里不行，因为主循环里还有别的活。判断标准就一条：如果主循环同时还要刷屏、还要发串口，那就不能用会阻塞的延时消抖，得换成状态机，用时间戳判断电平稳定了多久。硬件消抖是另一条路，用 RC 电路把抖动在进入芯片之前就滤掉，代价是加器件、占板面，参数还得算，但换来的是 CPU 完全不操心。这张表不要求背下来，要求的是知道四者的区别在哪，选的时候能说出理由。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最后一部分讲外部中断。前面 CPU 一直守着按键问「按了没」，中断换了个思路：让按键主动通知 CPU。这一节要配通 EXTI、写对回调函数，也要知道中断里哪些事不能做——第 11 周考核的按键部分就要求用中断实现。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中断的配置只在 CubeMX 里做三件事：把引脚模式选成 GPIO_EXTI 并定好触发边沿、勾上 NVIC 里的中断使能、确认优先级。这三步做完再生成代码。第二步特别要提醒，光配了引脚不勾 NVIC，程序编译通过、运行也没报错，就是按下去没反应，这是新手最常见的「没反应」原因。生成的代码里，HAL 已经把中断入口写好了，我们要写的是回调函数，所有 EXTI 线共用这一个回调，所以第一句一定要判断 GPIO_Pin，不判断就会出现按键 A 触发却动了灯 B。最后一句要记住：回调要短。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中断是一个「插队」的机制，它随时会打断主循环，所以里面做的事必须又快又稳。翻转引脚、置标志、计数，这些几微秒就完成，可以放在里面。HAL_Delay 不能放，它靠系统滴答计时，而滴答中断的优先级通常比外部中断低，放进去很可能直接卡住。串口打印也不能放，一次打印几毫秒，后面的中断都要排队，表现就是按键变迟钝。还有一点容易被忽略：中断和主循环共同读写的变量要加 volatile，不然编译器优化之后，主循环会认为这个变量永远不变，标志位永远读不到。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这一页不是让你背表格，是给你一个判断方法。第一看看 CPU 忙不忙：如果主循环里只有按键一件事，轮询完全够用，代码还更好读；如果主循环里还要刷屏、发串口、算 PID，那就不能把 CPU 锁在按键上，这时候中断是唯一选择。第二看事件急不急：按键这种人的操作，晚几毫秒没人在意；但如果是编码器、限位开关、急停，晚一点就是事故。作业第三题要求用 EXTI 实现，第五周考核里也要求按键走中断，这两个题目就是让你把「什么时候该用中断」这件事落实到代码上。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作业一共四题，和这一讲的四块内容一一对应。第一题是概念题，别只写结论，要把「为什么去掉第二个 Delay 灯就长亮」讲清楚，提示一下，想一想写完之后引脚停在什么电平。第二题练配置，重点在上下拉选对没有。第三题开始上中断，注意三件事：引脚模式选对、NVIC 勾上、回调里判断 GPIO_Pin，注释要把流程写清楚，这是我们看代码的第一眼。第四题换引脚，是让你体会「换一根脚要改几个地方」，这题做明白了，第五周考核里换引脚的活就不慌了。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最后说五条提交要求，它们和代码一样重要，每年都有人在这里丢分。第一，注释统一 UTF-8，这是硬要求，Keil 默认的编码在别人电脑上会变成乱码，改一下设置就能解决。第二，视频、代码、其他材料放进同一个压缩包，不要发一堆文件过来。第三，包名按班级加姓名加第几次任务，示例就在屏幕上。第四，邮件主题和压缩包同名，压缩包当附件。第五，作业不要求每周内完成，这是给大家留时间，但第六周考核的上传截止时间之前必须全部交齐，拖到最后一周是交不完的，我提醒过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这节课的四块内容：建工程点灯、按键输入与上下拉、按键消抖、外部中断，作业就是这四块的延伸。回去先把工程跑通，把四道题做完，注释记得用 UTF-8。下周六同一时间，我们讲定时器与 PWM，用它来做不阻塞的闪灯和呼吸灯。下课。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-7315198" y="-5753098"/>
            <a:ext cx="27050999" cy="20192999"/>
          </a:xfrm>
          <a:custGeom>
            <a:avLst/>
            <a:gdLst/>
            <a:ahLst/>
            <a:cxnLst/>
            <a:rect l="l" t="t" r="r" b="b"/>
            <a:pathLst>
              <a:path w="27050999" h="20192999">
                <a:moveTo>
                  <a:pt x="7467599" y="5905499"/>
                </a:moveTo>
                <a:lnTo>
                  <a:pt x="7467599" y="12763499"/>
                </a:lnTo>
                <a:lnTo>
                  <a:pt x="19659599" y="12763499"/>
                </a:lnTo>
                <a:lnTo>
                  <a:pt x="19659599" y="5905499"/>
                </a:lnTo>
                <a:close/>
                <a:moveTo>
                  <a:pt x="0" y="0"/>
                </a:moveTo>
                <a:lnTo>
                  <a:pt x="27050999" y="0"/>
                </a:lnTo>
                <a:lnTo>
                  <a:pt x="27050999" y="20192999"/>
                </a:lnTo>
                <a:lnTo>
                  <a:pt x="0" y="20192999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0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pic" sz="quarter" idx="1"/>
          </p:nvPr>
        </p:nvSpPr>
        <p:spPr>
          <a:xfrm>
            <a:off x="910379" y="1873354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/>
          <p:nvPr>
            <p:ph type="pic" sz="quarter" idx="2"/>
          </p:nvPr>
        </p:nvSpPr>
        <p:spPr>
          <a:xfrm>
            <a:off x="2938349" y="1873353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pic" sz="quarter" idx="3"/>
          </p:nvPr>
        </p:nvSpPr>
        <p:spPr>
          <a:xfrm>
            <a:off x="910378" y="3886331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pic" sz="quarter" idx="4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pic" sz="quarter" idx="5"/>
          </p:nvPr>
        </p:nvSpPr>
        <p:spPr>
          <a:xfrm>
            <a:off x="5635724" y="0"/>
            <a:ext cx="4732259" cy="6858000"/>
          </a:xfrm>
          <a:prstGeom prst="roundRect">
            <a:avLst>
              <a:gd name="adj" fmla="val 14725504"/>
            </a:avLst>
          </a:prstGeom>
          <a:solidFill>
            <a:srgbClr val="F2F2F2">
              <a:alpha val="100000"/>
            </a:srgbClr>
          </a:solidFill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3436373"/>
          </a:xfrm>
          <a:prstGeom prst="rect">
            <a:avLst/>
          </a:prstGeom>
          <a:gradFill rotWithShape="1">
            <a:gsLst>
              <a:gs pos="0">
                <a:srgbClr val="0460C7">
                  <a:alpha val="100000"/>
                </a:srgbClr>
              </a:gs>
              <a:gs pos="100000">
                <a:srgbClr val="034895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>
            <p:ph type="pic" sz="quarter" idx="6"/>
          </p:nvPr>
        </p:nvSpPr>
        <p:spPr>
          <a:xfrm>
            <a:off x="7030064" y="559769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317500" dist="152400" dir="2700000" algn="tl" rotWithShape="0">
              <a:srgbClr val="000000">
                <a:alpha val="24000"/>
              </a:srgbClr>
            </a:outerShdw>
          </a:effectLst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pic" sz="quarter" idx="7"/>
          </p:nvPr>
        </p:nvSpPr>
        <p:spPr>
          <a:xfrm>
            <a:off x="622006" y="3615026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317500" dist="152400" dir="2700000" algn="tl" rotWithShape="0">
              <a:srgbClr val="000000">
                <a:alpha val="24000"/>
              </a:srgbClr>
            </a:outerShdw>
          </a:effectLst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Freeform 1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90500" y="1360714"/>
            <a:ext cx="6408964" cy="4640036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Freeform 10"/>
          <p:cNvSpPr/>
          <p:nvPr/>
        </p:nvSpPr>
        <p:spPr>
          <a:xfrm rot="10800000">
            <a:off x="-4121880" y="1823357"/>
            <a:ext cx="8390917" cy="766246"/>
          </a:xfrm>
          <a:custGeom>
            <a:avLst/>
            <a:gdLst/>
            <a:ahLst/>
            <a:cxnLst/>
            <a:rect l="l" t="t" r="r" b="b"/>
            <a:pathLst>
              <a:path w="8390917" h="766246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rgbClr val="F0F0F0">
              <a:alpha val="6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 rot="2977103">
            <a:off x="8466446" y="2089651"/>
            <a:ext cx="3245258" cy="3776827"/>
          </a:xfrm>
          <a:prstGeom prst="parallelogram">
            <a:avLst>
              <a:gd name="adj" fmla="val 25000"/>
            </a:avLst>
          </a:prstGeom>
          <a:solidFill>
            <a:srgbClr val="0000B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2803763" y="2064282"/>
            <a:ext cx="9818733" cy="2317218"/>
          </a:xfrm>
          <a:custGeom>
            <a:avLst/>
            <a:gdLst/>
            <a:ahLst/>
            <a:cxnLst/>
            <a:rect l="l" t="t" r="r" b="b"/>
            <a:pathLst>
              <a:path w="9818733" h="2317218">
                <a:moveTo>
                  <a:pt x="1358028" y="0"/>
                </a:moveTo>
                <a:lnTo>
                  <a:pt x="9818733" y="0"/>
                </a:lnTo>
                <a:lnTo>
                  <a:pt x="9818733" y="2317218"/>
                </a:lnTo>
                <a:lnTo>
                  <a:pt x="0" y="2317218"/>
                </a:lnTo>
                <a:close/>
              </a:path>
            </a:pathLst>
          </a:cu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 rot="10800000" flipV="1">
            <a:off x="-4122005" y="4421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 rot="10800000">
            <a:off x="-2695316" y="5619146"/>
            <a:ext cx="6289317" cy="574331"/>
          </a:xfrm>
          <a:custGeom>
            <a:avLst/>
            <a:gdLst/>
            <a:ahLst/>
            <a:cxnLst/>
            <a:rect l="l" t="t" r="r" b="b"/>
            <a:pathLst>
              <a:path w="6289317" h="574331">
                <a:moveTo>
                  <a:pt x="6269961" y="0"/>
                </a:moveTo>
                <a:lnTo>
                  <a:pt x="6289317" y="0"/>
                </a:lnTo>
                <a:lnTo>
                  <a:pt x="6289317" y="574331"/>
                </a:lnTo>
                <a:lnTo>
                  <a:pt x="0" y="574331"/>
                </a:lnTo>
                <a:lnTo>
                  <a:pt x="251978" y="144379"/>
                </a:lnTo>
                <a:lnTo>
                  <a:pt x="6269961" y="144379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 rot="10800000">
            <a:off x="-383223" y="6193477"/>
            <a:ext cx="5180980" cy="473119"/>
          </a:xfrm>
          <a:custGeom>
            <a:avLst/>
            <a:gdLst/>
            <a:ahLst/>
            <a:cxnLst/>
            <a:rect l="l" t="t" r="r" b="b"/>
            <a:pathLst>
              <a:path w="5180980" h="473119">
                <a:moveTo>
                  <a:pt x="5165034" y="0"/>
                </a:moveTo>
                <a:lnTo>
                  <a:pt x="5180980" y="0"/>
                </a:lnTo>
                <a:lnTo>
                  <a:pt x="5180980" y="473119"/>
                </a:lnTo>
                <a:lnTo>
                  <a:pt x="0" y="473119"/>
                </a:lnTo>
                <a:lnTo>
                  <a:pt x="207574" y="118936"/>
                </a:lnTo>
                <a:lnTo>
                  <a:pt x="5165034" y="118936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 rot="-3659522">
            <a:off x="9248546" y="3449847"/>
            <a:ext cx="2824243" cy="4476772"/>
          </a:xfrm>
          <a:custGeom>
            <a:avLst/>
            <a:gdLst/>
            <a:ahLst/>
            <a:cxnLst/>
            <a:rect l="l" t="t" r="r" b="b"/>
            <a:pathLst>
              <a:path w="2824243" h="4476772">
                <a:moveTo>
                  <a:pt x="0" y="2594027"/>
                </a:moveTo>
                <a:lnTo>
                  <a:pt x="942392" y="0"/>
                </a:lnTo>
                <a:lnTo>
                  <a:pt x="2824243" y="4476772"/>
                </a:lnTo>
                <a:lnTo>
                  <a:pt x="0" y="2594027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530263" y="1342006"/>
            <a:ext cx="1131474" cy="48245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067064" y="1107039"/>
            <a:ext cx="606981" cy="25881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97757" y="6133027"/>
            <a:ext cx="4716356" cy="33855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6565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培训时间：第8周 10.24　主讲人：＿＿＿＿＿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4269037" y="2765633"/>
            <a:ext cx="8900796" cy="154781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5400" b="0" i="1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电控组第三讲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 rot="10800000" flipV="1">
            <a:off x="122464" y="544286"/>
            <a:ext cx="6939643" cy="3401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1" u="none" strike="noStrike" spc="11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『生无所息，斗无所止』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00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5056505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关于时间安排: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08014" y="1109242"/>
            <a:ext cx="7645310" cy="487602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 rot="2380623">
            <a:off x="11528781" y="-382476"/>
            <a:ext cx="687161" cy="5225545"/>
          </a:xfrm>
          <a:custGeom>
            <a:avLst/>
            <a:gdLst/>
            <a:ahLst/>
            <a:cxnLst/>
            <a:rect l="l" t="t" r="r" b="b"/>
            <a:pathLst>
              <a:path w="687161" h="5225545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2380623">
            <a:off x="-511296" y="-1203550"/>
            <a:ext cx="2174008" cy="4424167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 rot="2380623">
            <a:off x="1452010" y="-2589138"/>
            <a:ext cx="981375" cy="8713877"/>
          </a:xfrm>
          <a:prstGeom prst="roundRect">
            <a:avLst>
              <a:gd name="adj" fmla="val 0"/>
            </a:avLst>
          </a:prstGeom>
          <a:solidFill>
            <a:srgbClr val="00A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 rot="8785094">
            <a:off x="-476482" y="-332819"/>
            <a:ext cx="808317" cy="3628428"/>
          </a:xfrm>
          <a:custGeom>
            <a:avLst/>
            <a:gdLst/>
            <a:ahLst/>
            <a:cxnLst/>
            <a:rect l="l" t="t" r="r" b="b"/>
            <a:pathLst>
              <a:path w="808317" h="3628428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65171" y="2821044"/>
            <a:ext cx="532402" cy="392937"/>
          </a:xfrm>
          <a:custGeom>
            <a:avLst/>
            <a:gdLst/>
            <a:ahLst/>
            <a:cxnLst/>
            <a:rect l="l" t="t" r="r" b="b"/>
            <a:pathLst>
              <a:path w="532402" h="392937">
                <a:moveTo>
                  <a:pt x="531894" y="392184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 rot="8785094">
            <a:off x="55920" y="-982343"/>
            <a:ext cx="808317" cy="3628428"/>
          </a:xfrm>
          <a:custGeom>
            <a:avLst/>
            <a:gdLst/>
            <a:ahLst/>
            <a:cxnLst/>
            <a:rect l="l" t="t" r="r" b="b"/>
            <a:pathLst>
              <a:path w="808317" h="3628428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 rot="2380623">
            <a:off x="1588692" y="1005717"/>
            <a:ext cx="687161" cy="5225545"/>
          </a:xfrm>
          <a:custGeom>
            <a:avLst/>
            <a:gdLst/>
            <a:ahLst/>
            <a:cxnLst/>
            <a:rect l="l" t="t" r="r" b="b"/>
            <a:pathLst>
              <a:path w="687161" h="5225545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996097" y="2113157"/>
            <a:ext cx="1203960" cy="70675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460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30470" y="2906310"/>
            <a:ext cx="683260" cy="68326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5906299" y="2944410"/>
            <a:ext cx="5301615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blurRad="12700" dist="38100" dir="27000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GPIO 输入与按键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24755" y="3948762"/>
            <a:ext cx="683260" cy="68326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5883275" y="3938602"/>
            <a:ext cx="5301615" cy="6463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blurRad="12700" dist="38100" dir="27000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按键消抖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013325" y="1856626"/>
            <a:ext cx="683260" cy="68326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5883275" y="1894726"/>
            <a:ext cx="5741166" cy="6463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0" i="1" u="none" strike="noStrike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blurRad="12700" dist="38100" dir="27000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工程建立与 GPIO 输出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13325" y="5001374"/>
            <a:ext cx="683260" cy="68326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5871845" y="4991214"/>
            <a:ext cx="5301615" cy="6463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blurRad="12700" dist="38100" dir="27000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外部中断 EXTI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76893" y="1002574"/>
            <a:ext cx="6354536" cy="459921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Freeform 10"/>
          <p:cNvSpPr/>
          <p:nvPr/>
        </p:nvSpPr>
        <p:spPr>
          <a:xfrm rot="-7617807" flipV="1">
            <a:off x="6011572" y="-3138352"/>
            <a:ext cx="2098521" cy="10814693"/>
          </a:xfrm>
          <a:custGeom>
            <a:avLst/>
            <a:gdLst/>
            <a:ahLst/>
            <a:cxnLst/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 rot="3805419">
            <a:off x="6757538" y="2864877"/>
            <a:ext cx="646538" cy="1118147"/>
          </a:xfrm>
          <a:custGeom>
            <a:avLst/>
            <a:gdLst/>
            <a:ahLst/>
            <a:cxnLst/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 rot="3239350">
            <a:off x="3210408" y="3964146"/>
            <a:ext cx="4303213" cy="5920511"/>
          </a:xfrm>
          <a:custGeom>
            <a:avLst/>
            <a:gdLst/>
            <a:ahLst/>
            <a:cxnLst/>
            <a:rect l="l" t="t" r="r" b="b"/>
            <a:pathLst>
              <a:path w="4303213" h="5920511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 rot="-7617807" flipV="1">
            <a:off x="10929458" y="1005823"/>
            <a:ext cx="1025939" cy="5287159"/>
          </a:xfrm>
          <a:custGeom>
            <a:avLst/>
            <a:gdLst/>
            <a:ahLst/>
            <a:cxnLst/>
            <a:rect l="l" t="t" r="r" b="b"/>
            <a:pathLst>
              <a:path w="1025939" h="528715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 rot="10800000" flipV="1">
            <a:off x="-4825040" y="53316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 rot="10800000" flipV="1">
            <a:off x="-4122005" y="4421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 rot="10800000" flipV="1">
            <a:off x="122464" y="544286"/>
            <a:ext cx="6939643" cy="3401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1" u="none" strike="noStrike" spc="11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『生无所息，斗无所止』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 rot="-2264654">
            <a:off x="4168351" y="1430526"/>
            <a:ext cx="6009640" cy="24622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工程建立与 GPIO 输出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从写 C 到点灯，中间多了哪几层？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92734" y="1574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启动文件与链接脚本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 程序从 main 开始，单片机却是先跑 startup 汇编：它设置栈指针、初始化时钟，再跳进 main。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792734" y="2463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HAL 库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HAL_GPIO_TogglePin() 内部帮你算好了寄存器地址与位号，不用自己查手册写十六进制。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792734" y="3352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下载器与 Flash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ST-Link 把编译好的 bin 烧进 Flash，掉电不丢；单步调试靠 SWD 两根线。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6629400" y="1524000"/>
            <a:ext cx="4495800" cy="269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 main(void) {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HAL_Init();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SystemClock_Config();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MX_GPIO_Init(); // CubeMX 生成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while (1) {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HAL_GPIO_TogglePin(GPIOC, GPIO_PIN_13);</a:t>
            </a:r>
            <a:endParaRPr lang="en-US" sz="1500" b="0" i="0" u="none" strike="noStrike">
              <a:solidFill>
                <a:srgbClr val="8C46BE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HAL_Delay(500);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45720" rIns="17780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 负责逻辑，HAL 负责接口，工程负责底座——三者齐了，灯才会亮。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建工程：五步怎么走完？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92734" y="1574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选芯片、定时钟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 STM32F103C8T6，外部晶振 8MHz 倍频到 72MHz——时钟不对，串口和定时器全是错的。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792734" y="2463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配引脚、命名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PC13 点成 GPIO_Output，模式选推挽输出、无上下拉；引脚改名 LED 以后好找。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792734" y="3352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生成、只改 USER CODE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Toolchain 选 MDK-ARM；自己写的代码放在 USER CODE BEGIN 与 END 之间，重新生成不会被冲掉。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6629400" y="1524000"/>
            <a:ext cx="4495800" cy="269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 MX_GPIO_Init(void) {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GPIO_InitTypeDef g = {0};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g.Pin = GPIO_PIN_13;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g.Mode = GPIO_MODE_OUTPUT_PP;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g.Pull = GPIO_NOPULL;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g.Speed = GPIO_SPEED_FREQ_HIGH;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HAL_GPIO_Init(GPIOC, &amp;g);</a:t>
            </a:r>
            <a:endParaRPr lang="en-US" sz="1500" b="0" i="0" u="none" strike="noStrike">
              <a:solidFill>
                <a:srgbClr val="8C46BE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45720" rIns="17780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CubeMX 把寄存器配置翻译成 init 代码，你的工作只剩 while(1) 里那几行逻辑。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点亮一颗 LED：三行代码够不够？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92734" y="1574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WritePin 定电平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三个参数：哪个口、哪根脚、给高还是给低。PC13 是低电平点亮，写 RESET 才亮。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792734" y="2463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TogglePin 翻转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翻转不用记当前电平，配一次 Delay 就是闪烁；想快想慢，只改 Delay 的毫秒数。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792734" y="3352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Delay 的代价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HAL_Delay 是空转等待，等待期间什么都干不了——灯闪了，按键就顾不上，这是真实问题。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6629400" y="1524000"/>
            <a:ext cx="4495800" cy="269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while (1) {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HAL_GPIO_WritePin(GPIOC, GPIO_PIN_13, GPIO_PIN_RESET);</a:t>
            </a:r>
            <a:endParaRPr lang="en-US" sz="1500" b="0" i="0" u="none" strike="noStrike">
              <a:solidFill>
                <a:srgbClr val="8C46BE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HAL_Delay(1000);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HAL_GPIO_WritePin(GPIOC, GPIO_PIN_13, GPIO_PIN_SET);</a:t>
            </a:r>
            <a:endParaRPr lang="en-US" sz="1500" b="0" i="0" u="none" strike="noStrike">
              <a:solidFill>
                <a:srgbClr val="8C46BE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HAL_Delay(1000);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45720" rIns="17780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想一想：两个 HAL_Delay(1000) 都留着，灯是 1 秒闪一次；去掉第二个，灯会怎样？作业里有这道题。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76893" y="1002574"/>
            <a:ext cx="6354536" cy="459921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Freeform 10"/>
          <p:cNvSpPr/>
          <p:nvPr/>
        </p:nvSpPr>
        <p:spPr>
          <a:xfrm rot="-7617807" flipV="1">
            <a:off x="6011572" y="-3138352"/>
            <a:ext cx="2098521" cy="10814693"/>
          </a:xfrm>
          <a:custGeom>
            <a:avLst/>
            <a:gdLst/>
            <a:ahLst/>
            <a:cxnLst/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 rot="3805419">
            <a:off x="6757538" y="2864877"/>
            <a:ext cx="646538" cy="1118147"/>
          </a:xfrm>
          <a:custGeom>
            <a:avLst/>
            <a:gdLst/>
            <a:ahLst/>
            <a:cxnLst/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 rot="3239350">
            <a:off x="3210408" y="3964146"/>
            <a:ext cx="4303213" cy="5920511"/>
          </a:xfrm>
          <a:custGeom>
            <a:avLst/>
            <a:gdLst/>
            <a:ahLst/>
            <a:cxnLst/>
            <a:rect l="l" t="t" r="r" b="b"/>
            <a:pathLst>
              <a:path w="4303213" h="5920511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 rot="-7617807" flipV="1">
            <a:off x="10929458" y="1005823"/>
            <a:ext cx="1025939" cy="5287159"/>
          </a:xfrm>
          <a:custGeom>
            <a:avLst/>
            <a:gdLst/>
            <a:ahLst/>
            <a:cxnLst/>
            <a:rect l="l" t="t" r="r" b="b"/>
            <a:pathLst>
              <a:path w="1025939" h="528715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 rot="10800000" flipV="1">
            <a:off x="-4825040" y="53316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 rot="10800000" flipV="1">
            <a:off x="-4122005" y="4421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 rot="10800000" flipV="1">
            <a:off x="122464" y="544286"/>
            <a:ext cx="6939643" cy="3401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1" u="none" strike="noStrike" spc="11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『生无所息，斗无所止』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 rot="-2264654">
            <a:off x="4168351" y="1430526"/>
            <a:ext cx="6009640" cy="24622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GPIO 输入与按键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按键按下读到 0，是谁定的？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92734" y="1574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上拉输入：平时 1，按下 0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引脚内部经电阻接 VCC，按键另一端接地。松手读到高电平，按下被拉低——最常用接法。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792734" y="2463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下拉输入：平时 0，按下 1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电阻接 GND，按下接 VCC。判断逻辑要跟着反过来写，接反了灯会一直亮或一直不亮。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792734" y="3352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浮空输入：绝对不能用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没有电阻定电平，引脚像根天线，读到的值随手指和空气乱跳，程序无法判断。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6629400" y="1524000"/>
            <a:ext cx="4495800" cy="269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CubeMX: PB1 -&gt; GPIO_Input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Pull-up -&gt; 平时读 1</a:t>
            </a:r>
            <a:endParaRPr lang="en-US" sz="15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(HAL_GPIO_ReadPin(GPIOB, GPIO_PIN_1)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== GPIO_PIN_RESET) {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HAL_GPIO_WritePin(GPIOC,</a:t>
            </a:r>
            <a:endParaRPr lang="en-US" sz="1500" b="0" i="0" u="none" strike="noStrike">
              <a:solidFill>
                <a:srgbClr val="8C46BE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GPIO_PIN_13, GPIO_PIN_RESET);</a:t>
            </a:r>
            <a:endParaRPr lang="en-US" sz="1500" b="0" i="0" u="none" strike="noStrike">
              <a:solidFill>
                <a:srgbClr val="8C46BE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45720" rIns="17780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「按下读到 0 还是 1」由 CubeMX 里的上拉/下拉决定，代码只负责如实读出来。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四种输入模式，按键该选哪一种？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2734" y="1498600"/>
            <a:ext cx="10515600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939800" y="15113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模式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3098800" y="15113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松手时电平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5130800" y="15113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按下时电平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7289800" y="15113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能不能用在按键上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92734" y="19812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92734" y="30988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939800" y="1993900"/>
            <a:ext cx="203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上拉输入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3098800" y="1993900"/>
            <a:ext cx="190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1（高）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5130800" y="1993900"/>
            <a:ext cx="190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0（低）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7289800" y="1993900"/>
            <a:ext cx="381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推荐，作业里就用它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939800" y="2552700"/>
            <a:ext cx="203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下拉输入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3098800" y="2552700"/>
            <a:ext cx="190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0（低）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5130800" y="2552700"/>
            <a:ext cx="190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1（高）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7289800" y="2552700"/>
            <a:ext cx="381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可用，判断条件要反过来写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939800" y="3111500"/>
            <a:ext cx="203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浮空输入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3098800" y="3111500"/>
            <a:ext cx="190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不确定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5130800" y="3111500"/>
            <a:ext cx="190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不确定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7289800" y="3111500"/>
            <a:ext cx="381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不要用，读数会乱跳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939800" y="3670300"/>
            <a:ext cx="203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模拟输入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3098800" y="3670300"/>
            <a:ext cx="190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连续电压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5130800" y="3670300"/>
            <a:ext cx="190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连续电压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7289800" y="3670300"/>
            <a:ext cx="381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 ADC 采样用，不接按键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45720" rIns="17780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同一个按键配上拉和配下拉，代码里判断的电平正好相反——选错模式，现象就是灯不亮或长亮。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读按键：只判断一次电平够不够？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92734" y="1574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判断电平：现在按着吗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ReadPin 等于 RESET 就是按着。按住不放它会一直成立，灯会一直翻，不是「按一下翻一次」。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792734" y="2463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判断边沿：刚刚按了一下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存下上一次的电平，只有「上次 1、这次 0」才算一次按下——这才是按一下动一次。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792734" y="3352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区分短按与长按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要计时就得有「现在几点」，HAL_GetTick 能凑合，第 9 周的定时器才是正规做法。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6629400" y="1524000"/>
            <a:ext cx="4495800" cy="269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static uint8_t last = 1;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uint8_t now = HAL_GPIO_ReadPin(GPIOB, GPIO_PIN_1);</a:t>
            </a:r>
            <a:endParaRPr lang="en-US" sz="1500" b="0" i="0" u="none" strike="noStrike">
              <a:solidFill>
                <a:srgbClr val="8C46BE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下降沿：刚刚按下</a:t>
            </a:r>
            <a:endParaRPr lang="en-US" sz="15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(last == 1 &amp;&amp; now == 0) {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HAL_GPIO_TogglePin(GPIOC, GPIO_PIN_13);</a:t>
            </a:r>
            <a:endParaRPr lang="en-US" sz="1500" b="0" i="0" u="none" strike="noStrike">
              <a:solidFill>
                <a:srgbClr val="8C46BE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last = now;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45720" rIns="17780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判断电平回答「现在按着吗」，判断边沿回答「刚刚按了一下」——两个需求不能混在同一行 if 里。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76893" y="1002574"/>
            <a:ext cx="6354536" cy="459921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Freeform 10"/>
          <p:cNvSpPr/>
          <p:nvPr/>
        </p:nvSpPr>
        <p:spPr>
          <a:xfrm rot="-7617807" flipV="1">
            <a:off x="6011572" y="-3138352"/>
            <a:ext cx="2098521" cy="10814693"/>
          </a:xfrm>
          <a:custGeom>
            <a:avLst/>
            <a:gdLst/>
            <a:ahLst/>
            <a:cxnLst/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 rot="3805419">
            <a:off x="6757538" y="2864877"/>
            <a:ext cx="646538" cy="1118147"/>
          </a:xfrm>
          <a:custGeom>
            <a:avLst/>
            <a:gdLst/>
            <a:ahLst/>
            <a:cxnLst/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 rot="3239350">
            <a:off x="3210408" y="3964146"/>
            <a:ext cx="4303213" cy="5920511"/>
          </a:xfrm>
          <a:custGeom>
            <a:avLst/>
            <a:gdLst/>
            <a:ahLst/>
            <a:cxnLst/>
            <a:rect l="l" t="t" r="r" b="b"/>
            <a:pathLst>
              <a:path w="4303213" h="5920511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 rot="-7617807" flipV="1">
            <a:off x="10929458" y="1005823"/>
            <a:ext cx="1025939" cy="5287159"/>
          </a:xfrm>
          <a:custGeom>
            <a:avLst/>
            <a:gdLst/>
            <a:ahLst/>
            <a:cxnLst/>
            <a:rect l="l" t="t" r="r" b="b"/>
            <a:pathLst>
              <a:path w="1025939" h="528715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 rot="10800000" flipV="1">
            <a:off x="-4825040" y="53316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 rot="10800000" flipV="1">
            <a:off x="-4122005" y="4421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 rot="10800000" flipV="1">
            <a:off x="122464" y="544286"/>
            <a:ext cx="6939643" cy="3401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1" u="none" strike="noStrike" spc="11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『生无所息，斗无所止』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 rot="-2264654">
            <a:off x="4168351" y="1430526"/>
            <a:ext cx="6009640" cy="24622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按键消抖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抖动从哪来，怎么在代码里滤掉？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92734" y="1574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抖动是机械问题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触点闭合的几毫秒内会反复通断，不是芯片的错；CPU 一毫秒能读几百次，全都读到了。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792734" y="2463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延时消抖：20ms 后再确认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读到按下后等 20 毫秒再读一次，两次都是按下才认账。简单有效，但 Delay 会挡住别的事。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792734" y="3352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状态机消抖：不阻塞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用时间戳和状态变量判断，不等不卡；等第 9 周定时器到位，这才是工程里的标准写法。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6629400" y="1524000"/>
            <a:ext cx="4495800" cy="269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uint8_t now = ReadKey();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(now == 0 &amp;&amp; last == 1) {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HAL_Delay(20);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(ReadKey() == 0) { // 再确认一次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HAL_GPIO_TogglePin(GPIOC, GPIO_PIN_13);</a:t>
            </a:r>
            <a:endParaRPr lang="en-US" sz="1500" b="0" i="0" u="none" strike="noStrike">
              <a:solidFill>
                <a:srgbClr val="8C46BE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last = now;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45720" rIns="17780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抖动的本质是「一次按下被读成很多次」；消抖就是让这很多次只算一次。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四种消抖方案，怎么选？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2734" y="1498600"/>
            <a:ext cx="10515600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939800" y="15113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3225800" y="15113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怎么判断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527800" y="15113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代价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8813800" y="15113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用在哪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92734" y="19812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92734" y="30988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939800" y="1993900"/>
            <a:ext cx="2159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延时消抖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3225800" y="1993900"/>
            <a:ext cx="317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 20ms 再读一次确认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6527800" y="1993900"/>
            <a:ext cx="2159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主循环停 20ms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8813800" y="1993900"/>
            <a:ext cx="2413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作业、单个按键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939800" y="2552700"/>
            <a:ext cx="2159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计数消抖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3225800" y="2552700"/>
            <a:ext cx="317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连续 N 次读到相同才认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6527800" y="2552700"/>
            <a:ext cx="2159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次数不好定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8813800" y="2552700"/>
            <a:ext cx="2413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循环稳定的简单场合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939800" y="3111500"/>
            <a:ext cx="2159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状态机消抖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3225800" y="3111500"/>
            <a:ext cx="317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用时间戳判稳定时长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6527800" y="3111500"/>
            <a:ext cx="2159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代码稍长，要有时间基准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8813800" y="3111500"/>
            <a:ext cx="2413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工程里的标准做法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939800" y="3670300"/>
            <a:ext cx="2159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硬件消抖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3225800" y="3670300"/>
            <a:ext cx="317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RC 电路或专用芯片先滤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6527800" y="3670300"/>
            <a:ext cx="2159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加器件、占板面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8813800" y="3670300"/>
            <a:ext cx="2413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按键多、CPU 忙的场合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45720" rIns="17780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先问一句：主循环里除了按键还有别的事吗？只有按键，延时消抖就够；还有别的事，必须换成状态机或硬件。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76893" y="1002574"/>
            <a:ext cx="6354536" cy="459921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Freeform 10"/>
          <p:cNvSpPr/>
          <p:nvPr/>
        </p:nvSpPr>
        <p:spPr>
          <a:xfrm rot="-7617807" flipV="1">
            <a:off x="6011572" y="-3138352"/>
            <a:ext cx="2098521" cy="10814693"/>
          </a:xfrm>
          <a:custGeom>
            <a:avLst/>
            <a:gdLst/>
            <a:ahLst/>
            <a:cxnLst/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 rot="3805419">
            <a:off x="6757538" y="2864877"/>
            <a:ext cx="646538" cy="1118147"/>
          </a:xfrm>
          <a:custGeom>
            <a:avLst/>
            <a:gdLst/>
            <a:ahLst/>
            <a:cxnLst/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 rot="3239350">
            <a:off x="3210408" y="3964146"/>
            <a:ext cx="4303213" cy="5920511"/>
          </a:xfrm>
          <a:custGeom>
            <a:avLst/>
            <a:gdLst/>
            <a:ahLst/>
            <a:cxnLst/>
            <a:rect l="l" t="t" r="r" b="b"/>
            <a:pathLst>
              <a:path w="4303213" h="5920511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 rot="-7617807" flipV="1">
            <a:off x="10929458" y="1005823"/>
            <a:ext cx="1025939" cy="5287159"/>
          </a:xfrm>
          <a:custGeom>
            <a:avLst/>
            <a:gdLst/>
            <a:ahLst/>
            <a:cxnLst/>
            <a:rect l="l" t="t" r="r" b="b"/>
            <a:pathLst>
              <a:path w="1025939" h="528715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 rot="10800000" flipV="1">
            <a:off x="-4825040" y="53316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 rot="10800000" flipV="1">
            <a:off x="-4122005" y="4421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 rot="10800000" flipV="1">
            <a:off x="122464" y="544286"/>
            <a:ext cx="6939643" cy="3401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1" u="none" strike="noStrike" spc="11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『生无所息，斗无所止』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 rot="-2264654">
            <a:off x="4168351" y="1430526"/>
            <a:ext cx="6009640" cy="24622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外部中断 EXTI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EXTI 怎么配，中断函数写在哪？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92734" y="1574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定触发边沿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PB1 在 CubeMX 里选 GPIO_EXTI1，按键接地配下降沿：松手是 1，按下瞬间跳成 0 就触发。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792734" y="2463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NVIC 里使能中断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光配引脚不勾 NVIC，中断永远不会进——报错没有，只是没反应，这个坑非常常见。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792734" y="3352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逻辑写进回调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 EXTI 共用一个回调，先用 GPIO_Pin 判断是谁触发的，再决定做什么。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6629400" y="1524000"/>
            <a:ext cx="4495800" cy="269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USER CODE 区里自己写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 HAL_GPIO_EXTI_Callback(uint16_t GPIO_Pin)</a:t>
            </a:r>
            <a:endParaRPr lang="en-US" sz="1500" b="0" i="0" u="none" strike="noStrike">
              <a:solidFill>
                <a:srgbClr val="8C46BE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(GPIO_Pin == GPIO_PIN_1) {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HAL_GPIO_TogglePin(GPIOC, GPIO_PIN_13);</a:t>
            </a:r>
            <a:endParaRPr lang="en-US" sz="1500" b="0" i="0" u="none" strike="noStrike">
              <a:solidFill>
                <a:srgbClr val="8C46BE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45720" rIns="17780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配置在 CubeMX 里做完，处理逻辑写进回调——回调里只做最短的事，长活儿交回主循环。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中断里什么能做，什么不能做？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92734" y="1574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能做的：几微秒的事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翻转一个引脚、把一个标志位置 1、存一个计数——做完立刻退出，这才是中断该干的事。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792734" y="2463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不能做的：等待与打印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HAL_Delay、长循环、串口打印都要占时间，会让别的中断排队，严重时程序像死机。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792734" y="3352800"/>
            <a:ext cx="546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共享变量的坑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中断和主循环都要读写的变量必须加 volatile，否则编译器可能认为它没变过，把它优化掉。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6629400" y="1524000"/>
            <a:ext cx="4495800" cy="269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volatile uint8_t key_flag = 0;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 HAL_GPIO_EXTI_Callback(uint16_t pin)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(pin == GPIO_PIN_1) key_flag = 1; // 只记一笔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主循环里慢慢处理</a:t>
            </a:r>
            <a:endParaRPr lang="en-US" sz="15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(key_flag) { key_flag = 0; /* 干重活 */ }</a:t>
            </a:r>
            <a:endParaRPr lang="en-US" sz="15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45720" rIns="17780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中断只负责「记一笔」，主循环负责「忙一阵」——分工清楚，程序才不会被一次按键卡住。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轮询还是中断，判断标准是什么？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2734" y="1498600"/>
            <a:ext cx="10515600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939800" y="15113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对比项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2844800" y="151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轮询（while 里读）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5892800" y="15113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中断（EXTI 通知）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9194800" y="15113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92734" y="19812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92734" y="30988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939800" y="1993900"/>
            <a:ext cx="1778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CPU 占用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2844800" y="1993900"/>
            <a:ext cx="2921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每一圈都问一遍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5892800" y="1993900"/>
            <a:ext cx="317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只有事件来了才跑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9194800" y="1993900"/>
            <a:ext cx="203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中断省时间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939800" y="2552700"/>
            <a:ext cx="1778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响应速度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2844800" y="2552700"/>
            <a:ext cx="2921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看循环一圈多快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5892800" y="2552700"/>
            <a:ext cx="317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微秒级，立刻进回调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9194800" y="2552700"/>
            <a:ext cx="203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中断更及时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939800" y="3111500"/>
            <a:ext cx="1778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代码难度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2844800" y="3111500"/>
            <a:ext cx="2921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直观，一眼看懂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5892800" y="3111500"/>
            <a:ext cx="317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要配 NVIC、注意共享变量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9194800" y="3111500"/>
            <a:ext cx="203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轮询好写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939800" y="3670300"/>
            <a:ext cx="1778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适合场景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2844800" y="3670300"/>
            <a:ext cx="2921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按键少、主循环空闲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5892800" y="3670300"/>
            <a:ext cx="317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任务多、要省电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9194800" y="3670300"/>
            <a:ext cx="203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按需求选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45720" rIns="17780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两个问题定方案：CPU 还有别的事要做吗？这个事件有多急？——答不上来，说明需求还没想清。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课后作业 3：从延时到中断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2734" y="14986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574800" y="1498600"/>
            <a:ext cx="95504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解释现象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两个 HAL_Delay(1000) 都保留时，灯 1 秒闪一次；去掉第二个，灯会一直亮。先说清为什么，再动手改一遍验证。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92734" y="23622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574800" y="2362200"/>
            <a:ext cx="95504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CubeMX 配置按键控灯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CubeMX 配置一个按键，控制 PC13 上的灯：按下点亮，再按熄灭。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92734" y="32258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574800" y="3225800"/>
            <a:ext cx="95504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EXTI 实现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PB1 做外部中断，控制 PA1 上的 LED 亮灭，并在代码里用注释说明整个执行流程。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92734" y="4089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574800" y="4089400"/>
            <a:ext cx="95504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换一根引脚再来一遍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换成 PA11 做外部中断，同样控制 PA1 上的 LED——换引脚时要改哪些地方，自己总结。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92734" y="50292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45720" rIns="17780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四道题正好对应本节四块内容，做完再上传；代码注释必须统一 UTF-8，否则别人打开全是乱码。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交作业：比代码更容易丢分的地方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2734" y="14986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574800" y="1498600"/>
            <a:ext cx="9626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代码注释必须统一 UTF-8</a:t>
            </a: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；交上来打不开、或者注释是乱码的，按未提交处理。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92734" y="20320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574800" y="2032000"/>
            <a:ext cx="9626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演示视频、代码和其他材料放在同一个压缩包里</a:t>
            </a: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，不要拆成几个文件分开发。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92734" y="25654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574800" y="2565400"/>
            <a:ext cx="9626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压缩包命名格式：</a:t>
            </a: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班级+姓名+第几次任务</a:t>
            </a: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，例如「电气26-5班+李华+第一次任务.zip」。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92734" y="30988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574800" y="3098800"/>
            <a:ext cx="9626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发到指定邮箱，</a:t>
            </a: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邮件主题与压缩包同名</a:t>
            </a: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，压缩包作为附件上传，不要用网盘链接。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92734" y="36322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05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1574800" y="3632200"/>
            <a:ext cx="9626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不强制每周内完成，但</a:t>
            </a: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转入梯队考核上传结束时间前必须全部交齐</a:t>
            </a: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（第 11 周）。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45720" rIns="17780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五条要求都是硬性的：代码写得对，但包名写错、注释乱码，一样按未提交处理。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11488" y="1002574"/>
            <a:ext cx="6354536" cy="459921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Freeform 10"/>
          <p:cNvSpPr/>
          <p:nvPr/>
        </p:nvSpPr>
        <p:spPr>
          <a:xfrm rot="-7617807" flipV="1">
            <a:off x="6011572" y="-3138352"/>
            <a:ext cx="2098521" cy="10814693"/>
          </a:xfrm>
          <a:custGeom>
            <a:avLst/>
            <a:gdLst/>
            <a:ahLst/>
            <a:cxnLst/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 rot="3805419">
            <a:off x="6757538" y="2864877"/>
            <a:ext cx="646538" cy="1118147"/>
          </a:xfrm>
          <a:custGeom>
            <a:avLst/>
            <a:gdLst/>
            <a:ahLst/>
            <a:cxnLst/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 rot="3239350">
            <a:off x="3210408" y="3964146"/>
            <a:ext cx="4303213" cy="5920511"/>
          </a:xfrm>
          <a:custGeom>
            <a:avLst/>
            <a:gdLst/>
            <a:ahLst/>
            <a:cxnLst/>
            <a:rect l="l" t="t" r="r" b="b"/>
            <a:pathLst>
              <a:path w="4303213" h="5920511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 rot="-7617807" flipV="1">
            <a:off x="10929458" y="1005823"/>
            <a:ext cx="1025939" cy="5287159"/>
          </a:xfrm>
          <a:custGeom>
            <a:avLst/>
            <a:gdLst/>
            <a:ahLst/>
            <a:cxnLst/>
            <a:rect l="l" t="t" r="r" b="b"/>
            <a:pathLst>
              <a:path w="1025939" h="528715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 rot="10800000" flipV="1">
            <a:off x="-4825040" y="53316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 rot="10800000" flipV="1">
            <a:off x="-4122005" y="4421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 rot="10800000" flipV="1">
            <a:off x="122464" y="544286"/>
            <a:ext cx="6939643" cy="3401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1" u="none" strike="noStrike" spc="11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『生无所息，斗无所止』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 rot="-2264654">
            <a:off x="4859935" y="1322839"/>
            <a:ext cx="5038663" cy="7683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4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下课啦！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4627</Words>
  <Application>WPS 演示</Application>
  <PresentationFormat/>
  <Paragraphs>463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宋体</vt:lpstr>
      <vt:lpstr>Wingdings</vt:lpstr>
      <vt:lpstr>Arial</vt:lpstr>
      <vt:lpstr>思源黑体</vt:lpstr>
      <vt:lpstr>黑体</vt:lpstr>
      <vt:lpstr>Noto Sans SC</vt:lpstr>
      <vt:lpstr>等线</vt:lpstr>
      <vt:lpstr>锐字真言体免费商用</vt:lpstr>
      <vt:lpstr>Segoe Print</vt:lpstr>
      <vt:lpstr>Consolas</vt:lpstr>
      <vt:lpstr>微软雅黑</vt:lpstr>
      <vt:lpstr>Arial Unicode MS</vt:lpstr>
      <vt:lpstr>Office 主题​​</vt:lpstr>
      <vt:lpstr>自定义主题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访鹤愚者</cp:lastModifiedBy>
  <cp:revision>1</cp:revision>
  <dcterms:created xsi:type="dcterms:W3CDTF">2026-10-08T08:27:11Z</dcterms:created>
  <dcterms:modified xsi:type="dcterms:W3CDTF">2026-10-08T08:27:11Z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{"Label":"1","ContentProducer":"001191110102MACQD9K64010000","ProduceID":"7694208892776172475","ReservedCode1":"","ContentPropagator":"","PropagateID":"","ReservedCode2":""}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8E137312105B44D1B29A260A844C1C1B_12</vt:lpwstr>
  </property>
</Properties>
</file>